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ágina do livr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56000" y="10095336"/>
            <a:ext cx="6050088" cy="0"/>
          </a:xfrm>
          <a:prstGeom prst="line">
            <a:avLst/>
          </a:prstGeom>
          <a:noFill/>
          <a:ln w="6350">
            <a:solidFill>
              <a:srgbClr val="DEE5DB"/>
            </a:solidFill>
            <a:prstDash val="solid"/>
          </a:ln>
        </p:spPr>
      </p:sp>
      <p:sp>
        <p:nvSpPr>
          <p:cNvPr id="3" name="Text 1"/>
          <p:cNvSpPr/>
          <p:nvPr/>
        </p:nvSpPr>
        <p:spPr>
          <a:xfrm>
            <a:off x="756000" y="10149336"/>
            <a:ext cx="3657600" cy="228600"/>
          </a:xfrm>
          <a:prstGeom prst="rect">
            <a:avLst/>
          </a:prstGeom>
          <a:noFill/>
          <a:ln/>
        </p:spPr>
        <p:txBody>
          <a:bodyPr wrap="square" lIns="0" tIns="0" rIns="0" bIns="0" rtlCol="0" anchor="ctr"/>
          <a:lstStyle/>
          <a:p>
            <a:pPr indent="0" marL="0">
              <a:buNone/>
            </a:pPr>
            <a:r>
              <a:rPr lang="en-US" sz="800" dirty="0">
                <a:solidFill>
                  <a:srgbClr val="7E8780"/>
                </a:solidFill>
                <a:latin typeface="Google Sans" pitchFamily="34" charset="0"/>
                <a:ea typeface="Google Sans" pitchFamily="34" charset="-122"/>
                <a:cs typeface="Google Sans" pitchFamily="34" charset="-120"/>
              </a:rPr>
              <a:t>Escala Previsível · Shelton Douglas</a:t>
            </a:r>
            <a:endParaRPr lang="en-US" sz="8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pa">
    <p:bg>
      <p:bgPr>
        <a:solidFill>
          <a:srgbClr val="F4F8F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Kingdom-Workspace/d9b8e958-5e1f-57ab-af18-da3ae99d60db/scratchpad/pptx/cover_art.png">    </p:cNvPr>
          <p:cNvPicPr>
            <a:picLocks noChangeAspect="1"/>
          </p:cNvPicPr>
          <p:nvPr/>
        </p:nvPicPr>
        <p:blipFill>
          <a:blip r:embed="rId1"/>
          <a:stretch>
            <a:fillRect/>
          </a:stretch>
        </p:blipFill>
        <p:spPr>
          <a:xfrm>
            <a:off x="864000" y="4248000"/>
            <a:ext cx="5834088" cy="3365820"/>
          </a:xfrm>
          <a:prstGeom prst="rect">
            <a:avLst/>
          </a:prstGeom>
        </p:spPr>
      </p:pic>
      <p:sp>
        <p:nvSpPr>
          <p:cNvPr id="3" name="Text 0"/>
          <p:cNvSpPr txBox="1"/>
          <p:nvPr/>
        </p:nvSpPr>
        <p:spPr>
          <a:xfrm>
            <a:off x="864000" y="1080000"/>
            <a:ext cx="5943600" cy="868680"/>
          </a:xfrm>
          <a:prstGeom prst="rect">
            <a:avLst/>
          </a:prstGeom>
          <a:noFill/>
          <a:ln/>
        </p:spPr>
        <p:txBody>
          <a:bodyPr wrap="square" lIns="0" tIns="0" rIns="0" bIns="0" rtlCol="0" anchor="t"/>
          <a:lstStyle/>
          <a:p>
            <a:pPr indent="0" marL="0">
              <a:buNone/>
            </a:pPr>
            <a:r>
              <a:rPr lang="en-US" sz="5000" spc="-100" kern="0" dirty="0">
                <a:solidFill>
                  <a:srgbClr val="14181A"/>
                </a:solidFill>
                <a:latin typeface="Google Sans" pitchFamily="34" charset="0"/>
                <a:ea typeface="Google Sans" pitchFamily="34" charset="-122"/>
                <a:cs typeface="Google Sans" pitchFamily="34" charset="-120"/>
              </a:rPr>
              <a:t>Escala Previsível</a:t>
            </a:r>
            <a:endParaRPr lang="en-US" sz="5000" dirty="0"/>
          </a:p>
        </p:txBody>
      </p:sp>
      <p:sp>
        <p:nvSpPr>
          <p:cNvPr id="4" name="Text 1"/>
          <p:cNvSpPr txBox="1"/>
          <p:nvPr/>
        </p:nvSpPr>
        <p:spPr>
          <a:xfrm>
            <a:off x="864000" y="2040120"/>
            <a:ext cx="4572000" cy="274320"/>
          </a:xfrm>
          <a:prstGeom prst="rect">
            <a:avLst/>
          </a:prstGeom>
          <a:noFill/>
          <a:ln/>
        </p:spPr>
        <p:txBody>
          <a:bodyPr wrap="square" lIns="0" tIns="0" rIns="0" bIns="0" rtlCol="0" anchor="t"/>
          <a:lstStyle/>
          <a:p>
            <a:pPr indent="0" marL="0">
              <a:buNone/>
            </a:pPr>
            <a:r>
              <a:rPr lang="en-US" sz="1300" dirty="0">
                <a:solidFill>
                  <a:srgbClr val="7E8780"/>
                </a:solidFill>
                <a:latin typeface="Google Sans" pitchFamily="34" charset="0"/>
                <a:ea typeface="Google Sans" pitchFamily="34" charset="-122"/>
                <a:cs typeface="Google Sans" pitchFamily="34" charset="-120"/>
              </a:rPr>
              <a:t>Edição revista e ampliada</a:t>
            </a:r>
            <a:endParaRPr lang="en-US" sz="1300" dirty="0"/>
          </a:p>
        </p:txBody>
      </p:sp>
      <p:sp>
        <p:nvSpPr>
          <p:cNvPr id="5" name="Text 2"/>
          <p:cNvSpPr txBox="1"/>
          <p:nvPr/>
        </p:nvSpPr>
        <p:spPr>
          <a:xfrm>
            <a:off x="864000" y="2680200"/>
            <a:ext cx="4572000" cy="320040"/>
          </a:xfrm>
          <a:prstGeom prst="rect">
            <a:avLst/>
          </a:prstGeom>
          <a:noFill/>
          <a:ln/>
        </p:spPr>
        <p:txBody>
          <a:bodyPr wrap="square" lIns="0" tIns="0" rIns="0" bIns="0" rtlCol="0" anchor="t"/>
          <a:lstStyle/>
          <a:p>
            <a:pPr indent="0" marL="0">
              <a:buNone/>
            </a:pPr>
            <a:r>
              <a:rPr lang="en-US" sz="1500" b="1" dirty="0">
                <a:solidFill>
                  <a:srgbClr val="21703A"/>
                </a:solidFill>
                <a:latin typeface="Google Sans" pitchFamily="34" charset="0"/>
                <a:ea typeface="Google Sans" pitchFamily="34" charset="-122"/>
                <a:cs typeface="Google Sans" pitchFamily="34" charset="-120"/>
              </a:rPr>
              <a:t>Shelton Douglas</a:t>
            </a:r>
            <a:endParaRPr lang="en-US" sz="1500" dirty="0"/>
          </a:p>
        </p:txBody>
      </p:sp>
      <p:sp>
        <p:nvSpPr>
          <p:cNvPr id="6" name="Text 3"/>
          <p:cNvSpPr txBox="1"/>
          <p:nvPr/>
        </p:nvSpPr>
        <p:spPr>
          <a:xfrm>
            <a:off x="864000" y="9753336"/>
            <a:ext cx="3657600" cy="228600"/>
          </a:xfrm>
          <a:prstGeom prst="rect">
            <a:avLst/>
          </a:prstGeom>
          <a:noFill/>
          <a:ln/>
        </p:spPr>
        <p:txBody>
          <a:bodyPr wrap="square" lIns="0" tIns="0" rIns="0" bIns="0" rtlCol="0" anchor="t"/>
          <a:lstStyle/>
          <a:p>
            <a:pPr indent="0" marL="0">
              <a:buNone/>
            </a:pPr>
            <a:r>
              <a:rPr lang="en-US" sz="1000" b="1" spc="100" kern="0" dirty="0">
                <a:solidFill>
                  <a:srgbClr val="7E8780"/>
                </a:solidFill>
                <a:latin typeface="Google Sans" pitchFamily="34" charset="0"/>
                <a:ea typeface="Google Sans" pitchFamily="34" charset="-122"/>
                <a:cs typeface="Google Sans" pitchFamily="34" charset="-120"/>
              </a:rPr>
              <a:t>KINGDOM ACADEMY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56000" y="792000"/>
            <a:ext cx="6084505" cy="3692920"/>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Direitos autorais e avisos legais</a:t>
            </a:r>
            <a:endParaRPr lang="en-US" sz="213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Todos os direitos reservados. Nenhuma parte deste livro pode ser reproduzida, armazenada em sistema de recuperação ou transmitida, de qualquer forma ou por qualquer meio, electrónico, mecânico, fotocópia, gravação ou outro, sem a permissão prévia por escrito do editor e do autor.</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Este livro é protegido pelas leis de direitos autorais internacionais e da República de Moçambique. Qualquer uso não autorizado dos materiais contidos neste livro é estritamente proibido e pode resultar em penalidades civis e criminais.</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As citações das Escrituras Sagradas são usadas conforme permitido pela legislação de direitos autorais aplicável. A responsabilidade pelas opiniões expressas e pela exactidão das informações fornecidas recai inteiramente sobre o autor.</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Publicado por Kingdom Academy.</a:t>
            </a:r>
            <a:endParaRPr lang="en-US" sz="2130" dirty="0"/>
          </a:p>
          <a:p>
            <a:pPr algn="l" indent="0" marL="0">
              <a:lnSpc>
                <a:spcPts val="2530"/>
              </a:lnSpc>
              <a:spcBef>
                <a:spcPts val="2834"/>
              </a:spcBef>
              <a:buNone/>
            </a:pPr>
            <a:r>
              <a:rPr lang="en-US" sz="2130" dirty="0">
                <a:solidFill>
                  <a:srgbClr val="14181A"/>
                </a:solidFill>
                <a:latin typeface="Google Sans" pitchFamily="34" charset="0"/>
                <a:ea typeface="Google Sans" pitchFamily="34" charset="-122"/>
                <a:cs typeface="Google Sans" pitchFamily="34" charset="-120"/>
              </a:rPr>
              <a:t>Créditos</a:t>
            </a:r>
            <a:endParaRPr lang="en-US" sz="213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56000" y="4718979"/>
          <a:ext cx="6047929" cy="914400"/>
        </p:xfrm>
        <a:graphic>
          <a:graphicData uri="http://schemas.openxmlformats.org/drawingml/2006/table">
            <a:tbl>
              <a:tblPr/>
              <a:tblGrid>
                <a:gridCol w="1649462"/>
                <a:gridCol w="4379416"/>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Função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Nome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Autor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Shelton Douglas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Design da capa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Vintage Branding — Estúdio de Design e Gráfica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Edição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Kingdom In Company</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Publicação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Kingdom Academy</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56000" y="792000"/>
            <a:ext cx="6084505" cy="8032599"/>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Dedicatória</a:t>
            </a:r>
            <a:endParaRPr lang="en-US" sz="2130" dirty="0"/>
          </a:p>
          <a:p>
            <a:pPr algn="l" indent="0" marL="0">
              <a:lnSpc>
                <a:spcPts val="1627"/>
              </a:lnSpc>
              <a:spcBef>
                <a:spcPts val="1984"/>
              </a:spcBef>
              <a:buNone/>
            </a:pPr>
            <a:r>
              <a:rPr lang="en-US" sz="1000" i="1" dirty="0">
                <a:solidFill>
                  <a:srgbClr val="2C332E"/>
                </a:solidFill>
                <a:latin typeface="Google Sans" pitchFamily="34" charset="0"/>
                <a:ea typeface="Google Sans" pitchFamily="34" charset="-122"/>
                <a:cs typeface="Google Sans" pitchFamily="34" charset="-120"/>
              </a:rPr>
              <a:t>À minha esposa,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que caminhou ao meu lado nos momentos mais desafiadores, quando o peso das incertezas parecia maior do que as forças que eu tinha. Obrigado por acreditar nos meus sonhos mais ousados — mesmo quando eles nos colocaram diante de riscos que só quem ama de verdade estaria disposto a enfrentar.</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Por cada madrugada em que suportou, com paciência e serenidade, o meu silêncio inquieto enquanto eu buscava soluções, direcções e caminhos para construir o futuro que sonhámos juntos.</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Por cuidar da nossa filha com um amor tão inteiro e generoso, que me deu coragem para continuar mesmo nos dias em que a esperança quase me faltou.</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Esta dedicatória é mais do que um agradecimento: é um reconhecimento da sua força, da sua fé em mim e do seu papel essencial em cada passo que me trouxe até aqui. Nada disto seria possível sem ela.</a:t>
            </a:r>
            <a:endParaRPr lang="en-US" sz="2130" dirty="0"/>
          </a:p>
          <a:p>
            <a:pPr algn="l" indent="0" marL="0">
              <a:lnSpc>
                <a:spcPts val="2530"/>
              </a:lnSpc>
              <a:spcBef>
                <a:spcPts val="2834"/>
              </a:spcBef>
              <a:buNone/>
            </a:pPr>
            <a:r>
              <a:rPr lang="en-US" sz="2130" dirty="0">
                <a:solidFill>
                  <a:srgbClr val="14181A"/>
                </a:solidFill>
                <a:latin typeface="Google Sans" pitchFamily="34" charset="0"/>
                <a:ea typeface="Google Sans" pitchFamily="34" charset="-122"/>
                <a:cs typeface="Google Sans" pitchFamily="34" charset="-120"/>
              </a:rPr>
              <a:t>Agradecimentos</a:t>
            </a:r>
            <a:endParaRPr lang="en-US" sz="213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A Deus, por orientar cada passo das nossas vidas. Mesmo quando falhamos o alvo, Ele permanece presente, pronto para nos restaurar, nos atrair novamente à Sua presença e renovar o propósito que colocou em nós. Nada do que foi construído até aqui teria sido possível sem a Sua graça, direcção e amor incansável.</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Ao meu amigo e irmão Edson Magule (Versus), cuja presença tornou a jornada mais leve e frutífera. Sem ele, o caminho teria sido muito mais difícil e os resultados extraordinários que alcançámos talvez não tivessem sido possíveis. O seu companheirismo, ética de trabalho e dedicação foram lições profundas que levarei para toda a vida.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Aos meus amigos Martinho Cossa (Xizoro) e Sara Cossa, pelo seu suporte incondicional em todas as circunstâncias, pela amizade firme e pelo apoio constante que sempre nos acompanhou, mesmo nos momentos mais exigentes da nossa caminhada.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 todos os jovens em Moçambique que acreditaram no nosso método e o transformaram numa ferramenta capaz de mudar não apenas as suas próprias vidas, mas também as de muitos outros à sua volta. Cada testemunho, cada conquista e cada transformação real são parte viva deste legado.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 finalmente, a toda a equipa da Kingdom Company, o nosso ecossistema de empresas, pelo trabalho excelente e pela dedicação incansável em oferecer sempre o melhor à nossa comunidade. Este projecto é também fruto do vosso compromisso, talento e espírito de serviço.</a:t>
            </a:r>
            <a:endParaRPr lang="en-US" sz="213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56000" y="792000"/>
            <a:ext cx="6084505" cy="1013716"/>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Sumário</a:t>
            </a:r>
            <a:endParaRPr lang="en-US" sz="213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As partes e os capítulos começam numa página nova. As páginas indicadas correspondem a esta edição em PDF, formato A4.</a:t>
            </a:r>
            <a:endParaRPr lang="en-US" sz="213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56000" y="1893477"/>
          <a:ext cx="6047929" cy="914400"/>
        </p:xfrm>
        <a:graphic>
          <a:graphicData uri="http://schemas.openxmlformats.org/drawingml/2006/table">
            <a:tbl>
              <a:tblPr/>
              <a:tblGrid>
                <a:gridCol w="5471964"/>
                <a:gridCol w="575965"/>
              </a:tblGrid>
              <a:tr h="337245">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Secção</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Página</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Direitos autorais e avisos legais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Créditos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Dedicatória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Agradecimentos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Sumário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Prefácio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Nota do autor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Introdução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Comece por aqui</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Para quem é este livro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Os cinco negócios que te vão acompanhar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O fio condutor: o teu Mapa de Escala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Como usar este livro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As 18 peças do Mapa de Escala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Como chegámos até aqui</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O ponto de partida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 A Tríade da Confiança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1 — Diagnóstico e oferta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 — Identificar o que limita o negócio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2 — Reconhecer produtos com potencial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3 — Construir uma oferta com o Diamante do Marketing</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2 — Preços e números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4 — Definir preços e compreender margens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5 — Calcular métricas e controlar o dinheiro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3 — Vendas e clientes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5471964"/>
                <a:gridCol w="575965"/>
              </a:tblGrid>
              <a:tr h="337245">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Secção</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Página</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6 — Compreender o funil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7 — Organizar qualificação, atendimento, seguimento e fecho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8 — Estruturar pós-venda, recompra e vendas complementares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4 — Operação e processos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9 — Preparar capacidade, stock e padrão de entrega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10 — Documentar processos e aplicar a lógica pessoas–processos–automação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5 — Pessoas e gestão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11 — Delegar na ordem adequada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12 — Construir o funil de contratação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13 — Medir desempenho e desenvolver a equipa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14 — Organizar reuniões úteis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6 — Preparação para crescer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15 — Compreender sazonalidade e ciclos de vendas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16 — Avaliar o </a:t>
                      </a:r>
                      <a:r>
                        <a:rPr lang="en-US" sz="910" i="1" dirty="0">
                          <a:solidFill>
                            <a:srgbClr val="2C332E"/>
                          </a:solidFill>
                          <a:latin typeface="Google Sans" pitchFamily="34" charset="0"/>
                          <a:ea typeface="Google Sans" pitchFamily="34" charset="-122"/>
                          <a:cs typeface="Google Sans" pitchFamily="34" charset="-120"/>
                        </a:rPr>
                        <a:t>headroom</a:t>
                      </a:r>
                      <a:r>
                        <a:rPr lang="en-US" sz="910" dirty="0">
                          <a:solidFill>
                            <a:srgbClr val="2C332E"/>
                          </a:solidFill>
                          <a:latin typeface="Google Sans" pitchFamily="34" charset="0"/>
                          <a:ea typeface="Google Sans" pitchFamily="34" charset="-122"/>
                          <a:cs typeface="Google Sans" pitchFamily="34" charset="-120"/>
                        </a:rPr>
                        <a:t>, ou espaço para crescer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7 — Escala em anúncios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463451">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17 — Distinguir escala horizontal e vertical e decidir quando aumentar, manter, ajustar ou parar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Parte 8 — Execução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Capítulo 18 — Aplicar o Método PERA num plano de 90 dias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80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Epílogo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84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56000" y="792000"/>
            <a:ext cx="6084505" cy="324493"/>
          </a:xfrm>
          <a:prstGeom prst="rect">
            <a:avLst/>
          </a:prstGeom>
          <a:noFill/>
          <a:ln/>
        </p:spPr>
        <p:txBody>
          <a:bodyPr wrap="square" lIns="0" tIns="0" rIns="0" bIns="0" rtlCol="0" anchor="t"/>
          <a:lstStyle/>
          <a:p>
            <a:pPr algn="l" indent="0" marL="0">
              <a:lnSpc>
                <a:spcPts val="2340"/>
              </a:lnSpc>
              <a:buNone/>
            </a:pPr>
            <a:r>
              <a:rPr lang="en-US" sz="1750" dirty="0">
                <a:solidFill>
                  <a:srgbClr val="14181A"/>
                </a:solidFill>
                <a:latin typeface="Google Sans" pitchFamily="34" charset="0"/>
                <a:ea typeface="Google Sans" pitchFamily="34" charset="-122"/>
                <a:cs typeface="Google Sans" pitchFamily="34" charset="-120"/>
              </a:rPr>
              <a:t>Índice de figuras</a:t>
            </a:r>
            <a:endParaRPr lang="en-US" sz="1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56000" y="1305011"/>
          <a:ext cx="6047929" cy="914400"/>
        </p:xfrm>
        <a:graphic>
          <a:graphicData uri="http://schemas.openxmlformats.org/drawingml/2006/table">
            <a:tbl>
              <a:tblPr/>
              <a:tblGrid>
                <a:gridCol w="321171"/>
                <a:gridCol w="3631109"/>
                <a:gridCol w="1519684"/>
                <a:gridCol w="575965"/>
              </a:tblGrid>
              <a:tr h="337245">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N.º</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Figura</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Onde</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Página</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Os quatro níveis da gestão empresarial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Introdução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 caminho da Escala Previsível: 8 partes, 4 níveis, 18 peças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Introdução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 Tríade da Confiança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Como chegámos até aqui</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19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Os três factores do diagnóstico: oferta, vendas e operação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 princípio da arbitragem</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Matriz de produtos: procura × margem</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 ciclo de vida do produto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 Cauda Longa: cabeça e cauda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 Diamante do Marketing e a Oferta 10X</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 pirâmide da gestão financeira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 Processo de Vendas Directo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Funil de vendas, do anúncio ao cliente</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Estrutura de Escala em Cauda Longa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Dropshipping tradicional vs Drop Nacional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 ordem pessoas → processos → automação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As quatro zonas para sair do operacional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Parte 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Por onde começar a delegar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 pirâmide da delegação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Matriz Performance × Cultura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 curva de confiança × competência (efeito Dunning-Kruger)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Procura previsível + capacidade de entrega = escala previsível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Parte 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Épocas sazonais: períodos alto, médio e baixo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Decisão diária: aumentar, manter, ajustar ou parar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 Método PERA: Planejar, Executar, Revisar, Ajustar</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Cap. 18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80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56000" y="792000"/>
            <a:ext cx="6084505" cy="324493"/>
          </a:xfrm>
          <a:prstGeom prst="rect">
            <a:avLst/>
          </a:prstGeom>
          <a:noFill/>
          <a:ln/>
        </p:spPr>
        <p:txBody>
          <a:bodyPr wrap="square" lIns="0" tIns="0" rIns="0" bIns="0" rtlCol="0" anchor="t"/>
          <a:lstStyle/>
          <a:p>
            <a:pPr algn="l" indent="0" marL="0">
              <a:lnSpc>
                <a:spcPts val="2340"/>
              </a:lnSpc>
              <a:buNone/>
            </a:pPr>
            <a:r>
              <a:rPr lang="en-US" sz="1750" dirty="0">
                <a:solidFill>
                  <a:srgbClr val="14181A"/>
                </a:solidFill>
                <a:latin typeface="Google Sans" pitchFamily="34" charset="0"/>
                <a:ea typeface="Google Sans" pitchFamily="34" charset="-122"/>
                <a:cs typeface="Google Sans" pitchFamily="34" charset="-120"/>
              </a:rPr>
              <a:t>Índice de ferramentas</a:t>
            </a:r>
            <a:endParaRPr lang="en-US" sz="17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6000" y="1305011"/>
          <a:ext cx="6047929" cy="914400"/>
        </p:xfrm>
        <a:graphic>
          <a:graphicData uri="http://schemas.openxmlformats.org/drawingml/2006/table">
            <a:tbl>
              <a:tblPr/>
              <a:tblGrid>
                <a:gridCol w="538014"/>
                <a:gridCol w="2976563"/>
                <a:gridCol w="1957388"/>
                <a:gridCol w="575965"/>
              </a:tblGrid>
              <a:tr h="337245">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Peça</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Ferramenta</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l" indent="0" marL="0">
                        <a:lnSpc>
                          <a:spcPts val="1335"/>
                        </a:lnSpc>
                        <a:buNone/>
                      </a:pPr>
                      <a:r>
                        <a:rPr lang="en-US" sz="910" b="1" dirty="0">
                          <a:solidFill>
                            <a:srgbClr val="14181A"/>
                          </a:solidFill>
                          <a:latin typeface="Google Sans" pitchFamily="34" charset="0"/>
                          <a:ea typeface="Google Sans" pitchFamily="34" charset="-122"/>
                          <a:cs typeface="Google Sans" pitchFamily="34" charset="-120"/>
                        </a:rPr>
                        <a:t>Capítulo</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Página</a:t>
                      </a:r>
                      <a:endParaRPr lang="en-US" sz="1200" dirty="0">
                        <a:latin typeface="Google Sans" charset="0"/>
                        <a:ea typeface="Google Sans" charset="0"/>
                        <a:cs typeface="Google Sans" charset="0"/>
                      </a:endParaRPr>
                    </a:p>
                  </a:txBody>
                  <a:tcPr marL="0" marR="64800" marT="79200" marB="79200" anchor="t">
                    <a:lnL w="0" cap="flat" cmpd="sng" algn="ctr">
                      <a:noFill/>
                    </a:lnL>
                    <a:lnR w="0" cap="flat" cmpd="sng" algn="ctr">
                      <a:noFill/>
                    </a:lnR>
                    <a:lnT w="0" cap="flat" cmpd="sng" algn="ctr">
                      <a:noFill/>
                    </a:lnT>
                    <a:lnB w="9525" cap="flat" cmpd="sng" algn="ctr">
                      <a:solidFill>
                        <a:srgbClr val="3E9A45"/>
                      </a:solidFill>
                      <a:prstDash val="solid"/>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Tríade da Confiança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Como chegámos até aqui</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Diagnóstico: nível e gargalo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Portfólio cabeça e cauda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28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Oferta 10X e OUV</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Ficha de preço e CAC máximo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Painel semanal e previsão de caixa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39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Funil do Processo de Vendas Directo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Guião comercial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46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Estrutura de Cauda Longa e pós-venda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Fluxo operacional e capacidade</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9</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Processos de uma página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10</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56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Plano de delegação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Ficha de função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Avaliação Performance × Cultura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13</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Agendas de reunião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68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Calendário comercial</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15</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72</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Quadro dos limites do negócio</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16</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74</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Plano de testes com critérios</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77</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r h="294084">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Plano de 90 dias PERA</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l" indent="0" marL="0">
                        <a:lnSpc>
                          <a:spcPts val="1335"/>
                        </a:lnSpc>
                        <a:buNone/>
                      </a:pPr>
                      <a:r>
                        <a:rPr lang="en-US" sz="910" dirty="0">
                          <a:solidFill>
                            <a:srgbClr val="2C332E"/>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c>
                  <a:txBody>
                    <a:bodyPr/>
                    <a:lstStyle/>
                    <a:p>
                      <a:pPr algn="r" indent="0" marL="0">
                        <a:lnSpc>
                          <a:spcPts val="1335"/>
                        </a:lnSpc>
                        <a:buNone/>
                      </a:pPr>
                      <a:r>
                        <a:rPr lang="en-US" sz="910" b="1" dirty="0">
                          <a:solidFill>
                            <a:srgbClr val="2F8A3C"/>
                          </a:solidFill>
                          <a:latin typeface="Google Sans" pitchFamily="34" charset="0"/>
                          <a:ea typeface="Google Sans" pitchFamily="34" charset="-122"/>
                          <a:cs typeface="Google Sans" pitchFamily="34" charset="-120"/>
                        </a:rPr>
                        <a:t>81</a:t>
                      </a:r>
                      <a:endParaRPr lang="en-US" sz="1200" dirty="0">
                        <a:latin typeface="Google Sans" charset="0"/>
                        <a:ea typeface="Google Sans" charset="0"/>
                        <a:cs typeface="Google Sans" charset="0"/>
                      </a:endParaRPr>
                    </a:p>
                  </a:txBody>
                  <a:tcPr marL="0" marR="0" marT="57600" marB="57600" anchor="t">
                    <a:lnL w="0" cap="flat" cmpd="sng" algn="ctr">
                      <a:noFill/>
                    </a:lnL>
                    <a:lnR w="0" cap="flat" cmpd="sng" algn="ctr">
                      <a:noFill/>
                    </a:lnR>
                    <a:lnT w="0" cap="flat" cmpd="sng" algn="ctr">
                      <a:noFill/>
                    </a:lnT>
                    <a:lnB w="9525" cap="flat" cmpd="sng" algn="ctr">
                      <a:solidFill>
                        <a:srgbClr val="CBD5C7"/>
                      </a:solidFill>
                      <a:prstDash val="sysDash"/>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56000" y="792000"/>
            <a:ext cx="6084505" cy="8358979"/>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Prefácio</a:t>
            </a:r>
            <a:endParaRPr lang="en-US" sz="213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Durante muitos anos, falar de escala em negócios digitais parecia um privilégio reservado apenas a quem vivia noutros países, noutros mercados, com recursos e ferramentas que, para nós, soavam quase inalcançáveis. Crescemos a ouvir que o sucesso exige sorte, contactos certos ou circunstâncias ideais — e, quando nada disso aparece, resta-nos trabalhar mais, esforçar-nos mais e torcer para que “um dia” tudo mude.</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Mas a verdade é simples e dura ao mesmo tempo: </a:t>
            </a:r>
            <a:r>
              <a:rPr lang="en-US" sz="1000" b="1" dirty="0">
                <a:solidFill>
                  <a:srgbClr val="14181A"/>
                </a:solidFill>
                <a:latin typeface="Google Sans" pitchFamily="34" charset="0"/>
                <a:ea typeface="Google Sans" pitchFamily="34" charset="-122"/>
                <a:cs typeface="Google Sans" pitchFamily="34" charset="-120"/>
              </a:rPr>
              <a:t>o esforço, por si só, não garante escala. E a sorte, quando dela dependemos, não é uma estratégia.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 minha jornada obrigou-me a aprender isto da forma mais difícil. Quando comecei, em 2019, não tinha capital, equipamentos, nem uma estrutura profissional. Tinha apenas um telemóvel, um conjunto de competências ainda em formação e uma convicção: era possível criar um modelo de negócio que funcionasse, mesmo a partir do zero, mesmo em Moçambique, mesmo sem condições ideais.</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 que eu não sabia — pelo menos não naquela altura — é que, alguns anos mais tarde, este mesmo princípio iria transformar-se numa estrutura replicável, ensinável e capaz de gerar resultados reais para milhares de jovens empreendedores. Estrutura essa que hoje chamo </a:t>
            </a:r>
            <a:r>
              <a:rPr lang="en-US" sz="1000" b="1" dirty="0">
                <a:solidFill>
                  <a:srgbClr val="14181A"/>
                </a:solidFill>
                <a:latin typeface="Google Sans" pitchFamily="34" charset="0"/>
                <a:ea typeface="Google Sans" pitchFamily="34" charset="-122"/>
                <a:cs typeface="Google Sans" pitchFamily="34" charset="-120"/>
              </a:rPr>
              <a:t>Escala Previsível</a:t>
            </a:r>
            <a:r>
              <a:rPr lang="en-US" sz="1000" dirty="0">
                <a:solidFill>
                  <a:srgbClr val="2C332E"/>
                </a:solidFill>
                <a:latin typeface="Google Sans" pitchFamily="34" charset="0"/>
                <a:ea typeface="Google Sans" pitchFamily="34" charset="-122"/>
                <a:cs typeface="Google Sans" pitchFamily="34" charset="-120"/>
              </a:rPr>
              <a:t>.</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Este livro é o segundo de uma trilogia. No primeiro, </a:t>
            </a:r>
            <a:r>
              <a:rPr lang="en-US" sz="1000" i="1" dirty="0">
                <a:solidFill>
                  <a:srgbClr val="2C332E"/>
                </a:solidFill>
                <a:latin typeface="Google Sans" pitchFamily="34" charset="0"/>
                <a:ea typeface="Google Sans" pitchFamily="34" charset="-122"/>
                <a:cs typeface="Google Sans" pitchFamily="34" charset="-120"/>
              </a:rPr>
              <a:t>O Criativo que Aprendeu a Vender</a:t>
            </a:r>
            <a:r>
              <a:rPr lang="en-US" sz="1000" dirty="0">
                <a:solidFill>
                  <a:srgbClr val="2C332E"/>
                </a:solidFill>
                <a:latin typeface="Google Sans" pitchFamily="34" charset="0"/>
                <a:ea typeface="Google Sans" pitchFamily="34" charset="-122"/>
                <a:cs typeface="Google Sans" pitchFamily="34" charset="-120"/>
              </a:rPr>
              <a:t>, contei como transformar talento em rendimento através de serviços criativos. No terceiro, </a:t>
            </a:r>
            <a:r>
              <a:rPr lang="en-US" sz="1000" i="1" dirty="0">
                <a:solidFill>
                  <a:srgbClr val="2C332E"/>
                </a:solidFill>
                <a:latin typeface="Google Sans" pitchFamily="34" charset="0"/>
                <a:ea typeface="Google Sans" pitchFamily="34" charset="-122"/>
                <a:cs typeface="Google Sans" pitchFamily="34" charset="-120"/>
              </a:rPr>
              <a:t>Prisma da Influência</a:t>
            </a:r>
            <a:r>
              <a:rPr lang="en-US" sz="1000" dirty="0">
                <a:solidFill>
                  <a:srgbClr val="2C332E"/>
                </a:solidFill>
                <a:latin typeface="Google Sans" pitchFamily="34" charset="0"/>
                <a:ea typeface="Google Sans" pitchFamily="34" charset="-122"/>
                <a:cs typeface="Google Sans" pitchFamily="34" charset="-120"/>
              </a:rPr>
              <a:t>, exploro como posicionar uma marca pessoal que atrai, converte e consolida autoridade. Faltava, portanto, a ponte entre estes dois mundos: </a:t>
            </a:r>
            <a:r>
              <a:rPr lang="en-US" sz="1000" b="1" dirty="0">
                <a:solidFill>
                  <a:srgbClr val="14181A"/>
                </a:solidFill>
                <a:latin typeface="Google Sans" pitchFamily="34" charset="0"/>
                <a:ea typeface="Google Sans" pitchFamily="34" charset="-122"/>
                <a:cs typeface="Google Sans" pitchFamily="34" charset="-120"/>
              </a:rPr>
              <a:t>como escalar o que já funciona.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Como multiplicar resultados, como transformar uma operação frágil numa estrutura robusta, como dominar processos, arbitragem, velocidade e consistência. É exactamente essa ponte que este livro representa.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Este livro não é apenas uma colecção de técnicas. É um mapa: um mapa de decisões difíceis, momentos de fé, frameworks de negócio, erros custosos, ajustes rápidos e conquistas inesperadas. É também uma prova de que:</a:t>
            </a:r>
            <a:endParaRPr lang="en-US" sz="2130" dirty="0"/>
          </a:p>
          <a:p>
            <a:pPr algn="l" marL="215900" indent="-215900">
              <a:lnSpc>
                <a:spcPts val="1627"/>
              </a:lnSpc>
              <a:spcBef>
                <a:spcPts val="907"/>
              </a:spcBef>
              <a:buSzPct val="100000"/>
              <a:buChar char="•"/>
            </a:pPr>
            <a:r>
              <a:rPr lang="en-US" sz="1000" dirty="0">
                <a:solidFill>
                  <a:srgbClr val="2C332E"/>
                </a:solidFill>
                <a:latin typeface="Google Sans" pitchFamily="34" charset="0"/>
                <a:ea typeface="Google Sans" pitchFamily="34" charset="-122"/>
                <a:cs typeface="Google Sans" pitchFamily="34" charset="-120"/>
              </a:rPr>
              <a:t>Não precisas de ser rico para começar.</a:t>
            </a:r>
            <a:endParaRPr lang="en-US" sz="213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Não precisas de ter tudo perfeito para gerar resultados.</a:t>
            </a:r>
            <a:endParaRPr lang="en-US" sz="213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Não precisas de condições ideais, mas precisas de método.</a:t>
            </a:r>
            <a:endParaRPr lang="en-US" sz="213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E, acima de tudo, precisas de estrutura — porque a escala não acontece por acaso.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Aqui vou mostrar-te, sem segredos, como criámos uma das operações mais consistentes do mercado digital em Moçambique, como quebrámos recordes atrás de recordes, como ultrapassámos crises e limitações e como transformámos um simples modelo de arbitragem num ecossistema capaz de gerar crescimento contínuo.</a:t>
            </a:r>
            <a:endParaRPr lang="en-US" sz="213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56000" y="792000"/>
            <a:ext cx="6084505" cy="2620464"/>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Este livro foi escrito para ti — que tens fome, que queres mais, que recusas aceitar que “o mercado está difícil” seja uma sentença permanente. Se estás disposto a aplicar método, disciplina e estratégia, então estás prestes a entrar no nível onde a escala deixa de ser imprevisível… e passa a ser inevitável.</a:t>
            </a:r>
            <a:endParaRPr lang="en-US" sz="1000" dirty="0"/>
          </a:p>
          <a:p>
            <a:pPr algn="l" indent="0" marL="0">
              <a:lnSpc>
                <a:spcPts val="1755"/>
              </a:lnSpc>
              <a:spcBef>
                <a:spcPts val="2268"/>
              </a:spcBef>
              <a:buNone/>
            </a:pPr>
            <a:r>
              <a:rPr lang="en-US" sz="1310" b="1" dirty="0">
                <a:solidFill>
                  <a:srgbClr val="14181A"/>
                </a:solidFill>
                <a:latin typeface="Google Sans" pitchFamily="34" charset="0"/>
                <a:ea typeface="Google Sans" pitchFamily="34" charset="-122"/>
                <a:cs typeface="Google Sans" pitchFamily="34" charset="-120"/>
              </a:rPr>
              <a:t>Sobre esta edição</a:t>
            </a:r>
            <a:endParaRPr lang="en-US" sz="100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Nesta edição revista e ampliada, mantive a história e os frameworks que nos trouxeram até aqui, mas reorganizei o livro pela ordem em que deves aprendê-los. São oito partes e dezoito capítulos, do diagnóstico do teu negócio até um plano de 90 dias. Cada capítulo constrói uma peça do teu Mapa de Escala, que usa as peças anteriores e prepara a seguinte, e os conceitos principais passaram a ter figuras para os veres de relance.</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Bem-vindo ao Escala Previsível. A partir daqui, a tua jornada nunca mais será a mesma.</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56000" y="792000"/>
            <a:ext cx="6084505" cy="8409283"/>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Nota do autor</a:t>
            </a:r>
            <a:endParaRPr lang="en-US" sz="213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Escrever este livro não foi um acto simples. Foi, para mim, revisitar capítulos inteiros da minha própria vida — alguns marcados por conquistas extraordinárias, outros por dúvidas profundas, decisões difíceis e noites longas em que parecia que nada estava a funcionar.</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Enquanto escrevia, percebi algo que talvez explique porque este livro existe: eu nunca consegui aprender estas lições apenas com teoria. Foram as minhas quedas, os meus erros, as minhas limitações e os meus passos de fé que me ensinaram aquilo que hoje partilho contigo.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Muitas vezes, as pessoas olham para os resultados — para os vídeos, para os números, para as vitórias — e esquecem-se de que, antes de tudo isso, houve um processo. Houve um Shelton a lutar com o medo, a enfrentar contas que não fechavam, a tentar criar soluções quando os recursos eram mínimos, a confiar em Deus enquanto tudo parecia ir na direcção contrária.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Se este livro tem algum valor, é porque nasceu dessa realidade. Nasceu do campo de batalha. Nasceu da prática. Nasceu de noites de trabalho com a equipa, de conversas profundas com o Versus, de momentos desafiadores ao lado da minha esposa e da coragem que Deus me deu para tomar decisões que, muitas vezes, não faziam sentido no papel.</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Por isso, esta nota não é apenas um agradecimento — é um lembrete de que:</a:t>
            </a:r>
            <a:endParaRPr lang="en-US" sz="2130" dirty="0"/>
          </a:p>
          <a:p>
            <a:pPr algn="l" marL="215900" indent="-215900">
              <a:lnSpc>
                <a:spcPts val="1627"/>
              </a:lnSpc>
              <a:spcBef>
                <a:spcPts val="907"/>
              </a:spcBef>
              <a:buSzPct val="100000"/>
              <a:buChar char="•"/>
            </a:pPr>
            <a:r>
              <a:rPr lang="en-US" sz="1000" dirty="0">
                <a:solidFill>
                  <a:srgbClr val="2C332E"/>
                </a:solidFill>
                <a:latin typeface="Google Sans" pitchFamily="34" charset="0"/>
                <a:ea typeface="Google Sans" pitchFamily="34" charset="-122"/>
                <a:cs typeface="Google Sans" pitchFamily="34" charset="-120"/>
              </a:rPr>
              <a:t>o teu processo tem valor;</a:t>
            </a:r>
            <a:endParaRPr lang="en-US" sz="213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as tuas dúvidas não te desqualificam;</a:t>
            </a:r>
            <a:endParaRPr lang="en-US" sz="213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as tuas limitações podem ser treinadas;</a:t>
            </a:r>
            <a:endParaRPr lang="en-US" sz="213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e a tua fé pode abrir portas que o dinheiro, sozinho, não abre.</a:t>
            </a:r>
            <a:endParaRPr lang="en-US" sz="213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Escrevi este livro para ser útil. Para ser claro. Para ser um manual que possas abrir em qualquer fase do teu negócio e encontrar direcção. Mas escrevi-o, também, com o desejo de que encontres nas entrelinhas algo mais profundo: a certeza de que Deus se importa com o teu progresso e com o propósito que Ele colocou dentro de ti.</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 meu compromisso, ao longo destas páginas, é dar-te o melhor que sei, sem esconder nada, sem florear a realidade e sem criar expectativas irreais. Prometo mostrar-te os bastidores, tanto dos acertos como dos erros. Prometo contar-te a verdade como ela é. E prometo guiar-te com a mesma integridade que utilizo para guiar a minha própria equipa e família.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 que faz deste livro especial não é apenas o conteúdo técnico. É o facto de que cada capítulo nasceu vivido — não apenas aprendido.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Se estás a ler estas linhas, quero que saibas: tu és capaz. Tens tudo o que precisas para construir algo significativo. E, se aplicares com consistência aquilo que estás prestes a aprender, não há dúvida: vais escalar. E vais escalar com previsibilidade.</a:t>
            </a:r>
            <a:endParaRPr lang="en-US" sz="213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56000" y="792000"/>
            <a:ext cx="6084505" cy="1290685"/>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Obrigado por me deixares fazer parte da tua jornada. Obrigado por confiares no meu processo, no meu trabalho e na minha visão. E obrigado, sobretudo, por continuares a acreditar que é possível — porque é.</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Com honra,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Shelton Douglas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56000" y="792000"/>
            <a:ext cx="6084505" cy="5625900"/>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Introdução</a:t>
            </a:r>
            <a:endParaRPr lang="en-US" sz="213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Quando a maioria das pessoas fala sobre “crescer um negócio digital”, normalmente imagina algo quase mágico: um produto que viraliza, um anúncio que explode, um vídeo que alcança milhões ou um cliente que, de repente, transforma tudo. Mas quem vive a realidade sabe: </a:t>
            </a:r>
            <a:r>
              <a:rPr lang="en-US" sz="1000" b="1" dirty="0">
                <a:solidFill>
                  <a:srgbClr val="14181A"/>
                </a:solidFill>
                <a:latin typeface="Google Sans" pitchFamily="34" charset="0"/>
                <a:ea typeface="Google Sans" pitchFamily="34" charset="-122"/>
                <a:cs typeface="Google Sans" pitchFamily="34" charset="-120"/>
              </a:rPr>
              <a:t>a escala não acontece num único momento — ela acontece numa estrutura.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Foi precisamente isso que percebi ao longo dos últimos anos. Enquanto muitos empreendedores se esforçam todos os dias para fazer o seu negócio funcionar, grande parte desse esforço perde-se porque não há método, não há ritmo, não há pilares que sustentem o crescimento.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No início, eu também acreditava que tudo dependia de trabalhar mais horas, correr mais riscos ou ter “boa sorte”. Mas quanto mais avançava, mais claro se tornava que nenhum destes elementos, isoladamente, explica o sucesso de um negócio digital. O que cria verdadeiros resultados é a combinação certa de três factores:</a:t>
            </a:r>
            <a:endParaRPr lang="en-US" sz="2130" dirty="0"/>
          </a:p>
          <a:p>
            <a:pPr algn="l" marL="215900" indent="-215900">
              <a:lnSpc>
                <a:spcPts val="1627"/>
              </a:lnSpc>
              <a:spcBef>
                <a:spcPts val="907"/>
              </a:spcBef>
              <a:buSzPct val="100000"/>
              <a:buFont typeface="+mj-lt"/>
              <a:buAutoNum type="arabicPeriod" startAt="1"/>
            </a:pPr>
            <a:r>
              <a:rPr lang="en-US" sz="1000" dirty="0">
                <a:solidFill>
                  <a:srgbClr val="2C332E"/>
                </a:solidFill>
                <a:latin typeface="Google Sans" pitchFamily="34" charset="0"/>
                <a:ea typeface="Google Sans" pitchFamily="34" charset="-122"/>
                <a:cs typeface="Google Sans" pitchFamily="34" charset="-120"/>
              </a:rPr>
              <a:t>Uma </a:t>
            </a:r>
            <a:r>
              <a:rPr lang="en-US" sz="1000" b="1" dirty="0">
                <a:solidFill>
                  <a:srgbClr val="14181A"/>
                </a:solidFill>
                <a:latin typeface="Google Sans" pitchFamily="34" charset="0"/>
                <a:ea typeface="Google Sans" pitchFamily="34" charset="-122"/>
                <a:cs typeface="Google Sans" pitchFamily="34" charset="-120"/>
              </a:rPr>
              <a:t>oferta</a:t>
            </a:r>
            <a:r>
              <a:rPr lang="en-US" sz="1000" dirty="0">
                <a:solidFill>
                  <a:srgbClr val="2C332E"/>
                </a:solidFill>
                <a:latin typeface="Google Sans" pitchFamily="34" charset="0"/>
                <a:ea typeface="Google Sans" pitchFamily="34" charset="-122"/>
                <a:cs typeface="Google Sans" pitchFamily="34" charset="-120"/>
              </a:rPr>
              <a:t> que resolve um problema real.</a:t>
            </a:r>
            <a:endParaRPr lang="en-US" sz="2130" dirty="0"/>
          </a:p>
          <a:p>
            <a:pPr algn="l" marL="215900" indent="-215900">
              <a:lnSpc>
                <a:spcPts val="1627"/>
              </a:lnSpc>
              <a:spcBef>
                <a:spcPts val="396"/>
              </a:spcBef>
              <a:buSzPct val="100000"/>
              <a:buFont typeface="+mj-lt"/>
              <a:buAutoNum type="arabicPeriod" startAt="2"/>
            </a:pPr>
            <a:r>
              <a:rPr lang="en-US" sz="1000" dirty="0">
                <a:solidFill>
                  <a:srgbClr val="2C332E"/>
                </a:solidFill>
                <a:latin typeface="Google Sans" pitchFamily="34" charset="0"/>
                <a:ea typeface="Google Sans" pitchFamily="34" charset="-122"/>
                <a:cs typeface="Google Sans" pitchFamily="34" charset="-120"/>
              </a:rPr>
              <a:t>Um </a:t>
            </a:r>
            <a:r>
              <a:rPr lang="en-US" sz="1000" b="1" dirty="0">
                <a:solidFill>
                  <a:srgbClr val="14181A"/>
                </a:solidFill>
                <a:latin typeface="Google Sans" pitchFamily="34" charset="0"/>
                <a:ea typeface="Google Sans" pitchFamily="34" charset="-122"/>
                <a:cs typeface="Google Sans" pitchFamily="34" charset="-120"/>
              </a:rPr>
              <a:t>modelo de vendas</a:t>
            </a:r>
            <a:r>
              <a:rPr lang="en-US" sz="1000" dirty="0">
                <a:solidFill>
                  <a:srgbClr val="2C332E"/>
                </a:solidFill>
                <a:latin typeface="Google Sans" pitchFamily="34" charset="0"/>
                <a:ea typeface="Google Sans" pitchFamily="34" charset="-122"/>
                <a:cs typeface="Google Sans" pitchFamily="34" charset="-120"/>
              </a:rPr>
              <a:t> simples, directo e replicável.</a:t>
            </a:r>
            <a:endParaRPr lang="en-US" sz="2130" dirty="0"/>
          </a:p>
          <a:p>
            <a:pPr algn="l" marL="215900" indent="-215900">
              <a:lnSpc>
                <a:spcPts val="1627"/>
              </a:lnSpc>
              <a:spcBef>
                <a:spcPts val="396"/>
              </a:spcBef>
              <a:buSzPct val="100000"/>
              <a:buFont typeface="+mj-lt"/>
              <a:buAutoNum type="arabicPeriod" startAt="3"/>
            </a:pPr>
            <a:r>
              <a:rPr lang="en-US" sz="1000" dirty="0">
                <a:solidFill>
                  <a:srgbClr val="2C332E"/>
                </a:solidFill>
                <a:latin typeface="Google Sans" pitchFamily="34" charset="0"/>
                <a:ea typeface="Google Sans" pitchFamily="34" charset="-122"/>
                <a:cs typeface="Google Sans" pitchFamily="34" charset="-120"/>
              </a:rPr>
              <a:t>Um </a:t>
            </a:r>
            <a:r>
              <a:rPr lang="en-US" sz="1000" b="1" dirty="0">
                <a:solidFill>
                  <a:srgbClr val="14181A"/>
                </a:solidFill>
                <a:latin typeface="Google Sans" pitchFamily="34" charset="0"/>
                <a:ea typeface="Google Sans" pitchFamily="34" charset="-122"/>
                <a:cs typeface="Google Sans" pitchFamily="34" charset="-120"/>
              </a:rPr>
              <a:t>sistema operativo</a:t>
            </a:r>
            <a:r>
              <a:rPr lang="en-US" sz="1000" dirty="0">
                <a:solidFill>
                  <a:srgbClr val="2C332E"/>
                </a:solidFill>
                <a:latin typeface="Google Sans" pitchFamily="34" charset="0"/>
                <a:ea typeface="Google Sans" pitchFamily="34" charset="-122"/>
                <a:cs typeface="Google Sans" pitchFamily="34" charset="-120"/>
              </a:rPr>
              <a:t> capaz de escalar sem se destruir pelo caminho.</a:t>
            </a:r>
            <a:endParaRPr lang="en-US" sz="213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Só quando estes três elementos se alinham é que o negócio começa a comportar-se como um organismo vivo, previsível, consistente — e, acima de tudo, escalável. É sobre isso que este livro trata: a parte da jornada que vem depois de aprenderes a vender, depois de descobrires o produto certo, o nicho certo e a comunicação certa. Aqui entramos na zona onde os amadores desistem e os profissionais crescem: </a:t>
            </a:r>
            <a:r>
              <a:rPr lang="en-US" sz="1000" b="1" dirty="0">
                <a:solidFill>
                  <a:srgbClr val="14181A"/>
                </a:solidFill>
                <a:latin typeface="Google Sans" pitchFamily="34" charset="0"/>
                <a:ea typeface="Google Sans" pitchFamily="34" charset="-122"/>
                <a:cs typeface="Google Sans" pitchFamily="34" charset="-120"/>
              </a:rPr>
              <a:t>a zona da escala.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Todo o negócio atravessa quatro níveis de gestão até lá chegar. Cada nível contém o anterior: não se chega à escala sem antes organizar a casa e tornar os resultados previsíveis.</a:t>
            </a:r>
            <a:endParaRPr lang="en-US" sz="213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A gestão amadurece em quatro níveis, do improviso à escala">    </p:cNvPr>
          <p:cNvPicPr>
            <a:picLocks noChangeAspect="1"/>
          </p:cNvPicPr>
          <p:nvPr/>
        </p:nvPicPr>
        <p:blipFill>
          <a:blip r:embed="rId1"/>
          <a:stretch>
            <a:fillRect/>
          </a:stretch>
        </p:blipFill>
        <p:spPr>
          <a:xfrm>
            <a:off x="1511005" y="792000"/>
            <a:ext cx="4537770" cy="4031903"/>
          </a:xfrm>
          <a:prstGeom prst="rect">
            <a:avLst/>
          </a:prstGeom>
        </p:spPr>
      </p:pic>
      <p:sp>
        <p:nvSpPr>
          <p:cNvPr id="3" name="Shape 0"/>
          <p:cNvSpPr/>
          <p:nvPr/>
        </p:nvSpPr>
        <p:spPr>
          <a:xfrm>
            <a:off x="756000" y="4949811"/>
            <a:ext cx="6047929" cy="0"/>
          </a:xfrm>
          <a:prstGeom prst="line">
            <a:avLst/>
          </a:prstGeom>
          <a:noFill/>
          <a:ln w="9525">
            <a:solidFill>
              <a:srgbClr val="E2E8DF"/>
            </a:solidFill>
            <a:prstDash val="solid"/>
          </a:ln>
        </p:spPr>
      </p:sp>
      <p:sp>
        <p:nvSpPr>
          <p:cNvPr id="4" name="Text 1"/>
          <p:cNvSpPr txBox="1"/>
          <p:nvPr/>
        </p:nvSpPr>
        <p:spPr>
          <a:xfrm>
            <a:off x="756000" y="5067237"/>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A gestão amadurece em quatro níveis, do improviso à escala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a:t>
            </a:r>
            <a:r>
              <a:rPr lang="en-US" sz="830" dirty="0">
                <a:solidFill>
                  <a:srgbClr val="7E8780"/>
                </a:solidFill>
                <a:latin typeface="Google Sans" pitchFamily="34" charset="0"/>
                <a:ea typeface="Google Sans" pitchFamily="34" charset="-122"/>
                <a:cs typeface="Google Sans" pitchFamily="34" charset="-120"/>
              </a:rPr>
              <a:t> · Os quatro níveis da gestão empresarial</a:t>
            </a:r>
            <a:endParaRPr lang="en-US" sz="1020" dirty="0"/>
          </a:p>
        </p:txBody>
      </p:sp>
      <p:sp>
        <p:nvSpPr>
          <p:cNvPr id="5" name="Text 2"/>
          <p:cNvSpPr txBox="1"/>
          <p:nvPr/>
        </p:nvSpPr>
        <p:spPr>
          <a:xfrm>
            <a:off x="756000" y="5693654"/>
            <a:ext cx="6084505" cy="3825228"/>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Quando me mudei de Tsalala para o Bairro Central, como conto na próxima secção, eu não estava apenas a mudar de casa — estava a mudar de nível. Tudo o que aprendi, testei, errei e refinei a partir dali levou-me a construir os frameworks que hoje ensino a milhares de jovens e que sustentaram os nossos maiores números:</a:t>
            </a:r>
            <a:endParaRPr lang="en-US" sz="1000" dirty="0"/>
          </a:p>
          <a:p>
            <a:pPr algn="l" marL="215900" indent="-215900">
              <a:lnSpc>
                <a:spcPts val="1627"/>
              </a:lnSpc>
              <a:spcBef>
                <a:spcPts val="907"/>
              </a:spcBef>
              <a:buSzPct val="100000"/>
              <a:buChar char="•"/>
            </a:pPr>
            <a:r>
              <a:rPr lang="en-US" sz="1000" dirty="0">
                <a:solidFill>
                  <a:srgbClr val="2C332E"/>
                </a:solidFill>
                <a:latin typeface="Google Sans" pitchFamily="34" charset="0"/>
                <a:ea typeface="Google Sans" pitchFamily="34" charset="-122"/>
                <a:cs typeface="Google Sans" pitchFamily="34" charset="-120"/>
              </a:rPr>
              <a:t>o </a:t>
            </a:r>
            <a:r>
              <a:rPr lang="en-US" sz="1000" b="1" dirty="0">
                <a:solidFill>
                  <a:srgbClr val="14181A"/>
                </a:solidFill>
                <a:latin typeface="Google Sans" pitchFamily="34" charset="0"/>
                <a:ea typeface="Google Sans" pitchFamily="34" charset="-122"/>
                <a:cs typeface="Google Sans" pitchFamily="34" charset="-120"/>
              </a:rPr>
              <a:t>Diamante do Marketing</a:t>
            </a:r>
            <a:r>
              <a:rPr lang="en-US" sz="1000" dirty="0">
                <a:solidFill>
                  <a:srgbClr val="2C332E"/>
                </a:solidFill>
                <a:latin typeface="Google Sans" pitchFamily="34" charset="0"/>
                <a:ea typeface="Google Sans" pitchFamily="34" charset="-122"/>
                <a:cs typeface="Google Sans" pitchFamily="34" charset="-120"/>
              </a:rPr>
              <a:t>;</a:t>
            </a:r>
            <a:endParaRPr lang="en-US" sz="100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o </a:t>
            </a:r>
            <a:r>
              <a:rPr lang="en-US" sz="1000" b="1" dirty="0">
                <a:solidFill>
                  <a:srgbClr val="14181A"/>
                </a:solidFill>
                <a:latin typeface="Google Sans" pitchFamily="34" charset="0"/>
                <a:ea typeface="Google Sans" pitchFamily="34" charset="-122"/>
                <a:cs typeface="Google Sans" pitchFamily="34" charset="-120"/>
              </a:rPr>
              <a:t>Modelo de Arbitragem</a:t>
            </a:r>
            <a:r>
              <a:rPr lang="en-US" sz="1000" dirty="0">
                <a:solidFill>
                  <a:srgbClr val="2C332E"/>
                </a:solidFill>
                <a:latin typeface="Google Sans" pitchFamily="34" charset="0"/>
                <a:ea typeface="Google Sans" pitchFamily="34" charset="-122"/>
                <a:cs typeface="Google Sans" pitchFamily="34" charset="-120"/>
              </a:rPr>
              <a:t>;</a:t>
            </a:r>
            <a:endParaRPr lang="en-US" sz="100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o </a:t>
            </a:r>
            <a:r>
              <a:rPr lang="en-US" sz="1000" b="1" dirty="0">
                <a:solidFill>
                  <a:srgbClr val="14181A"/>
                </a:solidFill>
                <a:latin typeface="Google Sans" pitchFamily="34" charset="0"/>
                <a:ea typeface="Google Sans" pitchFamily="34" charset="-122"/>
                <a:cs typeface="Google Sans" pitchFamily="34" charset="-120"/>
              </a:rPr>
              <a:t>Drop Nacional</a:t>
            </a:r>
            <a:r>
              <a:rPr lang="en-US" sz="1000" dirty="0">
                <a:solidFill>
                  <a:srgbClr val="2C332E"/>
                </a:solidFill>
                <a:latin typeface="Google Sans" pitchFamily="34" charset="0"/>
                <a:ea typeface="Google Sans" pitchFamily="34" charset="-122"/>
                <a:cs typeface="Google Sans" pitchFamily="34" charset="-120"/>
              </a:rPr>
              <a:t>;</a:t>
            </a:r>
            <a:endParaRPr lang="en-US" sz="100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o </a:t>
            </a:r>
            <a:r>
              <a:rPr lang="en-US" sz="1000" b="1" dirty="0">
                <a:solidFill>
                  <a:srgbClr val="14181A"/>
                </a:solidFill>
                <a:latin typeface="Google Sans" pitchFamily="34" charset="0"/>
                <a:ea typeface="Google Sans" pitchFamily="34" charset="-122"/>
                <a:cs typeface="Google Sans" pitchFamily="34" charset="-120"/>
              </a:rPr>
              <a:t>Método PERA</a:t>
            </a:r>
            <a:r>
              <a:rPr lang="en-US" sz="1000" dirty="0">
                <a:solidFill>
                  <a:srgbClr val="2C332E"/>
                </a:solidFill>
                <a:latin typeface="Google Sans" pitchFamily="34" charset="0"/>
                <a:ea typeface="Google Sans" pitchFamily="34" charset="-122"/>
                <a:cs typeface="Google Sans" pitchFamily="34" charset="-120"/>
              </a:rPr>
              <a:t>;</a:t>
            </a:r>
            <a:endParaRPr lang="en-US" sz="100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a </a:t>
            </a:r>
            <a:r>
              <a:rPr lang="en-US" sz="1000" b="1" dirty="0">
                <a:solidFill>
                  <a:srgbClr val="14181A"/>
                </a:solidFill>
                <a:latin typeface="Google Sans" pitchFamily="34" charset="0"/>
                <a:ea typeface="Google Sans" pitchFamily="34" charset="-122"/>
                <a:cs typeface="Google Sans" pitchFamily="34" charset="-120"/>
              </a:rPr>
              <a:t>Estratégia da Cauda Longa</a:t>
            </a:r>
            <a:r>
              <a:rPr lang="en-US" sz="1000" dirty="0">
                <a:solidFill>
                  <a:srgbClr val="2C332E"/>
                </a:solidFill>
                <a:latin typeface="Google Sans" pitchFamily="34" charset="0"/>
                <a:ea typeface="Google Sans" pitchFamily="34" charset="-122"/>
                <a:cs typeface="Google Sans" pitchFamily="34" charset="-120"/>
              </a:rPr>
              <a:t>;</a:t>
            </a:r>
            <a:endParaRPr lang="en-US" sz="1000" dirty="0"/>
          </a:p>
          <a:p>
            <a:pPr algn="l" marL="215900" indent="-2159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e a </a:t>
            </a:r>
            <a:r>
              <a:rPr lang="en-US" sz="1000" b="1" dirty="0">
                <a:solidFill>
                  <a:srgbClr val="14181A"/>
                </a:solidFill>
                <a:latin typeface="Google Sans" pitchFamily="34" charset="0"/>
                <a:ea typeface="Google Sans" pitchFamily="34" charset="-122"/>
                <a:cs typeface="Google Sans" pitchFamily="34" charset="-120"/>
              </a:rPr>
              <a:t>Estrutura de Delegação e Automação</a:t>
            </a:r>
            <a:r>
              <a:rPr lang="en-US" sz="1000" dirty="0">
                <a:solidFill>
                  <a:srgbClr val="2C332E"/>
                </a:solidFill>
                <a:latin typeface="Google Sans" pitchFamily="34" charset="0"/>
                <a:ea typeface="Google Sans" pitchFamily="34" charset="-122"/>
                <a:cs typeface="Google Sans" pitchFamily="34" charset="-120"/>
              </a:rPr>
              <a:t>, que nos permitiu escalar para além dos limites operacionais.</a:t>
            </a:r>
            <a:endParaRPr lang="en-US" sz="100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Este não é um livro sobre atalhos. É um livro sobre sistemas — porque sistemas ganham sempre aos sentimentos. Ganham à pressa, à dúvida e até ao medo. Se seguires cada etapa, cada framework e cada princípio que partilho aqui, o teu negócio ganha previsibilidade. Não porque terás sorte, mas porque terás estrutura. E, no mundo dos negócios digitais, estrutura é liberdade: financeira, geográfica, mental e emocional.</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56000" y="792000"/>
            <a:ext cx="6084505" cy="3182588"/>
          </a:xfrm>
          <a:prstGeom prst="rect">
            <a:avLst/>
          </a:prstGeom>
          <a:noFill/>
          <a:ln/>
        </p:spPr>
        <p:txBody>
          <a:bodyPr wrap="square" lIns="0" tIns="0" rIns="0" bIns="0" rtlCol="0" anchor="t"/>
          <a:lstStyle/>
          <a:p>
            <a:pPr algn="l" indent="0" marL="0">
              <a:lnSpc>
                <a:spcPts val="1755"/>
              </a:lnSpc>
              <a:buNone/>
            </a:pPr>
            <a:r>
              <a:rPr lang="en-US" sz="1310" b="1" dirty="0">
                <a:solidFill>
                  <a:srgbClr val="14181A"/>
                </a:solidFill>
                <a:latin typeface="Google Sans" pitchFamily="34" charset="0"/>
                <a:ea typeface="Google Sans" pitchFamily="34" charset="-122"/>
                <a:cs typeface="Google Sans" pitchFamily="34" charset="-120"/>
              </a:rPr>
              <a:t>Comece por aqui</a:t>
            </a:r>
            <a:endParaRPr lang="en-US" sz="131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Como empreendedores, trabalhamos duro para que os nossos negócios cresçam. Investimos em marketing, vendas, renda, stock e muitas outras coisas, à espera de que o retorno volte, e volte maior. Umas vezes volta; outras, não.</a:t>
            </a:r>
            <a:endParaRPr lang="en-US" sz="131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Existe uma diferença entre trabalhar duro e trabalhar com eficiência. Essa diferença chama-se competência. Com competência suficiente, o trabalho duro torna-se eficiente e as probabilidades viram a nosso favor. Em termos simples: com competência, podemos gerar uma escala previsível nos nossos negócios.</a:t>
            </a:r>
            <a:endParaRPr lang="en-US" sz="131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Escolhi o nome </a:t>
            </a:r>
            <a:r>
              <a:rPr lang="en-US" sz="1000" i="1" dirty="0">
                <a:solidFill>
                  <a:srgbClr val="2C332E"/>
                </a:solidFill>
                <a:latin typeface="Google Sans" pitchFamily="34" charset="0"/>
                <a:ea typeface="Google Sans" pitchFamily="34" charset="-122"/>
                <a:cs typeface="Google Sans" pitchFamily="34" charset="-120"/>
              </a:rPr>
              <a:t>Escala Previsível</a:t>
            </a:r>
            <a:r>
              <a:rPr lang="en-US" sz="1000" dirty="0">
                <a:solidFill>
                  <a:srgbClr val="2C332E"/>
                </a:solidFill>
                <a:latin typeface="Google Sans" pitchFamily="34" charset="0"/>
                <a:ea typeface="Google Sans" pitchFamily="34" charset="-122"/>
                <a:cs typeface="Google Sans" pitchFamily="34" charset="-120"/>
              </a:rPr>
              <a:t> em parte como homenagem ao livro </a:t>
            </a:r>
            <a:r>
              <a:rPr lang="en-US" sz="1000" i="1" dirty="0">
                <a:solidFill>
                  <a:srgbClr val="2C332E"/>
                </a:solidFill>
                <a:latin typeface="Google Sans" pitchFamily="34" charset="0"/>
                <a:ea typeface="Google Sans" pitchFamily="34" charset="-122"/>
                <a:cs typeface="Google Sans" pitchFamily="34" charset="-120"/>
              </a:rPr>
              <a:t>Receita Previsível</a:t>
            </a:r>
            <a:r>
              <a:rPr lang="en-US" sz="1000" dirty="0">
                <a:solidFill>
                  <a:srgbClr val="2C332E"/>
                </a:solidFill>
                <a:latin typeface="Google Sans" pitchFamily="34" charset="0"/>
                <a:ea typeface="Google Sans" pitchFamily="34" charset="-122"/>
                <a:cs typeface="Google Sans" pitchFamily="34" charset="-120"/>
              </a:rPr>
              <a:t>. A ideia é mostrar que não basta ter uma receita previsível: quando bem estruturada, a escala também pode ser previsível.</a:t>
            </a:r>
            <a:endParaRPr lang="en-US" sz="131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Este livro faz parte de uma série de materiais — livros, cursos e mentorias — criados para ajudar empreendedores a romper com a pobreza e conquistar o mundo sem perder a alma no processo.</a:t>
            </a:r>
            <a:endParaRPr lang="en-US" sz="1310" dirty="0"/>
          </a:p>
        </p:txBody>
      </p:sp>
      <p:sp>
        <p:nvSpPr>
          <p:cNvPr id="3" name="Shape 1"/>
          <p:cNvSpPr/>
          <p:nvPr/>
        </p:nvSpPr>
        <p:spPr>
          <a:xfrm>
            <a:off x="756000" y="4091073"/>
            <a:ext cx="6047929" cy="1078111"/>
          </a:xfrm>
          <a:prstGeom prst="roundRect">
            <a:avLst>
              <a:gd name="adj" fmla="val 11874"/>
            </a:avLst>
          </a:prstGeom>
          <a:solidFill>
            <a:srgbClr val="F3F6F2"/>
          </a:solidFill>
          <a:ln/>
        </p:spPr>
      </p:sp>
      <p:sp>
        <p:nvSpPr>
          <p:cNvPr id="4" name="Text 2"/>
          <p:cNvSpPr txBox="1"/>
          <p:nvPr/>
        </p:nvSpPr>
        <p:spPr>
          <a:xfrm>
            <a:off x="935933" y="4216982"/>
            <a:ext cx="5724638" cy="844582"/>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Dica Pro: aprende mais depressa lendo e assistindo.</a:t>
            </a:r>
            <a:r>
              <a:rPr lang="en-US" sz="1000" dirty="0">
                <a:solidFill>
                  <a:srgbClr val="2C332E"/>
                </a:solidFill>
                <a:latin typeface="Google Sans" pitchFamily="34" charset="0"/>
                <a:ea typeface="Google Sans" pitchFamily="34" charset="-122"/>
                <a:cs typeface="Google Sans" pitchFamily="34" charset="-120"/>
              </a:rPr>
              <a:t> O nosso cérebro aprende melhor quando a experiência envolve vários sentidos. Por isso, este livro é acompanhado de uma masterclass em vídeo onde explico em detalhe vários conceitos. Se não a recebeste com o livro, podes adquiri-la em [link da masterclass].</a:t>
            </a:r>
            <a:endParaRPr lang="en-US" sz="1000" dirty="0"/>
          </a:p>
        </p:txBody>
      </p:sp>
      <p:sp>
        <p:nvSpPr>
          <p:cNvPr id="5" name="Text 3"/>
          <p:cNvSpPr txBox="1"/>
          <p:nvPr/>
        </p:nvSpPr>
        <p:spPr>
          <a:xfrm>
            <a:off x="756000" y="5457166"/>
            <a:ext cx="6084505" cy="3892647"/>
          </a:xfrm>
          <a:prstGeom prst="rect">
            <a:avLst/>
          </a:prstGeom>
          <a:noFill/>
          <a:ln/>
        </p:spPr>
        <p:txBody>
          <a:bodyPr wrap="square" lIns="0" tIns="0" rIns="0" bIns="0" rtlCol="0" anchor="t"/>
          <a:lstStyle/>
          <a:p>
            <a:pPr algn="l" indent="0" marL="0">
              <a:lnSpc>
                <a:spcPts val="1755"/>
              </a:lnSpc>
              <a:buNone/>
            </a:pPr>
            <a:r>
              <a:rPr lang="en-US" sz="1310" b="1" dirty="0">
                <a:solidFill>
                  <a:srgbClr val="14181A"/>
                </a:solidFill>
                <a:latin typeface="Google Sans" pitchFamily="34" charset="0"/>
                <a:ea typeface="Google Sans" pitchFamily="34" charset="-122"/>
                <a:cs typeface="Google Sans" pitchFamily="34" charset="-120"/>
              </a:rPr>
              <a:t>Para quem é este livro</a:t>
            </a:r>
            <a:endParaRPr lang="en-US" sz="131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Este livro é para jovens empreendedores, dos 18 aos 35 anos, que vendem pela internet e querem vender mais com previsibilidade: dropshippers, pequenos lojistas de roupa, calçados e electrónicos, floristas, boleiras e confeiteiros, maquilhadoras e salões de beleza, designers gráficos, pequenas agências de marketing, consultores e quem vende produtos digitais de baixo valor (low-ticket).</a:t>
            </a:r>
            <a:endParaRPr lang="en-US" sz="131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Se o teu negócio fatura entre 10.000 e 150.000 MT por mês, tens entre nenhum e seis colaboradores e quase todas as vendas passam pelo Instagram, pelo TikTok, pelo Facebook ou pelo WhatsApp, este livro foi escrito para ti. Não precisas de escritório nem de equipa para começar. Precisas de método.</a:t>
            </a:r>
            <a:endParaRPr lang="en-US" sz="131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 minha história passa pelo dropshipping e pelo Drop Nacional, porque foi aí que aprendi estas lições. Mas o método funciona em qualquer negócio que venda online. O que muda de um modelo para outro são os exemplos — e, por isso, vais ter cinco.</a:t>
            </a:r>
            <a:endParaRPr lang="en-US" sz="1310" dirty="0"/>
          </a:p>
          <a:p>
            <a:pPr algn="l" indent="0" marL="0">
              <a:lnSpc>
                <a:spcPts val="1755"/>
              </a:lnSpc>
              <a:spcBef>
                <a:spcPts val="2268"/>
              </a:spcBef>
              <a:buNone/>
            </a:pPr>
            <a:r>
              <a:rPr lang="en-US" sz="1310" b="1" dirty="0">
                <a:solidFill>
                  <a:srgbClr val="14181A"/>
                </a:solidFill>
                <a:latin typeface="Google Sans" pitchFamily="34" charset="0"/>
                <a:ea typeface="Google Sans" pitchFamily="34" charset="-122"/>
                <a:cs typeface="Google Sans" pitchFamily="34" charset="-120"/>
              </a:rPr>
              <a:t>Os cinco negócios que te vão acompanhar</a:t>
            </a:r>
            <a:endParaRPr lang="en-US" sz="131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Em cada capítulo, as ferramentas são aplicadas a cinco negócios. São casos ilustrativos, inspirados em negócios reais dos nossos alunos; os nomes e os números são exemplos. Escolhe o que mais se parece com o teu e segue-o de capítulo em capítulo.</a:t>
            </a:r>
            <a:endParaRPr lang="en-US" sz="131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713482"/>
                <a:gridCol w="785366"/>
                <a:gridCol w="1122908"/>
                <a:gridCol w="1308199"/>
                <a:gridCol w="814685"/>
                <a:gridCol w="1284238"/>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Quem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vende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vende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Faturação por mês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Desafio de partida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954732">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Neyma Store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Neyma, 24 anos, Maputo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Roupa e calçados femininos (Drop Nacional)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Instagram, TikTok e WhatsApp; motoqueiro; pagamento na entrega ou M-Pesa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\~90.000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Responde sozinha a todas as mensagens e depende de um modelo de ténis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794445">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Yara, 22 anos, Matola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Bolos e doces por encomenda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Instagram e WhatsApp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\~35.000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Cobra o que as outras cobram e não sabe quanto ganha por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634157">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Célia Makeup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 26 anos, Beira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Maquilhagem para eventos, tranças e cílios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Instagram e TikTok; marcações por WhatsApp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\~45.000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Sábados cheios, semana vazia e clientes que faltam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634157">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Excel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Hélder, 23 anos, Nampula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Curso online low-ticket, a 500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TikTok e WhatsApp; M-Pesa e e-Mola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\~30.000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Muitas mensagens, poucas compras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784920">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TS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Tiago, 29 anos, Maputo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Design gráfico e gestão de redes sociais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Instagram, portefólio online e WhatsApp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\~60.000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 cliente vale metade da faturação; alterações sem fim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5272322"/>
            <a:ext cx="6084505" cy="4111425"/>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O contexto moçambicano que este livro considera:</a:t>
            </a:r>
            <a:endParaRPr lang="en-US" sz="1000" dirty="0"/>
          </a:p>
          <a:p>
            <a:pPr algn="l" marL="215900" indent="-215900">
              <a:lnSpc>
                <a:spcPts val="1627"/>
              </a:lnSpc>
              <a:spcBef>
                <a:spcPts val="907"/>
              </a:spcBef>
              <a:buSzPct val="100000"/>
              <a:buChar char="•"/>
            </a:pPr>
            <a:r>
              <a:rPr lang="en-US" sz="1000" b="1" dirty="0">
                <a:solidFill>
                  <a:srgbClr val="14181A"/>
                </a:solidFill>
                <a:latin typeface="Google Sans" pitchFamily="34" charset="0"/>
                <a:ea typeface="Google Sans" pitchFamily="34" charset="-122"/>
                <a:cs typeface="Google Sans" pitchFamily="34" charset="-120"/>
              </a:rPr>
              <a:t>Pagamentos móveis.</a:t>
            </a:r>
            <a:r>
              <a:rPr lang="en-US" sz="1000" dirty="0">
                <a:solidFill>
                  <a:srgbClr val="2C332E"/>
                </a:solidFill>
                <a:latin typeface="Google Sans" pitchFamily="34" charset="0"/>
                <a:ea typeface="Google Sans" pitchFamily="34" charset="-122"/>
                <a:cs typeface="Google Sans" pitchFamily="34" charset="-120"/>
              </a:rPr>
              <a:t> M-Pesa, e-Mola e mKesh são, para muitos clientes, a forma mais fácil de pagar.</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Desconfiança nas compras online.</a:t>
            </a:r>
            <a:r>
              <a:rPr lang="en-US" sz="1000" dirty="0">
                <a:solidFill>
                  <a:srgbClr val="2C332E"/>
                </a:solidFill>
                <a:latin typeface="Google Sans" pitchFamily="34" charset="0"/>
                <a:ea typeface="Google Sans" pitchFamily="34" charset="-122"/>
                <a:cs typeface="Google Sans" pitchFamily="34" charset="-120"/>
              </a:rPr>
              <a:t> Muitos clientes já foram enganados. Pagamento na entrega, sinal pequeno, vídeos de clientes reais e entregas rápidas valem mais do que qualquer promessa.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O WhatsApp é a loja.</a:t>
            </a:r>
            <a:r>
              <a:rPr lang="en-US" sz="1000" dirty="0">
                <a:solidFill>
                  <a:srgbClr val="2C332E"/>
                </a:solidFill>
                <a:latin typeface="Google Sans" pitchFamily="34" charset="0"/>
                <a:ea typeface="Google Sans" pitchFamily="34" charset="-122"/>
                <a:cs typeface="Google Sans" pitchFamily="34" charset="-120"/>
              </a:rPr>
              <a:t> A maioria das vendas fecha-se numa conversa, muitas vezes por áudio.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Anúncios pagos em dólares.</a:t>
            </a:r>
            <a:r>
              <a:rPr lang="en-US" sz="1000" dirty="0">
                <a:solidFill>
                  <a:srgbClr val="2C332E"/>
                </a:solidFill>
                <a:latin typeface="Google Sans" pitchFamily="34" charset="0"/>
                <a:ea typeface="Google Sans" pitchFamily="34" charset="-122"/>
                <a:cs typeface="Google Sans" pitchFamily="34" charset="-120"/>
              </a:rPr>
              <a:t> O Meta Ads e o TikTok Ads cobram em dólares: quando o câmbio mexe, o teu custo por cliente mexe também.</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Distâncias grandes.</a:t>
            </a:r>
            <a:r>
              <a:rPr lang="en-US" sz="1000" dirty="0">
                <a:solidFill>
                  <a:srgbClr val="2C332E"/>
                </a:solidFill>
                <a:latin typeface="Google Sans" pitchFamily="34" charset="0"/>
                <a:ea typeface="Google Sans" pitchFamily="34" charset="-122"/>
                <a:cs typeface="Google Sans" pitchFamily="34" charset="-120"/>
              </a:rPr>
              <a:t> Vender para as províncias exige transportadoras ou autocarros interprovinciais e pagamento antecipado.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O ritmo do salário.</a:t>
            </a:r>
            <a:r>
              <a:rPr lang="en-US" sz="1000" dirty="0">
                <a:solidFill>
                  <a:srgbClr val="2C332E"/>
                </a:solidFill>
                <a:latin typeface="Google Sans" pitchFamily="34" charset="0"/>
                <a:ea typeface="Google Sans" pitchFamily="34" charset="-122"/>
                <a:cs typeface="Google Sans" pitchFamily="34" charset="-120"/>
              </a:rPr>
              <a:t> As vendas costumam subir entre o fim do mês e os primeiros dias do mês seguinte, quando entram os salários.</a:t>
            </a:r>
            <a:endParaRPr lang="en-US" sz="1000" dirty="0"/>
          </a:p>
          <a:p>
            <a:pPr algn="l" indent="0" marL="0">
              <a:lnSpc>
                <a:spcPts val="1755"/>
              </a:lnSpc>
              <a:spcBef>
                <a:spcPts val="2268"/>
              </a:spcBef>
              <a:buNone/>
            </a:pPr>
            <a:r>
              <a:rPr lang="en-US" sz="1310" b="1" dirty="0">
                <a:solidFill>
                  <a:srgbClr val="14181A"/>
                </a:solidFill>
                <a:latin typeface="Google Sans" pitchFamily="34" charset="0"/>
                <a:ea typeface="Google Sans" pitchFamily="34" charset="-122"/>
                <a:cs typeface="Google Sans" pitchFamily="34" charset="-120"/>
              </a:rPr>
              <a:t>O fio condutor: o teu Mapa de Escala</a:t>
            </a:r>
            <a:endParaRPr lang="en-US" sz="100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Do primeiro ao último capítulo, vais construir uma única coisa: o teu </a:t>
            </a:r>
            <a:r>
              <a:rPr lang="en-US" sz="1000" b="1" dirty="0">
                <a:solidFill>
                  <a:srgbClr val="14181A"/>
                </a:solidFill>
                <a:latin typeface="Google Sans" pitchFamily="34" charset="0"/>
                <a:ea typeface="Google Sans" pitchFamily="34" charset="-122"/>
                <a:cs typeface="Google Sans" pitchFamily="34" charset="-120"/>
              </a:rPr>
              <a:t>Mapa de Escala</a:t>
            </a:r>
            <a:r>
              <a:rPr lang="en-US" sz="1000" dirty="0">
                <a:solidFill>
                  <a:srgbClr val="2C332E"/>
                </a:solidFill>
                <a:latin typeface="Google Sans" pitchFamily="34" charset="0"/>
                <a:ea typeface="Google Sans" pitchFamily="34" charset="-122"/>
                <a:cs typeface="Google Sans" pitchFamily="34" charset="-120"/>
              </a:rPr>
              <a:t> — a estrutura completa do teu negócio, em 18 peças. Cada capítulo entrega uma peça, e cada peça assenta nas anteriores.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56000" y="792000"/>
            <a:ext cx="6084505" cy="1175492"/>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 diagnóstico do Capítulo 1 diz-te que produtos escolher no Capítulo 2. O produto da cabeça torna-se a Oferta 10X do Capítulo 3. A oferta recebe um preço e um CAC máximo no Capítulo 4. E esse CAC máximo decide, no Capítulo 17, se um anúncio sobe ou pára. No Capítulo 18, as peças juntam-se num plano de 90 dias que te leva de volta ao diagnóstico, agora um nível acima.</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 caminho sobe os quatro níveis da gestão que acabámos de ver:</a:t>
            </a:r>
            <a:endParaRPr lang="en-US" sz="1000" dirty="0"/>
          </a:p>
        </p:txBody>
      </p:sp>
      <p:pic>
        <p:nvPicPr>
          <p:cNvPr id="3" name="Image 0" descr="Oito partes levam-te da sobrevivência à escala">    </p:cNvPr>
          <p:cNvPicPr>
            <a:picLocks noChangeAspect="1"/>
          </p:cNvPicPr>
          <p:nvPr/>
        </p:nvPicPr>
        <p:blipFill>
          <a:blip r:embed="rId1"/>
          <a:stretch>
            <a:fillRect/>
          </a:stretch>
        </p:blipFill>
        <p:spPr>
          <a:xfrm>
            <a:off x="756000" y="2192026"/>
            <a:ext cx="6047780" cy="3241625"/>
          </a:xfrm>
          <a:prstGeom prst="rect">
            <a:avLst/>
          </a:prstGeom>
        </p:spPr>
      </p:pic>
      <p:sp>
        <p:nvSpPr>
          <p:cNvPr id="4" name="Shape 1"/>
          <p:cNvSpPr/>
          <p:nvPr/>
        </p:nvSpPr>
        <p:spPr>
          <a:xfrm>
            <a:off x="756000" y="5559560"/>
            <a:ext cx="6047929" cy="0"/>
          </a:xfrm>
          <a:prstGeom prst="line">
            <a:avLst/>
          </a:prstGeom>
          <a:noFill/>
          <a:ln w="9525">
            <a:solidFill>
              <a:srgbClr val="E2E8DF"/>
            </a:solidFill>
            <a:prstDash val="solid"/>
          </a:ln>
        </p:spPr>
      </p:sp>
      <p:sp>
        <p:nvSpPr>
          <p:cNvPr id="5" name="Text 2"/>
          <p:cNvSpPr txBox="1"/>
          <p:nvPr/>
        </p:nvSpPr>
        <p:spPr>
          <a:xfrm>
            <a:off x="756000" y="5676986"/>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Oito partes levam-te da sobrevivência à escala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2</a:t>
            </a:r>
            <a:r>
              <a:rPr lang="en-US" sz="830" dirty="0">
                <a:solidFill>
                  <a:srgbClr val="7E8780"/>
                </a:solidFill>
                <a:latin typeface="Google Sans" pitchFamily="34" charset="0"/>
                <a:ea typeface="Google Sans" pitchFamily="34" charset="-122"/>
                <a:cs typeface="Google Sans" pitchFamily="34" charset="-120"/>
              </a:rPr>
              <a:t> · O caminho da Escala Previsível: 8 partes, 4 níveis, 18 peças</a:t>
            </a:r>
            <a:endParaRPr lang="en-US" sz="1020" dirty="0"/>
          </a:p>
        </p:txBody>
      </p:sp>
      <p:sp>
        <p:nvSpPr>
          <p:cNvPr id="6" name="Text 3"/>
          <p:cNvSpPr txBox="1"/>
          <p:nvPr/>
        </p:nvSpPr>
        <p:spPr>
          <a:xfrm>
            <a:off x="756000" y="6303403"/>
            <a:ext cx="6084505" cy="3416397"/>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Duas engrenagens fazem o mapa girar do princípio ao fim:</a:t>
            </a:r>
            <a:endParaRPr lang="en-US" sz="1000" dirty="0"/>
          </a:p>
          <a:p>
            <a:pPr algn="l" marL="215900" indent="-215900">
              <a:lnSpc>
                <a:spcPts val="1627"/>
              </a:lnSpc>
              <a:spcBef>
                <a:spcPts val="907"/>
              </a:spcBef>
              <a:buSzPct val="100000"/>
              <a:buChar char="•"/>
            </a:pPr>
            <a:r>
              <a:rPr lang="en-US" sz="1000" b="1" dirty="0">
                <a:solidFill>
                  <a:srgbClr val="14181A"/>
                </a:solidFill>
                <a:latin typeface="Google Sans" pitchFamily="34" charset="0"/>
                <a:ea typeface="Google Sans" pitchFamily="34" charset="-122"/>
                <a:cs typeface="Google Sans" pitchFamily="34" charset="-120"/>
              </a:rPr>
              <a:t>O Método PERA — velocidade.</a:t>
            </a:r>
            <a:r>
              <a:rPr lang="en-US" sz="1000" dirty="0">
                <a:solidFill>
                  <a:srgbClr val="2C332E"/>
                </a:solidFill>
                <a:latin typeface="Google Sans" pitchFamily="34" charset="0"/>
                <a:ea typeface="Google Sans" pitchFamily="34" charset="-122"/>
                <a:cs typeface="Google Sans" pitchFamily="34" charset="-120"/>
              </a:rPr>
              <a:t> Cada peça constrói-se num ciclo: Planejar, Executar, Revisar e Ajustar. Apresento-o por completo no Capítulo 18, mas usa-lo desde o primeiro dia.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O Painel semanal — medição.</a:t>
            </a:r>
            <a:r>
              <a:rPr lang="en-US" sz="1000" dirty="0">
                <a:solidFill>
                  <a:srgbClr val="2C332E"/>
                </a:solidFill>
                <a:latin typeface="Google Sans" pitchFamily="34" charset="0"/>
                <a:ea typeface="Google Sans" pitchFamily="34" charset="-122"/>
                <a:cs typeface="Google Sans" pitchFamily="34" charset="-120"/>
              </a:rPr>
              <a:t> Nasce no Capítulo 5 e ganha uma linha em cada capítulo seguinte, até medir o negócio inteiro.</a:t>
            </a:r>
            <a:endParaRPr lang="en-US" sz="100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As três alavancas que nos levaram dos 6.000 aos 100.000 MT por dia também atravessam o livro: a </a:t>
            </a:r>
            <a:r>
              <a:rPr lang="en-US" sz="1000" b="1" dirty="0">
                <a:solidFill>
                  <a:srgbClr val="14181A"/>
                </a:solidFill>
                <a:latin typeface="Google Sans" pitchFamily="34" charset="0"/>
                <a:ea typeface="Google Sans" pitchFamily="34" charset="-122"/>
                <a:cs typeface="Google Sans" pitchFamily="34" charset="-120"/>
              </a:rPr>
              <a:t>Velocidade</a:t>
            </a:r>
            <a:r>
              <a:rPr lang="en-US" sz="1000" dirty="0">
                <a:solidFill>
                  <a:srgbClr val="2C332E"/>
                </a:solidFill>
                <a:latin typeface="Google Sans" pitchFamily="34" charset="0"/>
                <a:ea typeface="Google Sans" pitchFamily="34" charset="-122"/>
                <a:cs typeface="Google Sans" pitchFamily="34" charset="-120"/>
              </a:rPr>
              <a:t> (o PERA), a </a:t>
            </a:r>
            <a:r>
              <a:rPr lang="en-US" sz="1000" b="1" dirty="0">
                <a:solidFill>
                  <a:srgbClr val="14181A"/>
                </a:solidFill>
                <a:latin typeface="Google Sans" pitchFamily="34" charset="0"/>
                <a:ea typeface="Google Sans" pitchFamily="34" charset="-122"/>
                <a:cs typeface="Google Sans" pitchFamily="34" charset="-120"/>
              </a:rPr>
              <a:t>Multiplicação</a:t>
            </a:r>
            <a:r>
              <a:rPr lang="en-US" sz="1000" dirty="0">
                <a:solidFill>
                  <a:srgbClr val="2C332E"/>
                </a:solidFill>
                <a:latin typeface="Google Sans" pitchFamily="34" charset="0"/>
                <a:ea typeface="Google Sans" pitchFamily="34" charset="-122"/>
                <a:cs typeface="Google Sans" pitchFamily="34" charset="-120"/>
              </a:rPr>
              <a:t> (a Cauda Longa, nos Capítulos 2, 8 e 17) e a </a:t>
            </a:r>
            <a:r>
              <a:rPr lang="en-US" sz="1000" b="1" dirty="0">
                <a:solidFill>
                  <a:srgbClr val="14181A"/>
                </a:solidFill>
                <a:latin typeface="Google Sans" pitchFamily="34" charset="0"/>
                <a:ea typeface="Google Sans" pitchFamily="34" charset="-122"/>
                <a:cs typeface="Google Sans" pitchFamily="34" charset="-120"/>
              </a:rPr>
              <a:t>Delegação e Automação</a:t>
            </a:r>
            <a:r>
              <a:rPr lang="en-US" sz="1000" dirty="0">
                <a:solidFill>
                  <a:srgbClr val="2C332E"/>
                </a:solidFill>
                <a:latin typeface="Google Sans" pitchFamily="34" charset="0"/>
                <a:ea typeface="Google Sans" pitchFamily="34" charset="-122"/>
                <a:cs typeface="Google Sans" pitchFamily="34" charset="-120"/>
              </a:rPr>
              <a:t> (Capítulos 10 e 11).</a:t>
            </a:r>
            <a:endParaRPr lang="en-US" sz="1000" dirty="0"/>
          </a:p>
          <a:p>
            <a:pPr algn="l" indent="0" marL="0">
              <a:lnSpc>
                <a:spcPts val="1755"/>
              </a:lnSpc>
              <a:spcBef>
                <a:spcPts val="2268"/>
              </a:spcBef>
              <a:buNone/>
            </a:pPr>
            <a:r>
              <a:rPr lang="en-US" sz="1310" b="1" dirty="0">
                <a:solidFill>
                  <a:srgbClr val="14181A"/>
                </a:solidFill>
                <a:latin typeface="Google Sans" pitchFamily="34" charset="0"/>
                <a:ea typeface="Google Sans" pitchFamily="34" charset="-122"/>
                <a:cs typeface="Google Sans" pitchFamily="34" charset="-120"/>
              </a:rPr>
              <a:t>Como usar este livro</a:t>
            </a:r>
            <a:endParaRPr lang="en-US" sz="100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Lê pela ordem: cada capítulo usa a peça do anterior. Todos terminam da mesma forma — a </a:t>
            </a:r>
            <a:r>
              <a:rPr lang="en-US" sz="1000" b="1" dirty="0">
                <a:solidFill>
                  <a:srgbClr val="14181A"/>
                </a:solidFill>
                <a:latin typeface="Google Sans" pitchFamily="34" charset="0"/>
                <a:ea typeface="Google Sans" pitchFamily="34" charset="-122"/>
                <a:cs typeface="Google Sans" pitchFamily="34" charset="-120"/>
              </a:rPr>
              <a:t>ferramenta</a:t>
            </a:r>
            <a:r>
              <a:rPr lang="en-US" sz="1000" dirty="0">
                <a:solidFill>
                  <a:srgbClr val="2C332E"/>
                </a:solidFill>
                <a:latin typeface="Google Sans" pitchFamily="34" charset="0"/>
                <a:ea typeface="Google Sans" pitchFamily="34" charset="-122"/>
                <a:cs typeface="Google Sans" pitchFamily="34" charset="-120"/>
              </a:rPr>
              <a:t> que constróis e uma caixa </a:t>
            </a:r>
            <a:r>
              <a:rPr lang="en-US" sz="1000" b="1" dirty="0">
                <a:solidFill>
                  <a:srgbClr val="14181A"/>
                </a:solidFill>
                <a:latin typeface="Google Sans" pitchFamily="34" charset="0"/>
                <a:ea typeface="Google Sans" pitchFamily="34" charset="-122"/>
                <a:cs typeface="Google Sans" pitchFamily="34" charset="-120"/>
              </a:rPr>
              <a:t>Fio condutor</a:t>
            </a:r>
            <a:r>
              <a:rPr lang="en-US" sz="1000" dirty="0">
                <a:solidFill>
                  <a:srgbClr val="2C332E"/>
                </a:solidFill>
                <a:latin typeface="Google Sans" pitchFamily="34" charset="0"/>
                <a:ea typeface="Google Sans" pitchFamily="34" charset="-122"/>
                <a:cs typeface="Google Sans" pitchFamily="34" charset="-120"/>
              </a:rPr>
              <a:t> que diz que peça acabaste de construir, que peças usaste, o que acrescentas ao painel e para onde segues. Se o diagnóstico mostrar um factor muito fraco, podes saltar para a parte dele, mas constrói depois as peças de que essa parte depende.</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56000" y="792000"/>
            <a:ext cx="6084505" cy="250228"/>
          </a:xfrm>
          <a:prstGeom prst="rect">
            <a:avLst/>
          </a:prstGeom>
          <a:noFill/>
          <a:ln/>
        </p:spPr>
        <p:txBody>
          <a:bodyPr wrap="square" lIns="0" tIns="0" rIns="0" bIns="0" rtlCol="0" anchor="t"/>
          <a:lstStyle/>
          <a:p>
            <a:pPr algn="l" indent="0" marL="0">
              <a:lnSpc>
                <a:spcPts val="1755"/>
              </a:lnSpc>
              <a:buNone/>
            </a:pPr>
            <a:r>
              <a:rPr lang="en-US" sz="1310" b="1" dirty="0">
                <a:solidFill>
                  <a:srgbClr val="14181A"/>
                </a:solidFill>
                <a:latin typeface="Google Sans" pitchFamily="34" charset="0"/>
                <a:ea typeface="Google Sans" pitchFamily="34" charset="-122"/>
                <a:cs typeface="Google Sans" pitchFamily="34" charset="-120"/>
              </a:rPr>
              <a:t>As 18 peças do Mapa de Escala</a:t>
            </a:r>
            <a:endParaRPr lang="en-US" sz="131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56000" y="1132221"/>
          <a:ext cx="6047929" cy="914400"/>
        </p:xfrm>
        <a:graphic>
          <a:graphicData uri="http://schemas.openxmlformats.org/drawingml/2006/table">
            <a:tbl>
              <a:tblPr/>
              <a:tblGrid>
                <a:gridCol w="1503908"/>
                <a:gridCol w="459135"/>
                <a:gridCol w="2069009"/>
                <a:gridCol w="864691"/>
                <a:gridCol w="1132136"/>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Parte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Cap.</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Peça que constróis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Usa as peças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Alimenta as peças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 Diagnóstico e oferta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Diagnóstico: nível e gargalo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2, 18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Portfólio cabeça e cauda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3, 4, 8, 15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Oferta 10X e OUV</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4, 6, 7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Preços e números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Ficha de preço e CAC máximo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5, 17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Painel semanal e previsão de caixa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Todas as seguintes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 Vendas e clientes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Funil do Processo de Vendas Directo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3, 5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7, 9, 16, 17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Guião comercial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3, 6</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8, 10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Estrutura de Cauda Longa e pós-venda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9, 17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 Operação e processos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Fluxo operacional e capacidade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6, 8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10, 16</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Processos de uma página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7, 9</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11, 12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 Pessoas e gestão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Plano de delegação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12, 14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Ficha de função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10, 11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Avaliação Performance × Cultura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Agendas de reunião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5, 13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 Preparação para crescer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Calendário comercial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16, 17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16</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Quadro dos limites do negócio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6, 9, 15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 Escala em anúncios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Plano de testes com critérios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4, 6, 8, 16</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8. Execução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Plano de 90 dias PERA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 a 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 (novo ciclo)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56000" y="792000"/>
            <a:ext cx="6084505" cy="3056828"/>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Como chegámos até aqui</a:t>
            </a:r>
            <a:endParaRPr lang="en-US" sz="2130" dirty="0"/>
          </a:p>
          <a:p>
            <a:pPr algn="l" indent="0" marL="0">
              <a:lnSpc>
                <a:spcPts val="1755"/>
              </a:lnSpc>
              <a:spcBef>
                <a:spcPts val="2268"/>
              </a:spcBef>
              <a:buNone/>
            </a:pPr>
            <a:r>
              <a:rPr lang="en-US" sz="1310" b="1" dirty="0">
                <a:solidFill>
                  <a:srgbClr val="14181A"/>
                </a:solidFill>
                <a:latin typeface="Google Sans" pitchFamily="34" charset="0"/>
                <a:ea typeface="Google Sans" pitchFamily="34" charset="-122"/>
                <a:cs typeface="Google Sans" pitchFamily="34" charset="-120"/>
              </a:rPr>
              <a:t>O ponto de partida</a:t>
            </a:r>
            <a:endParaRPr lang="en-US" sz="213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De onde vem, afinal, a expressão </a:t>
            </a:r>
            <a:r>
              <a:rPr lang="en-US" sz="1000" i="1" dirty="0">
                <a:solidFill>
                  <a:srgbClr val="2C332E"/>
                </a:solidFill>
                <a:latin typeface="Google Sans" pitchFamily="34" charset="0"/>
                <a:ea typeface="Google Sans" pitchFamily="34" charset="-122"/>
                <a:cs typeface="Google Sans" pitchFamily="34" charset="-120"/>
              </a:rPr>
              <a:t>escala previsível</a:t>
            </a:r>
            <a:r>
              <a:rPr lang="en-US" sz="1000" dirty="0">
                <a:solidFill>
                  <a:srgbClr val="2C332E"/>
                </a:solidFill>
                <a:latin typeface="Google Sans" pitchFamily="34" charset="0"/>
                <a:ea typeface="Google Sans" pitchFamily="34" charset="-122"/>
                <a:cs typeface="Google Sans" pitchFamily="34" charset="-120"/>
              </a:rPr>
              <a:t>? Tudo começa em 2021.</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Foi nesse ano que tomei a decisão de sair do bairro de Tsalala — onde termina a história que conto no primeiro livro desta trilogia, </a:t>
            </a:r>
            <a:r>
              <a:rPr lang="en-US" sz="1000" i="1" dirty="0">
                <a:solidFill>
                  <a:srgbClr val="2C332E"/>
                </a:solidFill>
                <a:latin typeface="Google Sans" pitchFamily="34" charset="0"/>
                <a:ea typeface="Google Sans" pitchFamily="34" charset="-122"/>
                <a:cs typeface="Google Sans" pitchFamily="34" charset="-120"/>
              </a:rPr>
              <a:t>O Criativo Que Aprendeu a Vender</a:t>
            </a:r>
            <a:r>
              <a:rPr lang="en-US" sz="1000" dirty="0">
                <a:solidFill>
                  <a:srgbClr val="2C332E"/>
                </a:solidFill>
                <a:latin typeface="Google Sans" pitchFamily="34" charset="0"/>
                <a:ea typeface="Google Sans" pitchFamily="34" charset="-122"/>
                <a:cs typeface="Google Sans" pitchFamily="34" charset="-120"/>
              </a:rPr>
              <a:t>. Nesse livro explico como criámos a nossa primeira agência de marketing apenas com um telemóvel e com o conhecimento que fui adquirindo ao enfrentar os desafios de vender serviços criativos e consultorias.</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Quando decidi deixar Tsalala e mudar-me para o Bairro Central, não estávamos numa fase financeira favorável. Tínhamos rompido alguns contratos que nos davam mais trabalho do que lucro e, ao adoptar um modelo de negócio escalável, levámos algum tempo até conquistar o primeiro grande contrato. Foi nesse período que enfrentámos várias crises financeiras. E deixa-me dizer-te algo desde já:</a:t>
            </a:r>
            <a:endParaRPr lang="en-US" sz="2130" dirty="0"/>
          </a:p>
        </p:txBody>
      </p:sp>
      <p:sp>
        <p:nvSpPr>
          <p:cNvPr id="3" name="Shape 1"/>
          <p:cNvSpPr/>
          <p:nvPr/>
        </p:nvSpPr>
        <p:spPr>
          <a:xfrm>
            <a:off x="756000" y="3965313"/>
            <a:ext cx="6047929" cy="664964"/>
          </a:xfrm>
          <a:prstGeom prst="roundRect">
            <a:avLst>
              <a:gd name="adj" fmla="val 19252"/>
            </a:avLst>
          </a:prstGeom>
          <a:solidFill>
            <a:srgbClr val="F3F6F2"/>
          </a:solidFill>
          <a:ln/>
        </p:spPr>
      </p:sp>
      <p:sp>
        <p:nvSpPr>
          <p:cNvPr id="4" name="Text 2"/>
          <p:cNvSpPr txBox="1"/>
          <p:nvPr/>
        </p:nvSpPr>
        <p:spPr>
          <a:xfrm>
            <a:off x="935933" y="4091222"/>
            <a:ext cx="5724638" cy="431435"/>
          </a:xfrm>
          <a:prstGeom prst="rect">
            <a:avLst/>
          </a:prstGeom>
          <a:noFill/>
          <a:ln/>
        </p:spPr>
        <p:txBody>
          <a:bodyPr wrap="square" lIns="0" tIns="0" rIns="0" bIns="0" rtlCol="0" anchor="t"/>
          <a:lstStyle/>
          <a:p>
            <a:pPr algn="l" indent="0" marL="0">
              <a:lnSpc>
                <a:spcPts val="1627"/>
              </a:lnSpc>
              <a:buNone/>
            </a:pPr>
            <a:r>
              <a:rPr lang="en-US" sz="1000" i="1" dirty="0">
                <a:solidFill>
                  <a:srgbClr val="2C332E"/>
                </a:solidFill>
                <a:latin typeface="Google Sans" pitchFamily="34" charset="0"/>
                <a:ea typeface="Google Sans" pitchFamily="34" charset="-122"/>
                <a:cs typeface="Google Sans" pitchFamily="34" charset="-120"/>
              </a:rPr>
              <a:t>Crises financeiras acontecem a qualquer momento. A única coisa que não podes esquecer é quem tu és quando estiveres no meio de uma delas.</a:t>
            </a:r>
            <a:endParaRPr lang="en-US" sz="1000" dirty="0"/>
          </a:p>
        </p:txBody>
      </p:sp>
      <p:sp>
        <p:nvSpPr>
          <p:cNvPr id="5" name="Text 3"/>
          <p:cNvSpPr txBox="1"/>
          <p:nvPr/>
        </p:nvSpPr>
        <p:spPr>
          <a:xfrm>
            <a:off x="756000" y="4810211"/>
            <a:ext cx="6084505" cy="3817191"/>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Estávamos numa fase difícil, mas entendíamos da parte de Deus que aquele era um tempo de preparação para o que Ele queria fazer. E 2021 e 2022 foram anos extremamente rápidos e intensos.</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Naquele momento percebi algo fundamental: se eu queria resultados novos, precisava de uma frequência nova. Precisava de mudar de ambiente e de estar perto de pessoas que falassem a mesma linguagem, com os mesmos objectivos e a mesma fome que eu. Havia uma pessoa em particular, o Versus, que fazia parte desse ambiente. Falávamos muito por telefone, e eu repetia sempre:</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 “Quero mesmo ir para a cidade, já não me encontro aqui. Sinto que estou numa zona de expulsão.”</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 </a:t>
            </a:r>
            <a:r>
              <a:rPr lang="en-US" sz="1000" i="1" dirty="0">
                <a:solidFill>
                  <a:srgbClr val="2C332E"/>
                </a:solidFill>
                <a:latin typeface="Google Sans" pitchFamily="34" charset="0"/>
                <a:ea typeface="Google Sans" pitchFamily="34" charset="-122"/>
                <a:cs typeface="Google Sans" pitchFamily="34" charset="-120"/>
              </a:rPr>
              <a:t>zona de expulsão</a:t>
            </a:r>
            <a:r>
              <a:rPr lang="en-US" sz="1000" dirty="0">
                <a:solidFill>
                  <a:srgbClr val="2C332E"/>
                </a:solidFill>
                <a:latin typeface="Google Sans" pitchFamily="34" charset="0"/>
                <a:ea typeface="Google Sans" pitchFamily="34" charset="-122"/>
                <a:cs typeface="Google Sans" pitchFamily="34" charset="-120"/>
              </a:rPr>
              <a:t> é aquele momento em que o lugar onde estás já não te serve: já não te estica, já não te faz crescer, já não te acrescenta. Eu sabia que precisava de sair dali, mas não tinha dinheiro suficiente.</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Em Tsalala pagávamos uma renda de 7.000 MT por mês, e mesmo esse valor já nos custava. No Bairro Central, a renda era de 25.000 MT. À minha volta diziam:</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 “Mano, isso é loucura. Se com 7.000 já está difícil, como é que vais pagar 25.000? E ainda por cima três meses adiantados!”</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Mas aquela decisão estava plantada dentro de mim. Eu não via outra alternativa além de avançar.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56000" y="792000"/>
            <a:ext cx="6084505" cy="1184422"/>
          </a:xfrm>
          <a:prstGeom prst="rect">
            <a:avLst/>
          </a:prstGeom>
          <a:noFill/>
          <a:ln/>
        </p:spPr>
        <p:txBody>
          <a:bodyPr wrap="square" lIns="0" tIns="0" rIns="0" bIns="0" rtlCol="0" anchor="t"/>
          <a:lstStyle/>
          <a:p>
            <a:pPr algn="l" indent="0" marL="0">
              <a:lnSpc>
                <a:spcPts val="1755"/>
              </a:lnSpc>
              <a:buNone/>
            </a:pPr>
            <a:r>
              <a:rPr lang="en-US" sz="1310" b="1" dirty="0">
                <a:solidFill>
                  <a:srgbClr val="14181A"/>
                </a:solidFill>
                <a:latin typeface="Google Sans" pitchFamily="34" charset="0"/>
                <a:ea typeface="Google Sans" pitchFamily="34" charset="-122"/>
                <a:cs typeface="Google Sans" pitchFamily="34" charset="-120"/>
              </a:rPr>
              <a:t>A Tríade da Confiança</a:t>
            </a:r>
            <a:endParaRPr lang="en-US" sz="1310" dirty="0"/>
          </a:p>
          <a:p>
            <a:pPr algn="l" indent="0" marL="0">
              <a:lnSpc>
                <a:spcPts val="1627"/>
              </a:lnSpc>
              <a:spcBef>
                <a:spcPts val="850"/>
              </a:spcBef>
              <a:buNone/>
            </a:pPr>
            <a:r>
              <a:rPr lang="en-US" sz="1000" dirty="0">
                <a:solidFill>
                  <a:srgbClr val="2C332E"/>
                </a:solidFill>
                <a:latin typeface="Google Sans" pitchFamily="34" charset="0"/>
                <a:ea typeface="Google Sans" pitchFamily="34" charset="-122"/>
                <a:cs typeface="Google Sans" pitchFamily="34" charset="-120"/>
              </a:rPr>
              <a:t>Foi no momento de decidir a mudança que formalizei algo que ainda hoje uso para tomar qualquer decisão difícil. Chamo-lhe </a:t>
            </a:r>
            <a:r>
              <a:rPr lang="en-US" sz="1000" b="1" dirty="0">
                <a:solidFill>
                  <a:srgbClr val="14181A"/>
                </a:solidFill>
                <a:latin typeface="Google Sans" pitchFamily="34" charset="0"/>
                <a:ea typeface="Google Sans" pitchFamily="34" charset="-122"/>
                <a:cs typeface="Google Sans" pitchFamily="34" charset="-120"/>
              </a:rPr>
              <a:t>Tríade da Confiança</a:t>
            </a:r>
            <a:r>
              <a:rPr lang="en-US" sz="1000" dirty="0">
                <a:solidFill>
                  <a:srgbClr val="2C332E"/>
                </a:solidFill>
                <a:latin typeface="Google Sans" pitchFamily="34" charset="0"/>
                <a:ea typeface="Google Sans" pitchFamily="34" charset="-122"/>
                <a:cs typeface="Google Sans" pitchFamily="34" charset="-120"/>
              </a:rPr>
              <a:t>. É um framework simples e pragmático, que funciona em qualquer contexto de decisão. Sem um dos três pilares, a decisão fica fraca e instável. Com os três, torna-se sólida mesmo que o cenário exterior ainda não faça sentido.</a:t>
            </a:r>
            <a:endParaRPr lang="en-US" sz="1310" dirty="0"/>
          </a:p>
        </p:txBody>
      </p:sp>
      <p:pic>
        <p:nvPicPr>
          <p:cNvPr id="3" name="Image 0" descr="Uma decisão firme junta direcção, habilidade e coragem">    </p:cNvPr>
          <p:cNvPicPr>
            <a:picLocks noChangeAspect="1"/>
          </p:cNvPicPr>
          <p:nvPr/>
        </p:nvPicPr>
        <p:blipFill>
          <a:blip r:embed="rId1"/>
          <a:stretch>
            <a:fillRect/>
          </a:stretch>
        </p:blipFill>
        <p:spPr>
          <a:xfrm>
            <a:off x="1287019" y="2200956"/>
            <a:ext cx="4985742" cy="4031903"/>
          </a:xfrm>
          <a:prstGeom prst="rect">
            <a:avLst/>
          </a:prstGeom>
        </p:spPr>
      </p:pic>
      <p:sp>
        <p:nvSpPr>
          <p:cNvPr id="4" name="Shape 1"/>
          <p:cNvSpPr/>
          <p:nvPr/>
        </p:nvSpPr>
        <p:spPr>
          <a:xfrm>
            <a:off x="756000" y="6358767"/>
            <a:ext cx="6047929" cy="0"/>
          </a:xfrm>
          <a:prstGeom prst="line">
            <a:avLst/>
          </a:prstGeom>
          <a:noFill/>
          <a:ln w="9525">
            <a:solidFill>
              <a:srgbClr val="E2E8DF"/>
            </a:solidFill>
            <a:prstDash val="solid"/>
          </a:ln>
        </p:spPr>
      </p:sp>
      <p:sp>
        <p:nvSpPr>
          <p:cNvPr id="5" name="Text 2"/>
          <p:cNvSpPr txBox="1"/>
          <p:nvPr/>
        </p:nvSpPr>
        <p:spPr>
          <a:xfrm>
            <a:off x="756000" y="6476193"/>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Uma decisão firme junta direcção, habilidade e coragem</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3</a:t>
            </a:r>
            <a:r>
              <a:rPr lang="en-US" sz="830" dirty="0">
                <a:solidFill>
                  <a:srgbClr val="7E8780"/>
                </a:solidFill>
                <a:latin typeface="Google Sans" pitchFamily="34" charset="0"/>
                <a:ea typeface="Google Sans" pitchFamily="34" charset="-122"/>
                <a:cs typeface="Google Sans" pitchFamily="34" charset="-120"/>
              </a:rPr>
              <a:t> · A Tríade da Confiança</a:t>
            </a:r>
            <a:endParaRPr lang="en-US" sz="1020" dirty="0"/>
          </a:p>
        </p:txBody>
      </p:sp>
      <p:sp>
        <p:nvSpPr>
          <p:cNvPr id="6" name="Text 3"/>
          <p:cNvSpPr txBox="1"/>
          <p:nvPr/>
        </p:nvSpPr>
        <p:spPr>
          <a:xfrm>
            <a:off x="756000" y="7102610"/>
            <a:ext cx="6084505" cy="2001786"/>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1. Direcção de Deus.</a:t>
            </a:r>
            <a:r>
              <a:rPr lang="en-US" sz="1000" dirty="0">
                <a:solidFill>
                  <a:srgbClr val="2C332E"/>
                </a:solidFill>
                <a:latin typeface="Google Sans" pitchFamily="34" charset="0"/>
                <a:ea typeface="Google Sans" pitchFamily="34" charset="-122"/>
                <a:cs typeface="Google Sans" pitchFamily="34" charset="-120"/>
              </a:rPr>
              <a:t> Antes da mudança, uma amiga, a Tannyle, ajudou-me a conseguir uma reunião com Daniel David, o dono da STV. Estavam a lançar o WiseUp em Moçambique e eu, com a experiência que já tinha em marketing digital, analisei a operação por fora e identifiquei falhas claras. Fui à reunião, apresentei tudo com transparência, mostrei soluções e uma visão de melhoria. No final, ele disse-me simplesmente: “Quero trabalhar contigo.”</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 proposta era de 25.000 MT por mês — exactamente o valor da renda que eu queria assumir. Parecia um alinhamento perfeito, mas esse dinheiro chegaria apenas para a renda. Zero margem. Zero segurança. Voltei para casa em conflito. Falei com a minha mãe, falei com a Sheuu, mas, no fundo, ambos sabiam que quem tinha de responder era Deus. E foi isso que fiz: busquei direcção.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56000" y="792000"/>
            <a:ext cx="6084505" cy="556115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resposta veio clara: não aceites. E, para eliminar dúvidas, recebi uma instrução específica: “Se fores, diz que às quartas e sextas não podes ir ao escritório porque tens de servir a comunidade cristã.” Voltei à reunião e apresentei a condição. Ele respondeu: “Não funciona. Não é assim que trabalhamos.” Naquele instante percebi que a porta não era para mim. A direcção estava dada.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2. Habilidade.</a:t>
            </a:r>
            <a:r>
              <a:rPr lang="en-US" sz="1000" dirty="0">
                <a:solidFill>
                  <a:srgbClr val="2C332E"/>
                </a:solidFill>
                <a:latin typeface="Google Sans" pitchFamily="34" charset="0"/>
                <a:ea typeface="Google Sans" pitchFamily="34" charset="-122"/>
                <a:cs typeface="Google Sans" pitchFamily="34" charset="-120"/>
              </a:rPr>
              <a:t> O segundo pilar é pragmático: </a:t>
            </a:r>
            <a:r>
              <a:rPr lang="en-US" sz="1000" i="1" dirty="0">
                <a:solidFill>
                  <a:srgbClr val="2C332E"/>
                </a:solidFill>
                <a:latin typeface="Google Sans" pitchFamily="34" charset="0"/>
                <a:ea typeface="Google Sans" pitchFamily="34" charset="-122"/>
                <a:cs typeface="Google Sans" pitchFamily="34" charset="-120"/>
              </a:rPr>
              <a:t>se tudo der errado, consigo sobreviver?</a:t>
            </a:r>
            <a:r>
              <a:rPr lang="en-US" sz="1000" dirty="0">
                <a:solidFill>
                  <a:srgbClr val="2C332E"/>
                </a:solidFill>
                <a:latin typeface="Google Sans" pitchFamily="34" charset="0"/>
                <a:ea typeface="Google Sans" pitchFamily="34" charset="-122"/>
                <a:cs typeface="Google Sans" pitchFamily="34" charset="-120"/>
              </a:rPr>
              <a:t> É uma pergunta dura, mas necessária. Quando me analisei, concluí que sim. Eu sabia marketing, vendas e redes sociais. Sabia fazer design básico e vender pequenos serviços que me podiam render 300 a 400 MT aqui e ali. Não era muito, mas chegava para o pão e o transporte. Não ia morrer de fome. Aprendi algo nesse processo: quando a direcção é de Deus, as contas raramente fecham no início — para que, mais tarde, saibas exactamente quem te sustentou.</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3. Coragem.</a:t>
            </a:r>
            <a:r>
              <a:rPr lang="en-US" sz="1000" dirty="0">
                <a:solidFill>
                  <a:srgbClr val="2C332E"/>
                </a:solidFill>
                <a:latin typeface="Google Sans" pitchFamily="34" charset="0"/>
                <a:ea typeface="Google Sans" pitchFamily="34" charset="-122"/>
                <a:cs typeface="Google Sans" pitchFamily="34" charset="-120"/>
              </a:rPr>
              <a:t> O terceiro pilar é o mais negligenciado e, ao mesmo tempo, o mais decisivo. Sem coragem, até a melhor direcção e o conjunto certo de habilidades se tornam inúteis. A maioria das pessoas sabe o que devia fazer. Tem dons, tem recursos, tem sinais. Mas não faz, porque falta coragem.</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Quando juntei os três elementos, fiquei finalmente pronto para decidir: “Eu vou mudar-me para o Bairro Central. Não sei como, mas vou.”</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Pouco depois, em Março de 2022, fechámos um negócio de 80.000 MT: o suficiente para pagar duas rendas e sobreviver ao mês. Não resolvia o ano inteiro nem apagava os riscos, mas era o combustível inicial necessário. Conseguímos o apartamento sem rendas adiantadas graças à intervenção de alguém extraordinário: Solange Mateus, que se tornou uma grande amiga, sócia e madrinha. Aquele apartamento, que parecia apenas um espaço provisório, acabou por tornar-se o primeiro escritório daquela que viria a ser a maior startup de dropshipping em Moçambique.</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Tríade da Confiança.</a:t>
            </a:r>
            <a:r>
              <a:rPr lang="en-US" sz="1000" dirty="0">
                <a:solidFill>
                  <a:srgbClr val="2C332E"/>
                </a:solidFill>
                <a:latin typeface="Google Sans" pitchFamily="34" charset="0"/>
                <a:ea typeface="Google Sans" pitchFamily="34" charset="-122"/>
                <a:cs typeface="Google Sans" pitchFamily="34" charset="-120"/>
              </a:rPr>
              <a:t> Antes de cada decisão difícil deste livro — lançar um produto, contratar, aumentar o investimento em anúncios — responde por escrito às três perguntas: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56000" y="6450445"/>
          <a:ext cx="6047929" cy="914400"/>
        </p:xfrm>
        <a:graphic>
          <a:graphicData uri="http://schemas.openxmlformats.org/drawingml/2006/table">
            <a:tbl>
              <a:tblPr/>
              <a:tblGrid>
                <a:gridCol w="1165175"/>
                <a:gridCol w="3827264"/>
                <a:gridCol w="1036439"/>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Pilar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Pergunta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 tua resposta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Direcção de Deus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Esta decisão está alinhada com o propósito e os valores que recebi?</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Habilidade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Se tudo der errado, consigo sobreviver com o que sei fazer?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Coragem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que me impede de agir hoje, e qual é o primeiro passo?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56000" y="792000"/>
            <a:ext cx="6047929" cy="2741116"/>
          </a:xfrm>
          <a:prstGeom prst="roundRect">
            <a:avLst>
              <a:gd name="adj" fmla="val 8006"/>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71061"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1</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Diagnóstico e oferta</a:t>
            </a:r>
            <a:endParaRPr lang="en-US" sz="2520" dirty="0"/>
          </a:p>
        </p:txBody>
      </p:sp>
      <p:sp>
        <p:nvSpPr>
          <p:cNvPr id="5" name="Shape 3"/>
          <p:cNvSpPr/>
          <p:nvPr/>
        </p:nvSpPr>
        <p:spPr>
          <a:xfrm>
            <a:off x="1079999" y="2687195"/>
            <a:ext cx="5399931" cy="0"/>
          </a:xfrm>
          <a:prstGeom prst="line">
            <a:avLst/>
          </a:prstGeom>
          <a:noFill/>
          <a:ln w="9525">
            <a:solidFill>
              <a:srgbClr val="CFE3C3"/>
            </a:solidFill>
            <a:prstDash val="solid"/>
          </a:ln>
        </p:spPr>
      </p:sp>
      <p:sp>
        <p:nvSpPr>
          <p:cNvPr id="6" name="Text 4"/>
          <p:cNvSpPr txBox="1"/>
          <p:nvPr/>
        </p:nvSpPr>
        <p:spPr>
          <a:xfrm>
            <a:off x="1079999" y="1977863"/>
            <a:ext cx="5436507" cy="121367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Antes de escalar, precisas de saber o que trava o teu negócio e o que vale a pena vender. No fim desta parte terás um diagnóstico, uma comparação dos teus produtos e uma Oferta 10X.</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Da sobrevivência à organização · Peças 1 a 3 · Partes de: o teu negócio como está hoje · Entregas à Parte 2: o produto da cabeça e a sua Oferta 10X.</a:t>
            </a:r>
            <a:endParaRPr lang="en-US" sz="1000" dirty="0"/>
          </a:p>
        </p:txBody>
      </p:sp>
      <p:sp>
        <p:nvSpPr>
          <p:cNvPr id="7" name="Text 5"/>
          <p:cNvSpPr txBox="1"/>
          <p:nvPr/>
        </p:nvSpPr>
        <p:spPr>
          <a:xfrm>
            <a:off x="756000" y="3857115"/>
            <a:ext cx="6084505" cy="3303883"/>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Identificar o que limita o negócio</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Com o Green Mask, chegámos a faturar em média 35.000 MT por dia com um único produto. Um dia, o stock esgotou e não havia mais fornecedores a nível local. A operação parou. Foi nesse momento que percebemos uma realidade dura: </a:t>
            </a:r>
            <a:r>
              <a:rPr lang="en-US" sz="1000" b="1" dirty="0">
                <a:solidFill>
                  <a:srgbClr val="14181A"/>
                </a:solidFill>
                <a:latin typeface="Google Sans" pitchFamily="34" charset="0"/>
                <a:ea typeface="Google Sans" pitchFamily="34" charset="-122"/>
                <a:cs typeface="Google Sans" pitchFamily="34" charset="-120"/>
              </a:rPr>
              <a:t>não tínhamos um negócio sustentável de facto.</a:t>
            </a:r>
            <a:r>
              <a:rPr lang="en-US" sz="1000" dirty="0">
                <a:solidFill>
                  <a:srgbClr val="2C332E"/>
                </a:solidFill>
                <a:latin typeface="Google Sans" pitchFamily="34" charset="0"/>
                <a:ea typeface="Google Sans" pitchFamily="34" charset="-122"/>
                <a:cs typeface="Google Sans" pitchFamily="34" charset="-120"/>
              </a:rPr>
              <a:t> Tínhamos um produto.</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Meses depois, já com vários produtos a vender, batíamos noutra parede: crescíamos todos os dias, mas nunca rompíamos a barreira dos 70.000 MT diários. O limite já não estava no produto. Estava na operação.</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Todo o negócio tem um gargalo: o ponto que, se melhorar, faz subir o resultado do conjunto. Melhorar qualquer outra coisa dá trabalho e não muda o resultado. O gargalo está quase sempre num dos três factores da Introdução: a oferta, o modelo de vendas ou o sistema operativo. A escala previsível vive no ponto onde os três funcionam ao mesmo tempo.</a:t>
            </a:r>
            <a:endParaRPr lang="en-US" sz="102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O gargalo está no factor que falha">    </p:cNvPr>
          <p:cNvPicPr>
            <a:picLocks noChangeAspect="1"/>
          </p:cNvPicPr>
          <p:nvPr/>
        </p:nvPicPr>
        <p:blipFill>
          <a:blip r:embed="rId1"/>
          <a:stretch>
            <a:fillRect/>
          </a:stretch>
        </p:blipFill>
        <p:spPr>
          <a:xfrm>
            <a:off x="1485407" y="792000"/>
            <a:ext cx="4588966" cy="4031903"/>
          </a:xfrm>
          <a:prstGeom prst="rect">
            <a:avLst/>
          </a:prstGeom>
        </p:spPr>
      </p:pic>
      <p:sp>
        <p:nvSpPr>
          <p:cNvPr id="3" name="Shape 0"/>
          <p:cNvSpPr/>
          <p:nvPr/>
        </p:nvSpPr>
        <p:spPr>
          <a:xfrm>
            <a:off x="756000" y="4949811"/>
            <a:ext cx="6047929" cy="0"/>
          </a:xfrm>
          <a:prstGeom prst="line">
            <a:avLst/>
          </a:prstGeom>
          <a:noFill/>
          <a:ln w="9525">
            <a:solidFill>
              <a:srgbClr val="E2E8DF"/>
            </a:solidFill>
            <a:prstDash val="solid"/>
          </a:ln>
        </p:spPr>
      </p:sp>
      <p:sp>
        <p:nvSpPr>
          <p:cNvPr id="4" name="Text 1"/>
          <p:cNvSpPr txBox="1"/>
          <p:nvPr/>
        </p:nvSpPr>
        <p:spPr>
          <a:xfrm>
            <a:off x="756000" y="5067237"/>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O gargalo está no factor que falha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4</a:t>
            </a:r>
            <a:r>
              <a:rPr lang="en-US" sz="830" dirty="0">
                <a:solidFill>
                  <a:srgbClr val="7E8780"/>
                </a:solidFill>
                <a:latin typeface="Google Sans" pitchFamily="34" charset="0"/>
                <a:ea typeface="Google Sans" pitchFamily="34" charset="-122"/>
                <a:cs typeface="Google Sans" pitchFamily="34" charset="-120"/>
              </a:rPr>
              <a:t> · Os três factores do diagnóstico: oferta, vendas e operação</a:t>
            </a:r>
            <a:endParaRPr lang="en-US" sz="102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56000" y="5703179"/>
          <a:ext cx="6047929" cy="914400"/>
        </p:xfrm>
        <a:graphic>
          <a:graphicData uri="http://schemas.openxmlformats.org/drawingml/2006/table">
            <a:tbl>
              <a:tblPr/>
              <a:tblGrid>
                <a:gridCol w="728067"/>
                <a:gridCol w="3099792"/>
                <a:gridCol w="2201019"/>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Factor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Sinal de que está a limitar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Pergunta de diagnóstico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Oferta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Anúncios com pouca resposta; clientes que perguntam o preço e desaparecem; um só produto a sustentar tudo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 oferta resolve uma dor real e urgente, dita nas palavras do cliente?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Muitas conversas no WhatsApp e poucos fechos; cada vendedor vende à sua maneira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Em que etapa do funil se perde a maioria das pessoas?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Operação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Atrasos na entrega, stock que esgota, o dono a responder mensagens e a apagar fogos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que acontece se as vendas duplicarem no próximo mês?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Dinheiro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 bem, mas não sobra dinheiro no fim do mês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Quanto fica de cada venda depois de pagos produto, entrega e anúncios?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Pessoas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Tudo passa pelo dono; ninguém decide sem ele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que acontece se ficares 15 dias fora?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756000" y="8420334"/>
            <a:ext cx="6084505" cy="44057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Dinheiro e pessoas atravessam os três factores: são eles que decidem se a oferta, as vendas e a operação aguentam crescer. Por isso têm partes próprias neste livro.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56000" y="792000"/>
            <a:ext cx="6084505" cy="1638943"/>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Diagnóstico.</a:t>
            </a:r>
            <a:r>
              <a:rPr lang="en-US" sz="1000" dirty="0">
                <a:solidFill>
                  <a:srgbClr val="2C332E"/>
                </a:solidFill>
                <a:latin typeface="Google Sans" pitchFamily="34" charset="0"/>
                <a:ea typeface="Google Sans" pitchFamily="34" charset="-122"/>
                <a:cs typeface="Google Sans" pitchFamily="34" charset="-120"/>
              </a:rPr>
              <a:t> Fá-lo em dois passos, com factos dos últimos 90 dias e não com impressões:</a:t>
            </a:r>
            <a:endParaRPr lang="en-US" sz="1000" dirty="0"/>
          </a:p>
          <a:p>
            <a:pPr algn="l" marL="215900" indent="-215900">
              <a:lnSpc>
                <a:spcPts val="1627"/>
              </a:lnSpc>
              <a:spcBef>
                <a:spcPts val="907"/>
              </a:spcBef>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O teu nível.</a:t>
            </a:r>
            <a:r>
              <a:rPr lang="en-US" sz="1000" dirty="0">
                <a:solidFill>
                  <a:srgbClr val="2C332E"/>
                </a:solidFill>
                <a:latin typeface="Google Sans" pitchFamily="34" charset="0"/>
                <a:ea typeface="Google Sans" pitchFamily="34" charset="-122"/>
                <a:cs typeface="Google Sans" pitchFamily="34" charset="-120"/>
              </a:rPr>
              <a:t> Volta à figura dos quatro níveis, na Introdução, e marca onde estás. Se tudo passa por ti, estás na sobrevivência. Se já tens rotinas e números, na organização. Se as vendas e a equipa funcionam sem ti, na previsibilidade.</a:t>
            </a:r>
            <a:endParaRPr lang="en-US" sz="100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O teu gargalo.</a:t>
            </a:r>
            <a:r>
              <a:rPr lang="en-US" sz="1000" dirty="0">
                <a:solidFill>
                  <a:srgbClr val="2C332E"/>
                </a:solidFill>
                <a:latin typeface="Google Sans" pitchFamily="34" charset="0"/>
                <a:ea typeface="Google Sans" pitchFamily="34" charset="-122"/>
                <a:cs typeface="Google Sans" pitchFamily="34" charset="-120"/>
              </a:rPr>
              <a:t> Dá uma nota de 1 a 5 a cada linha da tabela acima. A nota mais baixa é o teu gargalo e diz-te onde está a solução.</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56000" y="2538945"/>
          <a:ext cx="6047929" cy="914400"/>
        </p:xfrm>
        <a:graphic>
          <a:graphicData uri="http://schemas.openxmlformats.org/drawingml/2006/table">
            <a:tbl>
              <a:tblPr/>
              <a:tblGrid>
                <a:gridCol w="1920032"/>
                <a:gridCol w="4108847"/>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Gargalo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Onde está a solução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Oferta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Parte 1 — Capítulos 2 e 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Dinheiro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Parte 2 — Capítulos 4 e 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Parte 3 — Capítulos 6 a 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Operação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Parte 4 — Capítulos 9 e 10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Pessoas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Parte 5 — Capítulos 11 a 14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4686981"/>
            <a:ext cx="6084505" cy="257967"/>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os cinco diagnósticos</a:t>
            </a:r>
            <a:endParaRPr lang="en-US" sz="112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756000" y="5034941"/>
          <a:ext cx="6047929" cy="914400"/>
        </p:xfrm>
        <a:graphic>
          <a:graphicData uri="http://schemas.openxmlformats.org/drawingml/2006/table">
            <a:tbl>
              <a:tblPr/>
              <a:tblGrid>
                <a:gridCol w="784175"/>
                <a:gridCol w="571351"/>
                <a:gridCol w="664071"/>
                <a:gridCol w="605284"/>
                <a:gridCol w="746820"/>
                <a:gridCol w="644872"/>
                <a:gridCol w="2012305"/>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Oferta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Dinheiro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Vendas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Operação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Pessoas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Gargalo e porquê</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Neyma Store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Pessoas:</a:t>
                      </a:r>
                      <a:r>
                        <a:rPr lang="en-US" sz="860" dirty="0">
                          <a:solidFill>
                            <a:srgbClr val="2C332E"/>
                          </a:solidFill>
                          <a:latin typeface="Google Sans" pitchFamily="34" charset="0"/>
                          <a:ea typeface="Google Sans" pitchFamily="34" charset="-122"/>
                          <a:cs typeface="Google Sans" pitchFamily="34" charset="-120"/>
                        </a:rPr>
                        <a:t> a Neyma responde sozinha a todas as mensagens até à meia-noite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Dinheiro:</a:t>
                      </a:r>
                      <a:r>
                        <a:rPr lang="en-US" sz="860" dirty="0">
                          <a:solidFill>
                            <a:srgbClr val="2C332E"/>
                          </a:solidFill>
                          <a:latin typeface="Google Sans" pitchFamily="34" charset="0"/>
                          <a:ea typeface="Google Sans" pitchFamily="34" charset="-122"/>
                          <a:cs typeface="Google Sans" pitchFamily="34" charset="-120"/>
                        </a:rPr>
                        <a:t> não sabe quanto ganha em cada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 Makeup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Vendas:</a:t>
                      </a:r>
                      <a:r>
                        <a:rPr lang="en-US" sz="860" dirty="0">
                          <a:solidFill>
                            <a:srgbClr val="2C332E"/>
                          </a:solidFill>
                          <a:latin typeface="Google Sans" pitchFamily="34" charset="0"/>
                          <a:ea typeface="Google Sans" pitchFamily="34" charset="-122"/>
                          <a:cs typeface="Google Sans" pitchFamily="34" charset="-120"/>
                        </a:rPr>
                        <a:t> metade das mensagens fica sem resposta e há muitas faltas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Excel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Oferta:</a:t>
                      </a:r>
                      <a:r>
                        <a:rPr lang="en-US" sz="860" dirty="0">
                          <a:solidFill>
                            <a:srgbClr val="2C332E"/>
                          </a:solidFill>
                          <a:latin typeface="Google Sans" pitchFamily="34" charset="0"/>
                          <a:ea typeface="Google Sans" pitchFamily="34" charset="-122"/>
                          <a:cs typeface="Google Sans" pitchFamily="34" charset="-120"/>
                        </a:rPr>
                        <a:t> um curso “de Excel para todos”, sem público definido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TS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Vendas:</a:t>
                      </a:r>
                      <a:r>
                        <a:rPr lang="en-US" sz="860" dirty="0">
                          <a:solidFill>
                            <a:srgbClr val="2C332E"/>
                          </a:solidFill>
                          <a:latin typeface="Google Sans" pitchFamily="34" charset="0"/>
                          <a:ea typeface="Google Sans" pitchFamily="34" charset="-122"/>
                          <a:cs typeface="Google Sans" pitchFamily="34" charset="-120"/>
                        </a:rPr>
                        <a:t> depende de um cliente e não sabe como encontrar novos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756000" y="8232960"/>
            <a:ext cx="6084505" cy="106029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Repara na Yara: dinheiro e operação têm a mesma nota. </a:t>
            </a:r>
            <a:r>
              <a:rPr lang="en-US" sz="1000" b="1" dirty="0">
                <a:solidFill>
                  <a:srgbClr val="14181A"/>
                </a:solidFill>
                <a:latin typeface="Google Sans" pitchFamily="34" charset="0"/>
                <a:ea typeface="Google Sans" pitchFamily="34" charset="-122"/>
                <a:cs typeface="Google Sans" pitchFamily="34" charset="-120"/>
              </a:rPr>
              <a:t>Em caso de empate, escolhe o factor que vem primeiro na cadeia</a:t>
            </a:r>
            <a:r>
              <a:rPr lang="en-US" sz="1000" dirty="0">
                <a:solidFill>
                  <a:srgbClr val="2C332E"/>
                </a:solidFill>
                <a:latin typeface="Google Sans" pitchFamily="34" charset="0"/>
                <a:ea typeface="Google Sans" pitchFamily="34" charset="-122"/>
                <a:cs typeface="Google Sans" pitchFamily="34" charset="-120"/>
              </a:rPr>
              <a:t> — oferta, dinheiro, vendas, operação, pessoas — porque um problema a montante alimenta os que vêm depois. Um preço errado faz a Yara trabalhar mais fins-de-semana para ganhar o mesmo. O Tiago tem o mesmo empate entre vendas e pessoas, e pela mesma regra começa pelas vendas.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56000" y="792000"/>
            <a:ext cx="6084505" cy="2146447"/>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E repara na Neyma: o gargalo dela está na Parte 5, mas delegar exige processos escritos (Parte 4). Pode ir directamente à Parte 5, desde que construa primeiro as peças 9 e 10.</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Diagnosticar pela emoção.</a:t>
            </a:r>
            <a:r>
              <a:rPr lang="en-US" sz="1000" dirty="0">
                <a:solidFill>
                  <a:srgbClr val="2C332E"/>
                </a:solidFill>
                <a:latin typeface="Google Sans" pitchFamily="34" charset="0"/>
                <a:ea typeface="Google Sans" pitchFamily="34" charset="-122"/>
                <a:cs typeface="Google Sans" pitchFamily="34" charset="-120"/>
              </a:rPr>
              <a:t> “O problema são os anúncios” é a frase mais comum — e raramente a verdadeira.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Atacar tudo ao mesmo tempo.</a:t>
            </a:r>
            <a:r>
              <a:rPr lang="en-US" sz="1000" dirty="0">
                <a:solidFill>
                  <a:srgbClr val="2C332E"/>
                </a:solidFill>
                <a:latin typeface="Google Sans" pitchFamily="34" charset="0"/>
                <a:ea typeface="Google Sans" pitchFamily="34" charset="-122"/>
                <a:cs typeface="Google Sans" pitchFamily="34" charset="-120"/>
              </a:rPr>
              <a:t> Cinco frentes abertas significam cinco trabalhos a meio.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Confundir sintoma com causa.</a:t>
            </a:r>
            <a:r>
              <a:rPr lang="en-US" sz="1000" dirty="0">
                <a:solidFill>
                  <a:srgbClr val="2C332E"/>
                </a:solidFill>
                <a:latin typeface="Google Sans" pitchFamily="34" charset="0"/>
                <a:ea typeface="Google Sans" pitchFamily="34" charset="-122"/>
                <a:cs typeface="Google Sans" pitchFamily="34" charset="-120"/>
              </a:rPr>
              <a:t> Falta de dinheiro é muitas vezes o sintoma de um preço errado; poucas vendas são muitas vezes o sintoma de uma oferta fraca.</a:t>
            </a:r>
            <a:endParaRPr lang="en-US" sz="1000" dirty="0"/>
          </a:p>
        </p:txBody>
      </p:sp>
      <p:sp>
        <p:nvSpPr>
          <p:cNvPr id="3" name="Shape 1"/>
          <p:cNvSpPr/>
          <p:nvPr/>
        </p:nvSpPr>
        <p:spPr>
          <a:xfrm>
            <a:off x="756000" y="3054932"/>
            <a:ext cx="6047929" cy="979587"/>
          </a:xfrm>
          <a:prstGeom prst="roundRect">
            <a:avLst>
              <a:gd name="adj" fmla="val 14935"/>
            </a:avLst>
          </a:prstGeom>
          <a:solidFill>
            <a:srgbClr val="E8F4E0"/>
          </a:solidFill>
          <a:ln/>
          <a:effectLst>
            <a:outerShdw sx="100000" sy="100000" kx="0" ky="0" algn="bl" rotWithShape="0" blurRad="127000" dist="38100" dir="5400000">
              <a:srgbClr val="1E501E">
                <a:alpha val="18000"/>
              </a:srgbClr>
            </a:outerShdw>
          </a:effectLst>
        </p:spPr>
      </p:sp>
      <p:sp>
        <p:nvSpPr>
          <p:cNvPr id="4" name="Text 2"/>
          <p:cNvSpPr txBox="1"/>
          <p:nvPr/>
        </p:nvSpPr>
        <p:spPr>
          <a:xfrm>
            <a:off x="971950" y="3234865"/>
            <a:ext cx="5652605" cy="638008"/>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 Diagnóstico.</a:t>
            </a:r>
            <a:r>
              <a:rPr lang="en-US" sz="1000" dirty="0">
                <a:solidFill>
                  <a:srgbClr val="2C332E"/>
                </a:solidFill>
                <a:latin typeface="Google Sans" pitchFamily="34" charset="0"/>
                <a:ea typeface="Google Sans" pitchFamily="34" charset="-122"/>
                <a:cs typeface="Google Sans" pitchFamily="34" charset="-120"/>
              </a:rPr>
              <a:t> Sabes em que nível estás e que factor te trava. </a:t>
            </a:r>
            <a:r>
              <a:rPr lang="en-US" sz="1000" b="1" dirty="0">
                <a:solidFill>
                  <a:srgbClr val="21703A"/>
                </a:solidFill>
                <a:latin typeface="Google Sans" pitchFamily="34" charset="0"/>
                <a:ea typeface="Google Sans" pitchFamily="34" charset="-122"/>
                <a:cs typeface="Google Sans" pitchFamily="34" charset="-120"/>
              </a:rPr>
              <a:t>Segue para o Capítulo 2:</a:t>
            </a:r>
            <a:r>
              <a:rPr lang="en-US" sz="1000" dirty="0">
                <a:solidFill>
                  <a:srgbClr val="2C332E"/>
                </a:solidFill>
                <a:latin typeface="Google Sans" pitchFamily="34" charset="0"/>
                <a:ea typeface="Google Sans" pitchFamily="34" charset="-122"/>
                <a:cs typeface="Google Sans" pitchFamily="34" charset="-120"/>
              </a:rPr>
              <a:t> antes de mexer em vendas ou na equipa, confirma se estás a vender os produtos certos. Guarda as notas — no Capítulo 18 escolhes com elas as prioridades do plano de 90 dias.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56000" y="792000"/>
            <a:ext cx="6084505" cy="4038796"/>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2</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Reconhecer produtos com potencial</a:t>
            </a:r>
            <a:endParaRPr lang="en-US" sz="1020" dirty="0"/>
          </a:p>
          <a:p>
            <a:pPr algn="l" indent="0" marL="0">
              <a:lnSpc>
                <a:spcPts val="1627"/>
              </a:lnSpc>
              <a:spcBef>
                <a:spcPts val="1984"/>
              </a:spcBef>
              <a:buNone/>
            </a:pPr>
            <a:r>
              <a:rPr lang="en-US" sz="1000" b="1" dirty="0">
                <a:solidFill>
                  <a:srgbClr val="14181A"/>
                </a:solidFill>
                <a:latin typeface="Google Sans" pitchFamily="34" charset="0"/>
                <a:ea typeface="Google Sans" pitchFamily="34" charset="-122"/>
                <a:cs typeface="Google Sans" pitchFamily="34" charset="-120"/>
              </a:rPr>
              <a:t>Queimando pontes.</a:t>
            </a:r>
            <a:r>
              <a:rPr lang="en-US" sz="1000" dirty="0">
                <a:solidFill>
                  <a:srgbClr val="2C332E"/>
                </a:solidFill>
                <a:latin typeface="Google Sans" pitchFamily="34" charset="0"/>
                <a:ea typeface="Google Sans" pitchFamily="34" charset="-122"/>
                <a:cs typeface="Google Sans" pitchFamily="34" charset="-120"/>
              </a:rPr>
              <a:t> Quando nos mudámos para o Bairro Central, só tínhamos uma geleira e a minha cama. Tudo o resto ficou com a minha mãe. Chegámos com uma mentalidade: “Agora temos de fazer acontecer. Não há mais volta a dar.” Foi aí que entendi um princípio que carrego até hoje: quando queimas as pontes, não tens outra escolha senão vencer.</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Eu e o Versus começámos a perguntar-nos que outras formas existiam de gerar receitas através do marketing digital. “Assim como pensa o homem, assim será a sua vida.” Fomos alinhando a mente, até que o Edson teve a ideia de vendermos um produto físico. Pouco depois, viu um produto chamado Green Mask no status do WhatsApp e lançou o primeiro anúncio. Em menos de 24 horas começaram a cair vendas. Ele ligou-me:</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 “Shelton, descobri a maneira de fazermos os milhões.”</a:t>
            </a:r>
            <a:endParaRPr lang="en-US" sz="10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O princípio da arbitragem.</a:t>
            </a:r>
            <a:r>
              <a:rPr lang="en-US" sz="1000" dirty="0">
                <a:solidFill>
                  <a:srgbClr val="2C332E"/>
                </a:solidFill>
                <a:latin typeface="Google Sans" pitchFamily="34" charset="0"/>
                <a:ea typeface="Google Sans" pitchFamily="34" charset="-122"/>
                <a:cs typeface="Google Sans" pitchFamily="34" charset="-120"/>
              </a:rPr>
              <a:t> O que fez este negócio funcionar foi a economia de arbitragem. Arbitragem é encontrar um produto ou serviço num mercado onde o preço ou a percepção de valor é mais baixa e levá-lo para outro mercado onde a percepção de valor é mais alta. Em poucas palavras: comprar no mercado A e vender no mercado B.</a:t>
            </a:r>
            <a:endParaRPr lang="en-US" sz="1020" dirty="0"/>
          </a:p>
        </p:txBody>
      </p:sp>
      <p:pic>
        <p:nvPicPr>
          <p:cNvPr id="3" name="Image 0" descr="Arbitragem: comprar onde vale menos, vender onde vale mais">    </p:cNvPr>
          <p:cNvPicPr>
            <a:picLocks noChangeAspect="1"/>
          </p:cNvPicPr>
          <p:nvPr/>
        </p:nvPicPr>
        <p:blipFill>
          <a:blip r:embed="rId1"/>
          <a:stretch>
            <a:fillRect/>
          </a:stretch>
        </p:blipFill>
        <p:spPr>
          <a:xfrm>
            <a:off x="756000" y="5055330"/>
            <a:ext cx="6047780" cy="2527995"/>
          </a:xfrm>
          <a:prstGeom prst="rect">
            <a:avLst/>
          </a:prstGeom>
        </p:spPr>
      </p:pic>
      <p:sp>
        <p:nvSpPr>
          <p:cNvPr id="4" name="Shape 1"/>
          <p:cNvSpPr/>
          <p:nvPr/>
        </p:nvSpPr>
        <p:spPr>
          <a:xfrm>
            <a:off x="756000" y="7709234"/>
            <a:ext cx="6047929" cy="0"/>
          </a:xfrm>
          <a:prstGeom prst="line">
            <a:avLst/>
          </a:prstGeom>
          <a:noFill/>
          <a:ln w="9525">
            <a:solidFill>
              <a:srgbClr val="E2E8DF"/>
            </a:solidFill>
            <a:prstDash val="solid"/>
          </a:ln>
        </p:spPr>
      </p:sp>
      <p:sp>
        <p:nvSpPr>
          <p:cNvPr id="5" name="Text 2"/>
          <p:cNvSpPr txBox="1"/>
          <p:nvPr/>
        </p:nvSpPr>
        <p:spPr>
          <a:xfrm>
            <a:off x="756000" y="7826659"/>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Arbitragem: comprar onde vale menos, vender onde vale mais</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5</a:t>
            </a:r>
            <a:r>
              <a:rPr lang="en-US" sz="830" dirty="0">
                <a:solidFill>
                  <a:srgbClr val="7E8780"/>
                </a:solidFill>
                <a:latin typeface="Google Sans" pitchFamily="34" charset="0"/>
                <a:ea typeface="Google Sans" pitchFamily="34" charset="-122"/>
                <a:cs typeface="Google Sans" pitchFamily="34" charset="-120"/>
              </a:rPr>
              <a:t> · O princípio da arbitragem</a:t>
            </a:r>
            <a:endParaRPr lang="en-US" sz="1020" dirty="0"/>
          </a:p>
        </p:txBody>
      </p:sp>
      <p:sp>
        <p:nvSpPr>
          <p:cNvPr id="6" name="Text 3"/>
          <p:cNvSpPr txBox="1"/>
          <p:nvPr/>
        </p:nvSpPr>
        <p:spPr>
          <a:xfrm>
            <a:off x="756000" y="8453077"/>
            <a:ext cx="6084505" cy="1266873"/>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Pensa na Yango, a maior empresa de táxis em Moçambique. A Yango não tem carros. Percebeu que havia um serviço com percepção de valor baixa de um lado e que podia vendê-lo com percepção de valor mais alta do outro. Faz a ponte entre quem oferece e quem procura, e investe em branding, marketing e vendas para justificar o preço. É a mesma estratégia da Uber sem carros, do iFood sem restaurantes e do Airbnb sem hotéis. Esta lógica aplica-se a serviços, produtos e infoprodutos. No caso dos produtos, chama-se dropshipping.</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56000" y="792000"/>
            <a:ext cx="6084505" cy="647152"/>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Procura e margem.</a:t>
            </a:r>
            <a:r>
              <a:rPr lang="en-US" sz="1000" dirty="0">
                <a:solidFill>
                  <a:srgbClr val="2C332E"/>
                </a:solidFill>
                <a:latin typeface="Google Sans" pitchFamily="34" charset="0"/>
                <a:ea typeface="Google Sans" pitchFamily="34" charset="-122"/>
                <a:cs typeface="Google Sans" pitchFamily="34" charset="-120"/>
              </a:rPr>
              <a:t> Nem todos os produtos merecem o mesmo esforço. Um produto com potencial combina procura (as pessoas já o pedem) com margem (sobra dinheiro em cada venda, depois de pagos produto, entrega e anúncios).</a:t>
            </a:r>
            <a:endParaRPr lang="en-US" sz="1000" dirty="0"/>
          </a:p>
        </p:txBody>
      </p:sp>
      <p:pic>
        <p:nvPicPr>
          <p:cNvPr id="3" name="Image 0" descr="Escale os produtos que juntam procura e margem">    </p:cNvPr>
          <p:cNvPicPr>
            <a:picLocks noChangeAspect="1"/>
          </p:cNvPicPr>
          <p:nvPr/>
        </p:nvPicPr>
        <p:blipFill>
          <a:blip r:embed="rId1"/>
          <a:stretch>
            <a:fillRect/>
          </a:stretch>
        </p:blipFill>
        <p:spPr>
          <a:xfrm>
            <a:off x="786659" y="1663686"/>
            <a:ext cx="5986463" cy="4031903"/>
          </a:xfrm>
          <a:prstGeom prst="rect">
            <a:avLst/>
          </a:prstGeom>
        </p:spPr>
      </p:pic>
      <p:sp>
        <p:nvSpPr>
          <p:cNvPr id="4" name="Shape 1"/>
          <p:cNvSpPr/>
          <p:nvPr/>
        </p:nvSpPr>
        <p:spPr>
          <a:xfrm>
            <a:off x="756000" y="5821498"/>
            <a:ext cx="6047929" cy="0"/>
          </a:xfrm>
          <a:prstGeom prst="line">
            <a:avLst/>
          </a:prstGeom>
          <a:noFill/>
          <a:ln w="9525">
            <a:solidFill>
              <a:srgbClr val="E2E8DF"/>
            </a:solidFill>
            <a:prstDash val="solid"/>
          </a:ln>
        </p:spPr>
      </p:sp>
      <p:sp>
        <p:nvSpPr>
          <p:cNvPr id="5" name="Text 2"/>
          <p:cNvSpPr txBox="1"/>
          <p:nvPr/>
        </p:nvSpPr>
        <p:spPr>
          <a:xfrm>
            <a:off x="756000" y="5938923"/>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Escale os produtos que juntam procura e margem</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6</a:t>
            </a:r>
            <a:r>
              <a:rPr lang="en-US" sz="830" dirty="0">
                <a:solidFill>
                  <a:srgbClr val="7E8780"/>
                </a:solidFill>
                <a:latin typeface="Google Sans" pitchFamily="34" charset="0"/>
                <a:ea typeface="Google Sans" pitchFamily="34" charset="-122"/>
                <a:cs typeface="Google Sans" pitchFamily="34" charset="-120"/>
              </a:rPr>
              <a:t> · Matriz de produtos: procura × margem</a:t>
            </a:r>
            <a:endParaRPr lang="en-US" sz="1020" dirty="0"/>
          </a:p>
        </p:txBody>
      </p:sp>
      <p:sp>
        <p:nvSpPr>
          <p:cNvPr id="6" name="Text 3"/>
          <p:cNvSpPr txBox="1"/>
          <p:nvPr/>
        </p:nvSpPr>
        <p:spPr>
          <a:xfrm>
            <a:off x="756000" y="6565341"/>
            <a:ext cx="6084505" cy="158863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Escalar recebe o investimento. Divulgar precisa de mais visibilidade. Reprecificar vende bem mas deixa pouco: revê o preço com a fórmula do Capítulo 4 ou usa-o como porta de entrada. Retirar consome tempo sem retorno.</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O ciclo de vida do produto.</a:t>
            </a:r>
            <a:r>
              <a:rPr lang="en-US" sz="1000" dirty="0">
                <a:solidFill>
                  <a:srgbClr val="2C332E"/>
                </a:solidFill>
                <a:latin typeface="Google Sans" pitchFamily="34" charset="0"/>
                <a:ea typeface="Google Sans" pitchFamily="34" charset="-122"/>
                <a:cs typeface="Google Sans" pitchFamily="34" charset="-120"/>
              </a:rPr>
              <a:t> Todo o produto passa por quatro fases: introdução, crescimento, maturidade e declínio. O Green Mask não parou por acaso; parou porque chegou ao fim do seu ciclo e não tínhamos outro a crescer ao lado. A Cauda Longa resolve isto: enquanto uns produtos estão em maturidade ou declínio, outros estão a entrar e a crescer.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Todo o produto nasce, cresce, amadurece e declina">    </p:cNvPr>
          <p:cNvPicPr>
            <a:picLocks noChangeAspect="1"/>
          </p:cNvPicPr>
          <p:nvPr/>
        </p:nvPicPr>
        <p:blipFill>
          <a:blip r:embed="rId1"/>
          <a:stretch>
            <a:fillRect/>
          </a:stretch>
        </p:blipFill>
        <p:spPr>
          <a:xfrm>
            <a:off x="756000" y="792000"/>
            <a:ext cx="6047780" cy="3211413"/>
          </a:xfrm>
          <a:prstGeom prst="rect">
            <a:avLst/>
          </a:prstGeom>
        </p:spPr>
      </p:pic>
      <p:sp>
        <p:nvSpPr>
          <p:cNvPr id="3" name="Shape 0"/>
          <p:cNvSpPr/>
          <p:nvPr/>
        </p:nvSpPr>
        <p:spPr>
          <a:xfrm>
            <a:off x="756000" y="4129322"/>
            <a:ext cx="6047929" cy="0"/>
          </a:xfrm>
          <a:prstGeom prst="line">
            <a:avLst/>
          </a:prstGeom>
          <a:noFill/>
          <a:ln w="9525">
            <a:solidFill>
              <a:srgbClr val="E2E8DF"/>
            </a:solidFill>
            <a:prstDash val="solid"/>
          </a:ln>
        </p:spPr>
      </p:sp>
      <p:sp>
        <p:nvSpPr>
          <p:cNvPr id="4" name="Text 1"/>
          <p:cNvSpPr txBox="1"/>
          <p:nvPr/>
        </p:nvSpPr>
        <p:spPr>
          <a:xfrm>
            <a:off x="756000" y="4246747"/>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Todo o produto nasce, cresce, amadurece e declina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7</a:t>
            </a:r>
            <a:r>
              <a:rPr lang="en-US" sz="830" dirty="0">
                <a:solidFill>
                  <a:srgbClr val="7E8780"/>
                </a:solidFill>
                <a:latin typeface="Google Sans" pitchFamily="34" charset="0"/>
                <a:ea typeface="Google Sans" pitchFamily="34" charset="-122"/>
                <a:cs typeface="Google Sans" pitchFamily="34" charset="-120"/>
              </a:rPr>
              <a:t> · O ciclo de vida do produto</a:t>
            </a:r>
            <a:endParaRPr lang="en-US" sz="1020" dirty="0"/>
          </a:p>
        </p:txBody>
      </p:sp>
      <p:sp>
        <p:nvSpPr>
          <p:cNvPr id="5" name="Text 2"/>
          <p:cNvSpPr txBox="1"/>
          <p:nvPr/>
        </p:nvSpPr>
        <p:spPr>
          <a:xfrm>
            <a:off x="756000" y="4873165"/>
            <a:ext cx="6084505" cy="234005"/>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Saber em que fase está cada produto diz-te o que fazer com ele:</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56000" y="5204456"/>
          <a:ext cx="6047929" cy="914400"/>
        </p:xfrm>
        <a:graphic>
          <a:graphicData uri="http://schemas.openxmlformats.org/drawingml/2006/table">
            <a:tbl>
              <a:tblPr/>
              <a:tblGrid>
                <a:gridCol w="868561"/>
                <a:gridCol w="2132707"/>
                <a:gridCol w="3027611"/>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Fase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Sinal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fazer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Introdução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Poucas vendas, anúncios em teste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Testar oferta e público com orçamento pequeno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Crescimento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 a subir de semana para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Aumentar orçamento e garantir stock</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Maturidade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 altas e estáveis, custo por cliente a subir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Proteger a margem e preparar o substituto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Declínio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 a cair mesmo com mais anúncios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Liquidar stock e passar o orçamento para os produtos em crescimento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7" name="Text 3"/>
          <p:cNvSpPr txBox="1"/>
          <p:nvPr/>
        </p:nvSpPr>
        <p:spPr>
          <a:xfrm>
            <a:off x="756000" y="7447743"/>
            <a:ext cx="6084505" cy="2208359"/>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A Cauda Longa: multiplicar em vez de procurar um milagre.</a:t>
            </a:r>
            <a:r>
              <a:rPr lang="en-US" sz="1000" dirty="0">
                <a:solidFill>
                  <a:srgbClr val="2C332E"/>
                </a:solidFill>
                <a:latin typeface="Google Sans" pitchFamily="34" charset="0"/>
                <a:ea typeface="Google Sans" pitchFamily="34" charset="-122"/>
                <a:cs typeface="Google Sans" pitchFamily="34" charset="-120"/>
              </a:rPr>
              <a:t> Quando o Green Mask esgotou, encontrámos um substituto, o Pretty, um produto de depilação íntima. Fizemos as campanhas e pusemos tudo em execução, mas o resultado foi muito inferior: 6.000 a 8.000 MT por dia, contra os 30.000 MT a que estávamos habituados.</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 ajuste que precisávamos de fazer era mais mental do que técnico. Chegámos a uma conclusão óbvia, mas poderosa: </a:t>
            </a:r>
            <a:r>
              <a:rPr lang="en-US" sz="1000" b="1" dirty="0">
                <a:solidFill>
                  <a:srgbClr val="14181A"/>
                </a:solidFill>
                <a:latin typeface="Google Sans" pitchFamily="34" charset="0"/>
                <a:ea typeface="Google Sans" pitchFamily="34" charset="-122"/>
                <a:cs typeface="Google Sans" pitchFamily="34" charset="-120"/>
              </a:rPr>
              <a:t>produtos vencedores esgotam. E esgotam porque são raros — essa raridade é exactamente o que os torna vencedores.</a:t>
            </a:r>
            <a:r>
              <a:rPr lang="en-US" sz="1000" dirty="0">
                <a:solidFill>
                  <a:srgbClr val="2C332E"/>
                </a:solidFill>
                <a:latin typeface="Google Sans" pitchFamily="34" charset="0"/>
                <a:ea typeface="Google Sans" pitchFamily="34" charset="-122"/>
                <a:cs typeface="Google Sans" pitchFamily="34" charset="-120"/>
              </a:rPr>
              <a:t> Se um produto “não vencedor” gerava 8.000 MT por dia, para chegar aos 60.000 ou 80.000 MT bastava multiplicar o número de produtos com esse potencial base. Numa única semana testámos não 10, mas 20 produtos diferentes. Em pouco tempo, passámos de 6.000 MT para 40.000 MT por dia.</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oucos produtos vencedores na cabeça, muitos complementares na cauda">    </p:cNvPr>
          <p:cNvPicPr>
            <a:picLocks noChangeAspect="1"/>
          </p:cNvPicPr>
          <p:nvPr/>
        </p:nvPicPr>
        <p:blipFill>
          <a:blip r:embed="rId1"/>
          <a:stretch>
            <a:fillRect/>
          </a:stretch>
        </p:blipFill>
        <p:spPr>
          <a:xfrm>
            <a:off x="756149" y="792000"/>
            <a:ext cx="6047631" cy="3398788"/>
          </a:xfrm>
          <a:prstGeom prst="rect">
            <a:avLst/>
          </a:prstGeom>
        </p:spPr>
      </p:pic>
      <p:sp>
        <p:nvSpPr>
          <p:cNvPr id="3" name="Shape 0"/>
          <p:cNvSpPr/>
          <p:nvPr/>
        </p:nvSpPr>
        <p:spPr>
          <a:xfrm>
            <a:off x="756000" y="4316696"/>
            <a:ext cx="6047929" cy="0"/>
          </a:xfrm>
          <a:prstGeom prst="line">
            <a:avLst/>
          </a:prstGeom>
          <a:noFill/>
          <a:ln w="9525">
            <a:solidFill>
              <a:srgbClr val="E2E8DF"/>
            </a:solidFill>
            <a:prstDash val="solid"/>
          </a:ln>
        </p:spPr>
      </p:sp>
      <p:sp>
        <p:nvSpPr>
          <p:cNvPr id="4" name="Text 1"/>
          <p:cNvSpPr txBox="1"/>
          <p:nvPr/>
        </p:nvSpPr>
        <p:spPr>
          <a:xfrm>
            <a:off x="756000" y="4434122"/>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Poucos produtos vencedores na cabeça, muitos complementares na cauda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8</a:t>
            </a:r>
            <a:r>
              <a:rPr lang="en-US" sz="830" dirty="0">
                <a:solidFill>
                  <a:srgbClr val="7E8780"/>
                </a:solidFill>
                <a:latin typeface="Google Sans" pitchFamily="34" charset="0"/>
                <a:ea typeface="Google Sans" pitchFamily="34" charset="-122"/>
                <a:cs typeface="Google Sans" pitchFamily="34" charset="-120"/>
              </a:rPr>
              <a:t> · A Cauda Longa: cabeça e cauda</a:t>
            </a:r>
            <a:endParaRPr lang="en-US" sz="1020" dirty="0"/>
          </a:p>
        </p:txBody>
      </p:sp>
      <p:sp>
        <p:nvSpPr>
          <p:cNvPr id="5" name="Text 2"/>
          <p:cNvSpPr txBox="1"/>
          <p:nvPr/>
        </p:nvSpPr>
        <p:spPr>
          <a:xfrm>
            <a:off x="756000" y="5060539"/>
            <a:ext cx="6084505" cy="2293191"/>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Cauda Longa é um mix de produtos dentro da mesma estrutura de vendas:</a:t>
            </a:r>
            <a:endParaRPr lang="en-US" sz="1000" dirty="0"/>
          </a:p>
          <a:p>
            <a:pPr algn="l" marL="215900" indent="-215900">
              <a:lnSpc>
                <a:spcPts val="1627"/>
              </a:lnSpc>
              <a:spcBef>
                <a:spcPts val="907"/>
              </a:spcBef>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Cabeça:</a:t>
            </a:r>
            <a:r>
              <a:rPr lang="en-US" sz="1000" dirty="0">
                <a:solidFill>
                  <a:srgbClr val="2C332E"/>
                </a:solidFill>
                <a:latin typeface="Google Sans" pitchFamily="34" charset="0"/>
                <a:ea typeface="Google Sans" pitchFamily="34" charset="-122"/>
                <a:cs typeface="Google Sans" pitchFamily="34" charset="-120"/>
              </a:rPr>
              <a:t> produtos de alto potencial, vencedores ou quase-vencedores. Recebem o maior esforço e orçamento de anúncios.</a:t>
            </a:r>
            <a:endParaRPr lang="en-US" sz="100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Cauda:</a:t>
            </a:r>
            <a:r>
              <a:rPr lang="en-US" sz="1000" dirty="0">
                <a:solidFill>
                  <a:srgbClr val="2C332E"/>
                </a:solidFill>
                <a:latin typeface="Google Sans" pitchFamily="34" charset="0"/>
                <a:ea typeface="Google Sans" pitchFamily="34" charset="-122"/>
                <a:cs typeface="Google Sans" pitchFamily="34" charset="-120"/>
              </a:rPr>
              <a:t> produtos de potencial médio ou baixo, do mesmo nicho. São oferecidos aos clientes que já estão a conversar connosco no WhatsApp, como venda complementar (Capítulo 8).</a:t>
            </a:r>
            <a:endParaRPr lang="en-US" sz="100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Mesmo quando um produto saturava, tínhamos outros 19 a manter a estrutura funcional enquanto procurávamos um substituto.</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Comparação de produtos.</a:t>
            </a:r>
            <a:r>
              <a:rPr lang="en-US" sz="1000" dirty="0">
                <a:solidFill>
                  <a:srgbClr val="2C332E"/>
                </a:solidFill>
                <a:latin typeface="Google Sans" pitchFamily="34" charset="0"/>
                <a:ea typeface="Google Sans" pitchFamily="34" charset="-122"/>
                <a:cs typeface="Google Sans" pitchFamily="34" charset="-120"/>
              </a:rPr>
              <a:t> Lista até 20 produtos ou serviços. Coloca cada um na matriz e decide o seu papel na Cauda Longa.</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56000" y="7451017"/>
          <a:ext cx="6047929" cy="914400"/>
        </p:xfrm>
        <a:graphic>
          <a:graphicData uri="http://schemas.openxmlformats.org/drawingml/2006/table">
            <a:tbl>
              <a:tblPr/>
              <a:tblGrid>
                <a:gridCol w="643830"/>
                <a:gridCol w="1263551"/>
                <a:gridCol w="1040755"/>
                <a:gridCol w="1167557"/>
                <a:gridCol w="1271588"/>
                <a:gridCol w="641598"/>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Produto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Margem por venda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Vendas em 30 dias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Quadrante da matriz</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Papel (cabeça ou cauda)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Decisão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153293">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143768">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56000" y="792000"/>
            <a:ext cx="6084505" cy="761006"/>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a arbitragem em cada modelo</a:t>
            </a:r>
            <a:endParaRPr lang="en-US" sz="1120" dirty="0"/>
          </a:p>
          <a:p>
            <a:pPr algn="l" indent="0" marL="0">
              <a:lnSpc>
                <a:spcPts val="1627"/>
              </a:lnSpc>
              <a:spcBef>
                <a:spcPts val="708"/>
              </a:spcBef>
              <a:buNone/>
            </a:pPr>
            <a:r>
              <a:rPr lang="en-US" sz="1000" dirty="0">
                <a:solidFill>
                  <a:srgbClr val="2C332E"/>
                </a:solidFill>
                <a:latin typeface="Google Sans" pitchFamily="34" charset="0"/>
                <a:ea typeface="Google Sans" pitchFamily="34" charset="-122"/>
                <a:cs typeface="Google Sans" pitchFamily="34" charset="-120"/>
              </a:rPr>
              <a:t>A arbitragem não é só para quem revende produtos. Em qualquer negócio online há algo que vale pouco de um lado e muito do outro:</a:t>
            </a:r>
            <a:endParaRPr lang="en-US" sz="112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56000" y="1650292"/>
          <a:ext cx="6047929" cy="914400"/>
        </p:xfrm>
        <a:graphic>
          <a:graphicData uri="http://schemas.openxmlformats.org/drawingml/2006/table">
            <a:tbl>
              <a:tblPr/>
              <a:tblGrid>
                <a:gridCol w="781794"/>
                <a:gridCol w="1944588"/>
                <a:gridCol w="1860500"/>
                <a:gridCol w="1441996"/>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Mercado A (valor baixo)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Mercado B (valor alto)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 ponte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Neyma Store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Roupa e calçados de fornecedores em Joanesburgo e de grossistas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Jovens em Maputo sem tempo nem acesso a esses fornecedores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Vídeos com as peças vestidas e entrega em casa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Ingredientes comprados no grossista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Famílias que querem um bolo bonito sem o fazer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Fotos das festas e um catálogo de modelos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 Makeup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Produtos de maquilhagem e uma técnica aprendida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Noivas e finalistas que querem estar perfeitas no 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Portefólio de antes e depois no Instagram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Excel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Conhecimento comum a quem trabalha em escritório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Jovens à procura do primeiro emprego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 curso curto, barato e no telemóvel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624632">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TS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Ferramentas de design ao alcance de qualquer pessoa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Pequenos negócios sem tempo nem olho para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Portefólio e pacotes mensais com preço fechado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4848311"/>
            <a:ext cx="6084505" cy="234005"/>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A matriz aplicada.</a:t>
            </a:r>
            <a:r>
              <a:rPr lang="en-US" sz="1000" dirty="0">
                <a:solidFill>
                  <a:srgbClr val="2C332E"/>
                </a:solidFill>
                <a:latin typeface="Google Sans" pitchFamily="34" charset="0"/>
                <a:ea typeface="Google Sans" pitchFamily="34" charset="-122"/>
                <a:cs typeface="Google Sans" pitchFamily="34" charset="-120"/>
              </a:rPr>
              <a:t> A Yara colocou os seus quatro produtos na matriz:</a:t>
            </a:r>
            <a:endParaRPr lang="en-US" sz="100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756000" y="5179602"/>
          <a:ext cx="6047929" cy="914400"/>
        </p:xfrm>
        <a:graphic>
          <a:graphicData uri="http://schemas.openxmlformats.org/drawingml/2006/table">
            <a:tbl>
              <a:tblPr/>
              <a:tblGrid>
                <a:gridCol w="1446758"/>
                <a:gridCol w="632520"/>
                <a:gridCol w="659011"/>
                <a:gridCol w="830163"/>
                <a:gridCol w="2460427"/>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Produto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Procura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Margem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Quadrante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Decisão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Bolo de aniversário personalizado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Alta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Reprecificar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Recalcular o preço no Capítulo 4; depois passa a ser o produto da cabeça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Bolo de casamento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Alta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Divulgar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Mostrar fotos de casamentos e pedir indicações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Kits de cupcakes e brigadeiros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Alta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Divulgar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Oferecê-los a quem já encomenda um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Fatias de bolo para revenda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Retirar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Deixar de fazer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6" name="Text 2"/>
          <p:cNvSpPr txBox="1"/>
          <p:nvPr/>
        </p:nvSpPr>
        <p:spPr>
          <a:xfrm>
            <a:off x="756000" y="7583176"/>
            <a:ext cx="6084505" cy="762345"/>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 bolo de aniversário tem a procura que nenhum outro produto tem. O problema não é o produto, é o preço — e um preço resolve-se em dias.</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A Cauda Longa em cada modelo.</a:t>
            </a:r>
            <a:endParaRPr lang="en-US" sz="1000" dirty="0"/>
          </a:p>
        </p:txBody>
      </p:sp>
      <p:graphicFrame>
        <p:nvGraphicFramePr>
          <p:cNvPr id="88" name="Table 2"/>
          <p:cNvGraphicFramePr>
            <a:graphicFrameLocks noGrp="1"/>
          </p:cNvGraphicFramePr>
          <p:nvPr>
            <p:extLst>
              <p:ext uri="{D42A27DB-BD31-4B8C-83A1-F6EECF244321}">
                <p14:modId xmlns:p14="http://schemas.microsoft.com/office/powerpoint/2010/main" val="1579011935"/>
              </p:ext>
            </p:extLst>
          </p:nvPr>
        </p:nvGraphicFramePr>
        <p:xfrm>
          <a:off x="756000" y="8442807"/>
          <a:ext cx="6047929" cy="914400"/>
        </p:xfrm>
        <a:graphic>
          <a:graphicData uri="http://schemas.openxmlformats.org/drawingml/2006/table">
            <a:tbl>
              <a:tblPr/>
              <a:tblGrid>
                <a:gridCol w="949375"/>
                <a:gridCol w="2239119"/>
                <a:gridCol w="2840385"/>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Cabeça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Cauda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Neyma Store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Ténis de plataforma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Meias, bolsas, cintos, vestidos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Bolo de aniversário, depois de reprecificado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Cupcakes, brigadeiros, kits de festa, bolos de casamento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949375"/>
                <a:gridCol w="2239119"/>
                <a:gridCol w="2840385"/>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Cabeça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Cauda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 Makeup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Maquilhagem para eventos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Cílios, tranças, curso online de automaquilhagem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Excel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Curso de Excel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Modelos de CV, ebook de PowerPoint, revisão de CV</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TS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Pacote mensal de posts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Logótipos, cartões de visita, gestão de anúncios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2401130"/>
            <a:ext cx="6084505" cy="2146447"/>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O ciclo de vida muda de nicho para nicho.</a:t>
            </a:r>
            <a:r>
              <a:rPr lang="en-US" sz="1000" dirty="0">
                <a:solidFill>
                  <a:srgbClr val="2C332E"/>
                </a:solidFill>
                <a:latin typeface="Google Sans" pitchFamily="34" charset="0"/>
                <a:ea typeface="Google Sans" pitchFamily="34" charset="-122"/>
                <a:cs typeface="Google Sans" pitchFamily="34" charset="-120"/>
              </a:rPr>
              <a:t> Um modelo de ténis que viraliza no TikTok pode durar semanas — a Neyma já o viu acontecer. Uma capa de telemóvel morre quando sai o modelo seguinte. A maquilhagem de noiva vende há décadas, mas os estilos mudam a cada estação. Um curso de Excel vende durante anos; um curso sobre a aplicação da moda pode morrer em meses.</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Escolher o produto pelo gosto pessoal</a:t>
            </a:r>
            <a:r>
              <a:rPr lang="en-US" sz="1000" dirty="0">
                <a:solidFill>
                  <a:srgbClr val="2C332E"/>
                </a:solidFill>
                <a:latin typeface="Google Sans" pitchFamily="34" charset="0"/>
                <a:ea typeface="Google Sans" pitchFamily="34" charset="-122"/>
                <a:cs typeface="Google Sans" pitchFamily="34" charset="-120"/>
              </a:rPr>
              <a:t>, e não pela procura e pela margem.</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Depender de um só fornecedor</a:t>
            </a:r>
            <a:r>
              <a:rPr lang="en-US" sz="1000" dirty="0">
                <a:solidFill>
                  <a:srgbClr val="2C332E"/>
                </a:solidFill>
                <a:latin typeface="Google Sans" pitchFamily="34" charset="0"/>
                <a:ea typeface="Google Sans" pitchFamily="34" charset="-122"/>
                <a:cs typeface="Google Sans" pitchFamily="34" charset="-120"/>
              </a:rPr>
              <a:t> para o produto da cabeça.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Montar uma cauda de outro nicho.</a:t>
            </a:r>
            <a:r>
              <a:rPr lang="en-US" sz="1000" dirty="0">
                <a:solidFill>
                  <a:srgbClr val="2C332E"/>
                </a:solidFill>
                <a:latin typeface="Google Sans" pitchFamily="34" charset="0"/>
                <a:ea typeface="Google Sans" pitchFamily="34" charset="-122"/>
                <a:cs typeface="Google Sans" pitchFamily="34" charset="-120"/>
              </a:rPr>
              <a:t> Quem compra ténis compra meias; não compra auriculares.</a:t>
            </a:r>
            <a:endParaRPr lang="en-US" sz="1000" dirty="0"/>
          </a:p>
        </p:txBody>
      </p:sp>
      <p:sp>
        <p:nvSpPr>
          <p:cNvPr id="4" name="Shape 1"/>
          <p:cNvSpPr/>
          <p:nvPr/>
        </p:nvSpPr>
        <p:spPr>
          <a:xfrm>
            <a:off x="756000" y="4664061"/>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5" name="Text 2"/>
          <p:cNvSpPr txBox="1"/>
          <p:nvPr/>
        </p:nvSpPr>
        <p:spPr>
          <a:xfrm>
            <a:off x="971950" y="4843995"/>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2: Portfólio cabeça e cauda.</a:t>
            </a:r>
            <a:r>
              <a:rPr lang="en-US" sz="1000" dirty="0">
                <a:solidFill>
                  <a:srgbClr val="2C332E"/>
                </a:solidFill>
                <a:latin typeface="Google Sans" pitchFamily="34" charset="0"/>
                <a:ea typeface="Google Sans" pitchFamily="34" charset="-122"/>
                <a:cs typeface="Google Sans" pitchFamily="34" charset="-120"/>
              </a:rPr>
              <a:t> Usa o diagnóstico (Capítulo 1). Escolheste o produto da cabeça e os produtos da cauda. </a:t>
            </a:r>
            <a:r>
              <a:rPr lang="en-US" sz="1000" b="1" dirty="0">
                <a:solidFill>
                  <a:srgbClr val="21703A"/>
                </a:solidFill>
                <a:latin typeface="Google Sans" pitchFamily="34" charset="0"/>
                <a:ea typeface="Google Sans" pitchFamily="34" charset="-122"/>
                <a:cs typeface="Google Sans" pitchFamily="34" charset="-120"/>
              </a:rPr>
              <a:t>Segue para o Capítulo 3:</a:t>
            </a:r>
            <a:r>
              <a:rPr lang="en-US" sz="1000" dirty="0">
                <a:solidFill>
                  <a:srgbClr val="2C332E"/>
                </a:solidFill>
                <a:latin typeface="Google Sans" pitchFamily="34" charset="0"/>
                <a:ea typeface="Google Sans" pitchFamily="34" charset="-122"/>
                <a:cs typeface="Google Sans" pitchFamily="34" charset="-120"/>
              </a:rPr>
              <a:t> o produto da cabeça só vende em escala com uma oferta irresistível. A cauda volta no Capítulo 8, como vendas complementares, e no Capítulo 17, como testes horizontais.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56000" y="792000"/>
            <a:ext cx="6084505" cy="2568970"/>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3</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Construir uma oferta com o Diamante do Marketing</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O nosso sucesso não começou nos anúncios virais, nem nos produtos vencedores, nem nos faturamentos de 80.000 MT por dia. Começou muito antes: no domínio de um conceito a que chamo </a:t>
            </a:r>
            <a:r>
              <a:rPr lang="en-US" sz="1000" b="1" dirty="0">
                <a:solidFill>
                  <a:srgbClr val="14181A"/>
                </a:solidFill>
                <a:latin typeface="Google Sans" pitchFamily="34" charset="0"/>
                <a:ea typeface="Google Sans" pitchFamily="34" charset="-122"/>
                <a:cs typeface="Google Sans" pitchFamily="34" charset="-120"/>
              </a:rPr>
              <a:t>Diamante do Marketing</a:t>
            </a:r>
            <a:r>
              <a:rPr lang="en-US" sz="1000" dirty="0">
                <a:solidFill>
                  <a:srgbClr val="2C332E"/>
                </a:solidFill>
                <a:latin typeface="Google Sans" pitchFamily="34" charset="0"/>
                <a:ea typeface="Google Sans" pitchFamily="34" charset="-122"/>
                <a:cs typeface="Google Sans" pitchFamily="34" charset="-120"/>
              </a:rPr>
              <a:t>. Antes de qualquer técnica ou produto, veio o entendimento do princípio.</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 Diamante do Marketing é o framework que constrói a </a:t>
            </a:r>
            <a:r>
              <a:rPr lang="en-US" sz="1000" b="1" dirty="0">
                <a:solidFill>
                  <a:srgbClr val="14181A"/>
                </a:solidFill>
                <a:latin typeface="Google Sans" pitchFamily="34" charset="0"/>
                <a:ea typeface="Google Sans" pitchFamily="34" charset="-122"/>
                <a:cs typeface="Google Sans" pitchFamily="34" charset="-120"/>
              </a:rPr>
              <a:t>Oferta 10X</a:t>
            </a:r>
            <a:r>
              <a:rPr lang="en-US" sz="1000" dirty="0">
                <a:solidFill>
                  <a:srgbClr val="2C332E"/>
                </a:solidFill>
                <a:latin typeface="Google Sans" pitchFamily="34" charset="0"/>
                <a:ea typeface="Google Sans" pitchFamily="34" charset="-122"/>
                <a:cs typeface="Google Sans" pitchFamily="34" charset="-120"/>
              </a:rPr>
              <a:t>: uma oferta profundamente alinhada com o consumidor, estrategicamente irresistível e capaz de aumentar até 10 vezes a taxa de conversão de uma campanha. Serve para identificar nichos lucrativos, minerar produtos com alto potencial, criar anúncios de alta conversão, estruturar scripts de vendas e desenhar negócios inteiros a partir do zero.</a:t>
            </a:r>
            <a:endParaRPr lang="en-US" sz="1020" dirty="0"/>
          </a:p>
        </p:txBody>
      </p:sp>
      <p:pic>
        <p:nvPicPr>
          <p:cNvPr id="3" name="Image 0" descr="Quatro vértices constroem a Oferta 10X">    </p:cNvPr>
          <p:cNvPicPr>
            <a:picLocks noChangeAspect="1"/>
          </p:cNvPicPr>
          <p:nvPr/>
        </p:nvPicPr>
        <p:blipFill>
          <a:blip r:embed="rId1"/>
          <a:stretch>
            <a:fillRect/>
          </a:stretch>
        </p:blipFill>
        <p:spPr>
          <a:xfrm>
            <a:off x="1201145" y="3585504"/>
            <a:ext cx="5157490" cy="4031903"/>
          </a:xfrm>
          <a:prstGeom prst="rect">
            <a:avLst/>
          </a:prstGeom>
        </p:spPr>
      </p:pic>
      <p:sp>
        <p:nvSpPr>
          <p:cNvPr id="4" name="Shape 1"/>
          <p:cNvSpPr/>
          <p:nvPr/>
        </p:nvSpPr>
        <p:spPr>
          <a:xfrm>
            <a:off x="756000" y="7743315"/>
            <a:ext cx="6047929" cy="0"/>
          </a:xfrm>
          <a:prstGeom prst="line">
            <a:avLst/>
          </a:prstGeom>
          <a:noFill/>
          <a:ln w="9525">
            <a:solidFill>
              <a:srgbClr val="E2E8DF"/>
            </a:solidFill>
            <a:prstDash val="solid"/>
          </a:ln>
        </p:spPr>
      </p:sp>
      <p:sp>
        <p:nvSpPr>
          <p:cNvPr id="5" name="Text 2"/>
          <p:cNvSpPr txBox="1"/>
          <p:nvPr/>
        </p:nvSpPr>
        <p:spPr>
          <a:xfrm>
            <a:off x="756000" y="7860741"/>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Quatro vértices constroem a Oferta 10X</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9</a:t>
            </a:r>
            <a:r>
              <a:rPr lang="en-US" sz="830" dirty="0">
                <a:solidFill>
                  <a:srgbClr val="7E8780"/>
                </a:solidFill>
                <a:latin typeface="Google Sans" pitchFamily="34" charset="0"/>
                <a:ea typeface="Google Sans" pitchFamily="34" charset="-122"/>
                <a:cs typeface="Google Sans" pitchFamily="34" charset="-120"/>
              </a:rPr>
              <a:t> · O Diamante do Marketing e a Oferta 10X</a:t>
            </a:r>
            <a:endParaRPr lang="en-US" sz="1020" dirty="0"/>
          </a:p>
        </p:txBody>
      </p:sp>
      <p:sp>
        <p:nvSpPr>
          <p:cNvPr id="6" name="Text 3"/>
          <p:cNvSpPr txBox="1"/>
          <p:nvPr/>
        </p:nvSpPr>
        <p:spPr>
          <a:xfrm>
            <a:off x="756000" y="8487158"/>
            <a:ext cx="6084505" cy="44057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Oferta 10X é a declaração de valor clara, objectiva e irresistível que liga a dor específica do cliente ao resultado que ele deseja alcançar. A sua estrutura é:</a:t>
            </a:r>
            <a:endParaRPr lang="en-US" sz="1000" dirty="0"/>
          </a:p>
        </p:txBody>
      </p:sp>
      <p:sp>
        <p:nvSpPr>
          <p:cNvPr id="7" name="Shape 4"/>
          <p:cNvSpPr/>
          <p:nvPr/>
        </p:nvSpPr>
        <p:spPr>
          <a:xfrm>
            <a:off x="756000" y="9044222"/>
            <a:ext cx="6047929" cy="664964"/>
          </a:xfrm>
          <a:prstGeom prst="roundRect">
            <a:avLst>
              <a:gd name="adj" fmla="val 19252"/>
            </a:avLst>
          </a:prstGeom>
          <a:solidFill>
            <a:srgbClr val="F3F6F2"/>
          </a:solidFill>
          <a:ln/>
        </p:spPr>
      </p:sp>
      <p:sp>
        <p:nvSpPr>
          <p:cNvPr id="8" name="Text 5"/>
          <p:cNvSpPr txBox="1"/>
          <p:nvPr/>
        </p:nvSpPr>
        <p:spPr>
          <a:xfrm>
            <a:off x="935933" y="9170130"/>
            <a:ext cx="5724638" cy="431435"/>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Nós ajudamos [CONSUMIDOR] a [PROBLEMA] usando [VEÍCULO], sem precisar [DIFERENCIAL], e conquistar [TRANSFORMAÇÃO].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56000" y="792000"/>
            <a:ext cx="6084505" cy="447530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oferta constrói-se articulando os quatro vértices do diamante. Para ilustrar, usamos um produto de beleza que ajuda mulheres a resolver acne, manchas e textura irregular da pele.</a:t>
            </a:r>
            <a:endParaRPr lang="en-US" sz="1000" dirty="0"/>
          </a:p>
          <a:p>
            <a:pPr algn="l" marL="215900" indent="-215900">
              <a:lnSpc>
                <a:spcPts val="1627"/>
              </a:lnSpc>
              <a:spcBef>
                <a:spcPts val="907"/>
              </a:spcBef>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Problema — identificação do nicho.</a:t>
            </a:r>
            <a:r>
              <a:rPr lang="en-US" sz="1000" dirty="0">
                <a:solidFill>
                  <a:srgbClr val="2C332E"/>
                </a:solidFill>
                <a:latin typeface="Google Sans" pitchFamily="34" charset="0"/>
                <a:ea typeface="Google Sans" pitchFamily="34" charset="-122"/>
                <a:cs typeface="Google Sans" pitchFamily="34" charset="-120"/>
              </a:rPr>
              <a:t> Tudo começa por uma dor real num nicho com procura existente. No exemplo: acne persistente, manchas e textura irregular, que afectam a autoestima. Quanto mais específica e urgente for a dor, mais forte será a oferta.</a:t>
            </a:r>
            <a:endParaRPr lang="en-US" sz="100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Consumidor — o avatar da oferta.</a:t>
            </a:r>
            <a:r>
              <a:rPr lang="en-US" sz="1000" dirty="0">
                <a:solidFill>
                  <a:srgbClr val="2C332E"/>
                </a:solidFill>
                <a:latin typeface="Google Sans" pitchFamily="34" charset="0"/>
                <a:ea typeface="Google Sans" pitchFamily="34" charset="-122"/>
                <a:cs typeface="Google Sans" pitchFamily="34" charset="-120"/>
              </a:rPr>
              <a:t> Quem sente essa dor? Analisamos os </a:t>
            </a:r>
            <a:r>
              <a:rPr lang="en-US" sz="1000" b="1" dirty="0">
                <a:solidFill>
                  <a:srgbClr val="14181A"/>
                </a:solidFill>
                <a:latin typeface="Google Sans" pitchFamily="34" charset="0"/>
                <a:ea typeface="Google Sans" pitchFamily="34" charset="-122"/>
                <a:cs typeface="Google Sans" pitchFamily="34" charset="-120"/>
              </a:rPr>
              <a:t>3D IDs do Avatar</a:t>
            </a:r>
            <a:r>
              <a:rPr lang="en-US" sz="1000" dirty="0">
                <a:solidFill>
                  <a:srgbClr val="2C332E"/>
                </a:solidFill>
                <a:latin typeface="Google Sans" pitchFamily="34" charset="0"/>
                <a:ea typeface="Google Sans" pitchFamily="34" charset="-122"/>
                <a:cs typeface="Google Sans" pitchFamily="34" charset="-120"/>
              </a:rPr>
              <a:t>: desejos (pele limpa, macia e uniforme; mais autoestima), dores (frustração com tratamentos que não funcionam; insegurança ao expor-se) e dúvidas (é 100% natural? tem efeitos colaterais? foi testado? cumpre o que promete?).</a:t>
            </a:r>
            <a:endParaRPr lang="en-US" sz="1000" dirty="0"/>
          </a:p>
          <a:p>
            <a:pPr algn="l" marL="215900" indent="-215900">
              <a:lnSpc>
                <a:spcPts val="1627"/>
              </a:lnSpc>
              <a:spcBef>
                <a:spcPts val="396"/>
              </a:spcBef>
              <a:buSzPct val="100000"/>
              <a:buFont typeface="+mj-lt"/>
              <a:buAutoNum type="arabicPeriod" startAt="3"/>
            </a:pPr>
            <a:r>
              <a:rPr lang="en-US" sz="1000" b="1" dirty="0">
                <a:solidFill>
                  <a:srgbClr val="14181A"/>
                </a:solidFill>
                <a:latin typeface="Google Sans" pitchFamily="34" charset="0"/>
                <a:ea typeface="Google Sans" pitchFamily="34" charset="-122"/>
                <a:cs typeface="Google Sans" pitchFamily="34" charset="-120"/>
              </a:rPr>
              <a:t>Veículo — o formato da solução.</a:t>
            </a:r>
            <a:r>
              <a:rPr lang="en-US" sz="1000" dirty="0">
                <a:solidFill>
                  <a:srgbClr val="2C332E"/>
                </a:solidFill>
                <a:latin typeface="Google Sans" pitchFamily="34" charset="0"/>
                <a:ea typeface="Google Sans" pitchFamily="34" charset="-122"/>
                <a:cs typeface="Google Sans" pitchFamily="34" charset="-120"/>
              </a:rPr>
              <a:t> Como a solução é entregue: produto físico, serviço ou infoproduto. No exemplo, um creme natural formulado para tratar acne e manchas. Deve ser prático, seguro e confiável, tornando a compra uma escolha lógica.</a:t>
            </a:r>
            <a:endParaRPr lang="en-US" sz="1000" dirty="0"/>
          </a:p>
          <a:p>
            <a:pPr algn="l" marL="215900" indent="-215900">
              <a:lnSpc>
                <a:spcPts val="1627"/>
              </a:lnSpc>
              <a:spcBef>
                <a:spcPts val="396"/>
              </a:spcBef>
              <a:buSzPct val="100000"/>
              <a:buFont typeface="+mj-lt"/>
              <a:buAutoNum type="arabicPeriod" startAt="4"/>
            </a:pPr>
            <a:r>
              <a:rPr lang="en-US" sz="1000" b="1" dirty="0">
                <a:solidFill>
                  <a:srgbClr val="14181A"/>
                </a:solidFill>
                <a:latin typeface="Google Sans" pitchFamily="34" charset="0"/>
                <a:ea typeface="Google Sans" pitchFamily="34" charset="-122"/>
                <a:cs typeface="Google Sans" pitchFamily="34" charset="-120"/>
              </a:rPr>
              <a:t>Transformação — o resultado final.</a:t>
            </a:r>
            <a:r>
              <a:rPr lang="en-US" sz="1000" dirty="0">
                <a:solidFill>
                  <a:srgbClr val="2C332E"/>
                </a:solidFill>
                <a:latin typeface="Google Sans" pitchFamily="34" charset="0"/>
                <a:ea typeface="Google Sans" pitchFamily="34" charset="-122"/>
                <a:cs typeface="Google Sans" pitchFamily="34" charset="-120"/>
              </a:rPr>
              <a:t> O estado que o cliente quer alcançar: uma pele limpa, macia, uniforme e saudável, com autoestima elevada. É a transformação que torna a oferta irresistível e orienta toda a comunicação.</a:t>
            </a:r>
            <a:endParaRPr lang="en-US" sz="1000" dirty="0"/>
          </a:p>
          <a:p>
            <a:pPr algn="l" marL="215900" indent="-215900">
              <a:lnSpc>
                <a:spcPts val="1627"/>
              </a:lnSpc>
              <a:spcBef>
                <a:spcPts val="396"/>
              </a:spcBef>
              <a:buSzPct val="100000"/>
              <a:buFont typeface="+mj-lt"/>
              <a:buAutoNum type="arabicPeriod" startAt="5"/>
            </a:pPr>
            <a:r>
              <a:rPr lang="en-US" sz="1000" b="1" dirty="0">
                <a:solidFill>
                  <a:srgbClr val="14181A"/>
                </a:solidFill>
                <a:latin typeface="Google Sans" pitchFamily="34" charset="0"/>
                <a:ea typeface="Google Sans" pitchFamily="34" charset="-122"/>
                <a:cs typeface="Google Sans" pitchFamily="34" charset="-120"/>
              </a:rPr>
              <a:t>OUV — Oferta Única de Valor.</a:t>
            </a:r>
            <a:r>
              <a:rPr lang="en-US" sz="1000" dirty="0">
                <a:solidFill>
                  <a:srgbClr val="2C332E"/>
                </a:solidFill>
                <a:latin typeface="Google Sans" pitchFamily="34" charset="0"/>
                <a:ea typeface="Google Sans" pitchFamily="34" charset="-122"/>
                <a:cs typeface="Google Sans" pitchFamily="34" charset="-120"/>
              </a:rPr>
              <a:t> Com os quatro vértices definidos, condensa tudo numa frase curta que mostra porque a tua oferta é única. Usa-a na biografia das redes sociais, nos anúncios e no início das conversas no WhatsApp. A Oferta 10X é a declaração completa; a OUV é a sua versão de bolso. Exemplo: </a:t>
            </a:r>
            <a:r>
              <a:rPr lang="en-US" sz="1000" i="1" dirty="0">
                <a:solidFill>
                  <a:srgbClr val="2C332E"/>
                </a:solidFill>
                <a:latin typeface="Google Sans" pitchFamily="34" charset="0"/>
                <a:ea typeface="Google Sans" pitchFamily="34" charset="-122"/>
                <a:cs typeface="Google Sans" pitchFamily="34" charset="-120"/>
              </a:rPr>
              <a:t>O método único desenvolvido para quem busca vencer na vida e alcançar a prosperidade sem negociar os seus princípios e a sua alma no processo.</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56000" y="5375311"/>
          <a:ext cx="6047929" cy="914400"/>
        </p:xfrm>
        <a:graphic>
          <a:graphicData uri="http://schemas.openxmlformats.org/drawingml/2006/table">
            <a:tbl>
              <a:tblPr/>
              <a:tblGrid>
                <a:gridCol w="910977"/>
                <a:gridCol w="5117902"/>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Tipo de veículo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Exemplo de Oferta 10X</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794445">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Produtos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mulheres negras a eliminar a acne usando um tratamento natural e comprovado à base de plantas medicinais, sem precisar recorrer a antibióticos, cremes químicos caros ou procedimentos dolorosos, e recuperar a autoconfiança, conquistar uma pele limpa, saudável e livre de inflamações de forma duradoura.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Infoprodutos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jovens iniciantes a criar o seu primeiro negócio online usando um curso 100% prático, sem precisar ter experiência prévia ou investir muito, e conquistar a primeira venda em até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624632">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Serviços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pequenos negócios a crescer nas redes sociais com conteúdo estratégico e campanhas pagas otimizadas, sem depender só de sorte ou indicações, e conquistar autoridade, seguidores e mais vendas.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8106456"/>
            <a:ext cx="6084505" cy="138206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Depois de definir o diamante, aplicámos a arbitragem: encontrámos fornecedores de produtos nessa categoria, criámos a Oferta 10X e levámo-la ao mercado nacional com campanhas centradas na transformação. O resultado foi vendas consistentes, alta conversão e um modelo replicável para múltiplos produtos.</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Oferta 10X.</a:t>
            </a:r>
            <a:r>
              <a:rPr lang="en-US" sz="1000" dirty="0">
                <a:solidFill>
                  <a:srgbClr val="2C332E"/>
                </a:solidFill>
                <a:latin typeface="Google Sans" pitchFamily="34" charset="0"/>
                <a:ea typeface="Google Sans" pitchFamily="34" charset="-122"/>
                <a:cs typeface="Google Sans" pitchFamily="34" charset="-120"/>
              </a:rPr>
              <a:t> Preenche o diamante para o teu produto principal e escreve a frase final. Se não consegues preencher um vértice, é esse que tens de trabalhar primeiro.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2429024"/>
                <a:gridCol w="3599855"/>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Vértice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 tua resposta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Problema (a dor, nas palavras do cliente)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Consumidor — desejos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Consumidor — dores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Consumidor — dúvidas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Veículo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Diferencial (sem precisar 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Transformação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Oferta 10X</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Nós ajudamos … a … usando …, sem precisar …, e conquistar …</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OUV — Oferta Única de Valor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Uma frase curta que mostra porque a tua oferta é única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4194360"/>
            <a:ext cx="6084505" cy="257967"/>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a Oferta 10X e a OUV de cada negócio</a:t>
            </a:r>
            <a:endParaRPr lang="en-US" sz="1120" dirty="0"/>
          </a:p>
        </p:txBody>
      </p:sp>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756000" y="4542320"/>
          <a:ext cx="6047929" cy="914400"/>
        </p:xfrm>
        <a:graphic>
          <a:graphicData uri="http://schemas.openxmlformats.org/drawingml/2006/table">
            <a:tbl>
              <a:tblPr/>
              <a:tblGrid>
                <a:gridCol w="744736"/>
                <a:gridCol w="3895279"/>
                <a:gridCol w="1388864"/>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Oferta 10X</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OUV</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794445">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Neyma Store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jovens mulheres de Maputo a vestir-se bem para o trabalho e para sair usando peças escolhidas a dedo e entregues em casa em 24 horas, sem precisar ir à Baixa nem arriscar pagar antes, e conquistar um estilo que recebe elogios.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teu estilo, entregue em 24 horas.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famílias da Matola a celebrar aniversários especiais usando bolos personalizados com o tema da festa, sem precisar preocupar-se com nada no dia, e conquistar a foto perfeita do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bolo que vira a foto da festa.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794445">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 Makeup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noivas e finalistas da Beira a estar perfeitas no seu dia usando maquilhagem que dura a festa inteira e fica bem nas fotos, sem precisar sair de casa, e conquistar a confiança de se verem lindas em todas as fotografias.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Perfeita da primeira à última foto.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794445">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Excel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jovens à procura do primeiro emprego a dominar o Excel usando aulas curtas em vídeo no telemóvel, sem precisar pagar uma escola nem ter computador, e conquistar um CV que passa nas entrevistas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Excel que as empresas pedem, em 7 dias, no teu telemóvel.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784920">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TS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i="1" dirty="0">
                          <a:solidFill>
                            <a:srgbClr val="2C332E"/>
                          </a:solidFill>
                          <a:latin typeface="Google Sans" pitchFamily="34" charset="0"/>
                          <a:ea typeface="Google Sans" pitchFamily="34" charset="-122"/>
                          <a:cs typeface="Google Sans" pitchFamily="34" charset="-120"/>
                        </a:rPr>
                        <a:t>Nós ajudamos pequenos negócios de Maputo a ter redes sociais profissionais usando um pacote mensal de posts e gestão de página, sem precisar perder tempo a criar conteúdo, e conquistar uma marca que transmite confiança e vende mais.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 tua marca com cara de grande empresa.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5" name="Text 1"/>
          <p:cNvSpPr txBox="1"/>
          <p:nvPr/>
        </p:nvSpPr>
        <p:spPr>
          <a:xfrm>
            <a:off x="756000" y="8862354"/>
            <a:ext cx="6084505" cy="762345"/>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Os 3D IDs do Hélder.</a:t>
            </a:r>
            <a:r>
              <a:rPr lang="en-US" sz="1000" dirty="0">
                <a:solidFill>
                  <a:srgbClr val="2C332E"/>
                </a:solidFill>
                <a:latin typeface="Google Sans" pitchFamily="34" charset="0"/>
                <a:ea typeface="Google Sans" pitchFamily="34" charset="-122"/>
                <a:cs typeface="Google Sans" pitchFamily="34" charset="-120"/>
              </a:rPr>
              <a:t> Quando o Hélder trocou “Excel para todos” por “Excel para quem procura o primeiro emprego”, o avatar ficou claro:</a:t>
            </a:r>
            <a:endParaRPr lang="en-US" sz="1000" dirty="0"/>
          </a:p>
          <a:p>
            <a:pPr algn="l" marL="215900" indent="-215900">
              <a:lnSpc>
                <a:spcPts val="1627"/>
              </a:lnSpc>
              <a:spcBef>
                <a:spcPts val="907"/>
              </a:spcBef>
              <a:buSzPct val="100000"/>
              <a:buChar char="•"/>
            </a:pPr>
            <a:r>
              <a:rPr lang="en-US" sz="1000" b="1" dirty="0">
                <a:solidFill>
                  <a:srgbClr val="14181A"/>
                </a:solidFill>
                <a:latin typeface="Google Sans" pitchFamily="34" charset="0"/>
                <a:ea typeface="Google Sans" pitchFamily="34" charset="-122"/>
                <a:cs typeface="Google Sans" pitchFamily="34" charset="-120"/>
              </a:rPr>
              <a:t>Desejos:</a:t>
            </a:r>
            <a:r>
              <a:rPr lang="en-US" sz="1000" dirty="0">
                <a:solidFill>
                  <a:srgbClr val="2C332E"/>
                </a:solidFill>
                <a:latin typeface="Google Sans" pitchFamily="34" charset="0"/>
                <a:ea typeface="Google Sans" pitchFamily="34" charset="-122"/>
                <a:cs typeface="Google Sans" pitchFamily="34" charset="-120"/>
              </a:rPr>
              <a:t> conseguir o primeiro emprego; ser respeitado no trabalho; ganhar o próprio dinheiro.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56000" y="792000"/>
            <a:ext cx="6084505" cy="3148953"/>
          </a:xfrm>
          <a:prstGeom prst="rect">
            <a:avLst/>
          </a:prstGeom>
          <a:noFill/>
          <a:ln/>
        </p:spPr>
        <p:txBody>
          <a:bodyPr wrap="square" lIns="0" tIns="0" rIns="0" bIns="0" rtlCol="0" anchor="t"/>
          <a:lstStyle/>
          <a:p>
            <a:pPr algn="l" marL="215900" indent="-215900">
              <a:lnSpc>
                <a:spcPts val="1627"/>
              </a:lnSpc>
              <a:buSzPct val="100000"/>
              <a:buChar char="•"/>
            </a:pPr>
            <a:r>
              <a:rPr lang="en-US" sz="1000" b="1" dirty="0">
                <a:solidFill>
                  <a:srgbClr val="14181A"/>
                </a:solidFill>
                <a:latin typeface="Google Sans" pitchFamily="34" charset="0"/>
                <a:ea typeface="Google Sans" pitchFamily="34" charset="-122"/>
                <a:cs typeface="Google Sans" pitchFamily="34" charset="-120"/>
              </a:rPr>
              <a:t>Dores:</a:t>
            </a:r>
            <a:r>
              <a:rPr lang="en-US" sz="1000" dirty="0">
                <a:solidFill>
                  <a:srgbClr val="2C332E"/>
                </a:solidFill>
                <a:latin typeface="Google Sans" pitchFamily="34" charset="0"/>
                <a:ea typeface="Google Sans" pitchFamily="34" charset="-122"/>
                <a:cs typeface="Google Sans" pitchFamily="34" charset="-120"/>
              </a:rPr>
              <a:t> CVs sem resposta; entrevistas em que lhe pediram Excel e ele não sabia; não ter dinheiro para uma escola.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Dúvidas:</a:t>
            </a:r>
            <a:r>
              <a:rPr lang="en-US" sz="1000" dirty="0">
                <a:solidFill>
                  <a:srgbClr val="2C332E"/>
                </a:solidFill>
                <a:latin typeface="Google Sans" pitchFamily="34" charset="0"/>
                <a:ea typeface="Google Sans" pitchFamily="34" charset="-122"/>
                <a:cs typeface="Google Sans" pitchFamily="34" charset="-120"/>
              </a:rPr>
              <a:t> “Dá para aprender só com o telemóvel?” “Dá certificado?” “E se eu não perceber?” “500 MT não é burla?”</a:t>
            </a:r>
            <a:endParaRPr lang="en-US" sz="100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Cada dúvida passou a ter resposta no anúncio e no script: exercícios no Excel do telemóvel, certificado de conclusão, um grupo de apoio no WhatsApp e vídeos de antigos alunos.</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Falar do produto, não da transformação.</a:t>
            </a:r>
            <a:r>
              <a:rPr lang="en-US" sz="1000" dirty="0">
                <a:solidFill>
                  <a:srgbClr val="2C332E"/>
                </a:solidFill>
                <a:latin typeface="Google Sans" pitchFamily="34" charset="0"/>
                <a:ea typeface="Google Sans" pitchFamily="34" charset="-122"/>
                <a:cs typeface="Google Sans" pitchFamily="34" charset="-120"/>
              </a:rPr>
              <a:t> “Bolo de dois andares” vende menos do que “o bolo que todos vão fotografar”.</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Avatar “toda a gente”.</a:t>
            </a:r>
            <a:r>
              <a:rPr lang="en-US" sz="1000" dirty="0">
                <a:solidFill>
                  <a:srgbClr val="2C332E"/>
                </a:solidFill>
                <a:latin typeface="Google Sans" pitchFamily="34" charset="0"/>
                <a:ea typeface="Google Sans" pitchFamily="34" charset="-122"/>
                <a:cs typeface="Google Sans" pitchFamily="34" charset="-120"/>
              </a:rPr>
              <a:t> Quem fala para todos não convence ninguém.</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Prometer o que a operação não entrega.</a:t>
            </a:r>
            <a:r>
              <a:rPr lang="en-US" sz="1000" dirty="0">
                <a:solidFill>
                  <a:srgbClr val="2C332E"/>
                </a:solidFill>
                <a:latin typeface="Google Sans" pitchFamily="34" charset="0"/>
                <a:ea typeface="Google Sans" pitchFamily="34" charset="-122"/>
                <a:cs typeface="Google Sans" pitchFamily="34" charset="-120"/>
              </a:rPr>
              <a:t> Se prometes entrega em 24 horas, a Parte 4 tem de o garantir.</a:t>
            </a:r>
            <a:endParaRPr lang="en-US" sz="1000" dirty="0"/>
          </a:p>
        </p:txBody>
      </p:sp>
      <p:sp>
        <p:nvSpPr>
          <p:cNvPr id="3" name="Shape 1"/>
          <p:cNvSpPr/>
          <p:nvPr/>
        </p:nvSpPr>
        <p:spPr>
          <a:xfrm>
            <a:off x="756000" y="4057438"/>
            <a:ext cx="6047929" cy="979587"/>
          </a:xfrm>
          <a:prstGeom prst="roundRect">
            <a:avLst>
              <a:gd name="adj" fmla="val 14935"/>
            </a:avLst>
          </a:prstGeom>
          <a:solidFill>
            <a:srgbClr val="E8F4E0"/>
          </a:solidFill>
          <a:ln/>
          <a:effectLst>
            <a:outerShdw sx="100000" sy="100000" kx="0" ky="0" algn="bl" rotWithShape="0" blurRad="127000" dist="38100" dir="5400000">
              <a:srgbClr val="1E501E">
                <a:alpha val="18000"/>
              </a:srgbClr>
            </a:outerShdw>
          </a:effectLst>
        </p:spPr>
      </p:sp>
      <p:sp>
        <p:nvSpPr>
          <p:cNvPr id="4" name="Text 2"/>
          <p:cNvSpPr txBox="1"/>
          <p:nvPr/>
        </p:nvSpPr>
        <p:spPr>
          <a:xfrm>
            <a:off x="971950" y="4237371"/>
            <a:ext cx="5652605" cy="638008"/>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3: Oferta 10X e OUV.</a:t>
            </a:r>
            <a:r>
              <a:rPr lang="en-US" sz="1000" dirty="0">
                <a:solidFill>
                  <a:srgbClr val="2C332E"/>
                </a:solidFill>
                <a:latin typeface="Google Sans" pitchFamily="34" charset="0"/>
                <a:ea typeface="Google Sans" pitchFamily="34" charset="-122"/>
                <a:cs typeface="Google Sans" pitchFamily="34" charset="-120"/>
              </a:rPr>
              <a:t> Usa o produto da cabeça (Capítulo 2). </a:t>
            </a:r>
            <a:r>
              <a:rPr lang="en-US" sz="1000" b="1" dirty="0">
                <a:solidFill>
                  <a:srgbClr val="21703A"/>
                </a:solidFill>
                <a:latin typeface="Google Sans" pitchFamily="34" charset="0"/>
                <a:ea typeface="Google Sans" pitchFamily="34" charset="-122"/>
                <a:cs typeface="Google Sans" pitchFamily="34" charset="-120"/>
              </a:rPr>
              <a:t>Segue para o Capítulo 4:</a:t>
            </a:r>
            <a:r>
              <a:rPr lang="en-US" sz="1000" dirty="0">
                <a:solidFill>
                  <a:srgbClr val="2C332E"/>
                </a:solidFill>
                <a:latin typeface="Google Sans" pitchFamily="34" charset="0"/>
                <a:ea typeface="Google Sans" pitchFamily="34" charset="-122"/>
                <a:cs typeface="Google Sans" pitchFamily="34" charset="-120"/>
              </a:rPr>
              <a:t> uma oferta irresistível com o preço errado só acelera o prejuízo. A Oferta 10X volta no Capítulo 6, no anúncio, e no Capítulo 7, no script do WhatsApp.</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756000" y="792000"/>
            <a:ext cx="6047929" cy="2741116"/>
          </a:xfrm>
          <a:prstGeom prst="roundRect">
            <a:avLst>
              <a:gd name="adj" fmla="val 8006"/>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84158"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2</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Preços e números</a:t>
            </a:r>
            <a:endParaRPr lang="en-US" sz="2520" dirty="0"/>
          </a:p>
        </p:txBody>
      </p:sp>
      <p:sp>
        <p:nvSpPr>
          <p:cNvPr id="5" name="Shape 3"/>
          <p:cNvSpPr/>
          <p:nvPr/>
        </p:nvSpPr>
        <p:spPr>
          <a:xfrm>
            <a:off x="1079999" y="2687195"/>
            <a:ext cx="5399931" cy="0"/>
          </a:xfrm>
          <a:prstGeom prst="line">
            <a:avLst/>
          </a:prstGeom>
          <a:noFill/>
          <a:ln w="9525">
            <a:solidFill>
              <a:srgbClr val="CFE3C3"/>
            </a:solidFill>
            <a:prstDash val="solid"/>
          </a:ln>
        </p:spPr>
      </p:sp>
      <p:sp>
        <p:nvSpPr>
          <p:cNvPr id="6" name="Text 4"/>
          <p:cNvSpPr txBox="1"/>
          <p:nvPr/>
        </p:nvSpPr>
        <p:spPr>
          <a:xfrm>
            <a:off x="1079999" y="1977863"/>
            <a:ext cx="5436507" cy="121367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Saber precificar foi determinante, sobretudo quando entrámos na fase de escala. Crescer com o preço errado é perder dinheiro mais depressa. Nesta parte vais calcular quanto fica de cada venda e acompanhar o dinheiro todas as semanas.</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Nível 2 — Organização · Peças 4 e 5 · Recebes da Parte 1: o produto e a Oferta 10X · Entregas à Parte 3: preço, CAC máximo e o painel semanal.</a:t>
            </a:r>
            <a:endParaRPr lang="en-US" sz="1000" dirty="0"/>
          </a:p>
        </p:txBody>
      </p:sp>
      <p:sp>
        <p:nvSpPr>
          <p:cNvPr id="7" name="Text 5"/>
          <p:cNvSpPr txBox="1"/>
          <p:nvPr/>
        </p:nvSpPr>
        <p:spPr>
          <a:xfrm>
            <a:off x="756000" y="3857115"/>
            <a:ext cx="6084505" cy="1949250"/>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4</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Definir preços e compreender margens</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Na fase de escala, as margens tendem a encolher. Quando o foco está num só mercado — no nosso caso, Maputo — é preciso um esforço de vendas cada vez maior para cada cliente novo. Por isso, acompanhar métricas e analisar os números com rigor é essencial para a sustentabilidade da operação.</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Para facilitar, adoptámos um modelo de precificação simples, prático e eficaz, que qualquer negócio pode aplicar. Tem quatro variáveis:</a:t>
            </a:r>
            <a:endParaRPr lang="en-US" sz="1020" dirty="0"/>
          </a:p>
        </p:txBody>
      </p:sp>
      <p:sp>
        <p:nvSpPr>
          <p:cNvPr id="8" name="Shape 6"/>
          <p:cNvSpPr/>
          <p:nvPr/>
        </p:nvSpPr>
        <p:spPr>
          <a:xfrm>
            <a:off x="756000" y="5894126"/>
            <a:ext cx="6047929" cy="553492"/>
          </a:xfrm>
          <a:prstGeom prst="roundRect">
            <a:avLst>
              <a:gd name="adj" fmla="val 26433"/>
            </a:avLst>
          </a:prstGeom>
          <a:solidFill>
            <a:srgbClr val="FFFFFF"/>
          </a:solidFill>
          <a:ln w="9525">
            <a:solidFill>
              <a:srgbClr val="DCE8D4"/>
            </a:solidFill>
            <a:prstDash val="solid"/>
          </a:ln>
          <a:effectLst>
            <a:outerShdw sx="100000" sy="100000" kx="0" ky="0" algn="bl" rotWithShape="0" blurRad="101600" dist="25400" dir="5400000">
              <a:srgbClr val="1E501E">
                <a:alpha val="15000"/>
              </a:srgbClr>
            </a:outerShdw>
          </a:effectLst>
        </p:spPr>
      </p:sp>
      <p:sp>
        <p:nvSpPr>
          <p:cNvPr id="9" name="Text 7"/>
          <p:cNvSpPr txBox="1"/>
          <p:nvPr/>
        </p:nvSpPr>
        <p:spPr>
          <a:xfrm>
            <a:off x="975456" y="5894126"/>
            <a:ext cx="5609017" cy="553492"/>
          </a:xfrm>
          <a:prstGeom prst="rect">
            <a:avLst/>
          </a:prstGeom>
          <a:noFill/>
          <a:ln/>
        </p:spPr>
        <p:txBody>
          <a:bodyPr wrap="square" lIns="0" tIns="0" rIns="0" bIns="0" rtlCol="0" anchor="ctr"/>
          <a:lstStyle/>
          <a:p>
            <a:pPr indent="0" marL="0">
              <a:buNone/>
            </a:pPr>
            <a:r>
              <a:rPr lang="en-US" sz="1050" b="1" dirty="0">
                <a:solidFill>
                  <a:srgbClr val="21703A"/>
                </a:solidFill>
                <a:latin typeface="Google Sans" pitchFamily="34" charset="0"/>
                <a:ea typeface="Google Sans" pitchFamily="34" charset="-122"/>
                <a:cs typeface="Google Sans" pitchFamily="34" charset="-120"/>
              </a:rPr>
              <a:t>Preço de venda</a:t>
            </a:r>
            <a:r>
              <a:rPr lang="en-US" sz="1050" b="1" dirty="0">
                <a:solidFill>
                  <a:srgbClr val="3E9A45"/>
                </a:solidFill>
                <a:latin typeface="Google Sans" pitchFamily="34" charset="0"/>
                <a:ea typeface="Google Sans" pitchFamily="34" charset="-122"/>
                <a:cs typeface="Google Sans" pitchFamily="34" charset="-120"/>
              </a:rPr>
              <a:t>  =  </a:t>
            </a:r>
            <a:r>
              <a:rPr lang="en-US" sz="1050" dirty="0">
                <a:solidFill>
                  <a:srgbClr val="14181A"/>
                </a:solidFill>
                <a:latin typeface="Google Sans" pitchFamily="34" charset="0"/>
                <a:ea typeface="Google Sans" pitchFamily="34" charset="-122"/>
                <a:cs typeface="Google Sans" pitchFamily="34" charset="-120"/>
              </a:rPr>
              <a:t>(CP + CL + CAC) × (1 + MLB)</a:t>
            </a:r>
            <a:endParaRPr lang="en-US" sz="1050" dirty="0"/>
          </a:p>
        </p:txBody>
      </p:sp>
      <p:sp>
        <p:nvSpPr>
          <p:cNvPr id="10" name="Text 8"/>
          <p:cNvSpPr txBox="1"/>
          <p:nvPr/>
        </p:nvSpPr>
        <p:spPr>
          <a:xfrm>
            <a:off x="756000" y="6627551"/>
            <a:ext cx="6084505" cy="1830931"/>
          </a:xfrm>
          <a:prstGeom prst="rect">
            <a:avLst/>
          </a:prstGeom>
          <a:noFill/>
          <a:ln/>
        </p:spPr>
        <p:txBody>
          <a:bodyPr wrap="square" lIns="0" tIns="0" rIns="0" bIns="0" rtlCol="0" anchor="t"/>
          <a:lstStyle/>
          <a:p>
            <a:pPr algn="l" marL="215900" indent="-215900">
              <a:lnSpc>
                <a:spcPts val="1627"/>
              </a:lnSpc>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Custo do Produto (CP):</a:t>
            </a:r>
            <a:r>
              <a:rPr lang="en-US" sz="1000" dirty="0">
                <a:solidFill>
                  <a:srgbClr val="2C332E"/>
                </a:solidFill>
                <a:latin typeface="Google Sans" pitchFamily="34" charset="0"/>
                <a:ea typeface="Google Sans" pitchFamily="34" charset="-122"/>
                <a:cs typeface="Google Sans" pitchFamily="34" charset="-120"/>
              </a:rPr>
              <a:t> preço pago ao fornecedor e taxas de importação (alfândega, IVA, desembaraço, transporte internacional). Exemplo: 500 MT.</a:t>
            </a:r>
            <a:endParaRPr lang="en-US" sz="100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Custo Logístico (CL):</a:t>
            </a:r>
            <a:r>
              <a:rPr lang="en-US" sz="1000" dirty="0">
                <a:solidFill>
                  <a:srgbClr val="2C332E"/>
                </a:solidFill>
                <a:latin typeface="Google Sans" pitchFamily="34" charset="0"/>
                <a:ea typeface="Google Sans" pitchFamily="34" charset="-122"/>
                <a:cs typeface="Google Sans" pitchFamily="34" charset="-120"/>
              </a:rPr>
              <a:t> transportadora local ou estafeta, embalagem e manuseamento, e o custo de devoluções ou entregas falhadas. Exemplo: 150 MT.</a:t>
            </a:r>
            <a:endParaRPr lang="en-US" sz="1000" dirty="0"/>
          </a:p>
          <a:p>
            <a:pPr algn="l" marL="215900" indent="-215900">
              <a:lnSpc>
                <a:spcPts val="1627"/>
              </a:lnSpc>
              <a:spcBef>
                <a:spcPts val="396"/>
              </a:spcBef>
              <a:buSzPct val="100000"/>
              <a:buFont typeface="+mj-lt"/>
              <a:buAutoNum type="arabicPeriod" startAt="3"/>
            </a:pPr>
            <a:r>
              <a:rPr lang="en-US" sz="1000" b="1" dirty="0">
                <a:solidFill>
                  <a:srgbClr val="14181A"/>
                </a:solidFill>
                <a:latin typeface="Google Sans" pitchFamily="34" charset="0"/>
                <a:ea typeface="Google Sans" pitchFamily="34" charset="-122"/>
                <a:cs typeface="Google Sans" pitchFamily="34" charset="-120"/>
              </a:rPr>
              <a:t>Custo de Aquisição de Cliente (CAC):</a:t>
            </a:r>
            <a:r>
              <a:rPr lang="en-US" sz="1000" dirty="0">
                <a:solidFill>
                  <a:srgbClr val="2C332E"/>
                </a:solidFill>
                <a:latin typeface="Google Sans" pitchFamily="34" charset="0"/>
                <a:ea typeface="Google Sans" pitchFamily="34" charset="-122"/>
                <a:cs typeface="Google Sans" pitchFamily="34" charset="-120"/>
              </a:rPr>
              <a:t> tudo o que investes em tráfego pago para gerar uma venda. CAC = gastos em anúncios ÷ número de vendas. Exemplo: 300 MT.</a:t>
            </a:r>
            <a:endParaRPr lang="en-US" sz="1000" dirty="0"/>
          </a:p>
          <a:p>
            <a:pPr algn="l" marL="215900" indent="-215900">
              <a:lnSpc>
                <a:spcPts val="1627"/>
              </a:lnSpc>
              <a:spcBef>
                <a:spcPts val="396"/>
              </a:spcBef>
              <a:buSzPct val="100000"/>
              <a:buFont typeface="+mj-lt"/>
              <a:buAutoNum type="arabicPeriod" startAt="4"/>
            </a:pPr>
            <a:r>
              <a:rPr lang="en-US" sz="1000" b="1" dirty="0">
                <a:solidFill>
                  <a:srgbClr val="14181A"/>
                </a:solidFill>
                <a:latin typeface="Google Sans" pitchFamily="34" charset="0"/>
                <a:ea typeface="Google Sans" pitchFamily="34" charset="-122"/>
                <a:cs typeface="Google Sans" pitchFamily="34" charset="-120"/>
              </a:rPr>
              <a:t>Margem de Lucro Bruto (MLB):</a:t>
            </a:r>
            <a:r>
              <a:rPr lang="en-US" sz="1000" dirty="0">
                <a:solidFill>
                  <a:srgbClr val="2C332E"/>
                </a:solidFill>
                <a:latin typeface="Google Sans" pitchFamily="34" charset="0"/>
                <a:ea typeface="Google Sans" pitchFamily="34" charset="-122"/>
                <a:cs typeface="Google Sans" pitchFamily="34" charset="-120"/>
              </a:rPr>
              <a:t> o ganho antes dos custos operacionais. Para este modelo de negócio, recomendamos 30% a 60%. Exemplo: 40%.</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56000" y="8566484"/>
          <a:ext cx="6047929" cy="914400"/>
        </p:xfrm>
        <a:graphic>
          <a:graphicData uri="http://schemas.openxmlformats.org/drawingml/2006/table">
            <a:tbl>
              <a:tblPr/>
              <a:tblGrid>
                <a:gridCol w="3194447"/>
                <a:gridCol w="2834432"/>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Item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Valor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Custo do Produto (CP)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Custo Logístico (CL)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3194447"/>
                <a:gridCol w="2834432"/>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Item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Valor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Custo de Aquisição (CAC)</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Subtotal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950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Margem de Lucro Bruto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Preço de venda ideal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950 × 1,40 = 1.330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3" name="Text 0"/>
          <p:cNvSpPr txBox="1"/>
          <p:nvPr/>
        </p:nvSpPr>
        <p:spPr>
          <a:xfrm>
            <a:off x="756000" y="2554423"/>
            <a:ext cx="6084505" cy="1588639"/>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Lê a margem do lado certo.</a:t>
            </a:r>
            <a:r>
              <a:rPr lang="en-US" sz="1000" dirty="0">
                <a:solidFill>
                  <a:srgbClr val="2C332E"/>
                </a:solidFill>
                <a:latin typeface="Google Sans" pitchFamily="34" charset="0"/>
                <a:ea typeface="Google Sans" pitchFamily="34" charset="-122"/>
                <a:cs typeface="Google Sans" pitchFamily="34" charset="-120"/>
              </a:rPr>
              <a:t> Na fórmula, os 40% aplicam-se sobre os custos. Em cada venda de 1.330 MT ficam 380 MT de lucro bruto, ou seja, 28,6% do preço. Os dois números estão certos; só medem coisas diferentes. Quando comparares produtos ou falares com fornecedores, diz sempre se a margem é sobre o custo ou sobre o preço. Se pagas taxas ou comissões em cada venda — por exemplo, taxas de pagamento móvel ou comissões a revendedoras —, soma-as aos custos antes de aplicar a margem.</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Quantas vendas pagam a casa.</a:t>
            </a:r>
            <a:r>
              <a:rPr lang="en-US" sz="1000" dirty="0">
                <a:solidFill>
                  <a:srgbClr val="2C332E"/>
                </a:solidFill>
                <a:latin typeface="Google Sans" pitchFamily="34" charset="0"/>
                <a:ea typeface="Google Sans" pitchFamily="34" charset="-122"/>
                <a:cs typeface="Google Sans" pitchFamily="34" charset="-120"/>
              </a:rPr>
              <a:t> O lucro bruto tem de cobrir os custos fixos do mês: renda, salários, sistemas, motas. O ponto de equilíbrio diz-te quantas vendas precisas para isso:</a:t>
            </a:r>
            <a:endParaRPr lang="en-US" sz="1000" dirty="0"/>
          </a:p>
        </p:txBody>
      </p:sp>
      <p:sp>
        <p:nvSpPr>
          <p:cNvPr id="4" name="Shape 1"/>
          <p:cNvSpPr/>
          <p:nvPr/>
        </p:nvSpPr>
        <p:spPr>
          <a:xfrm>
            <a:off x="756000" y="4230823"/>
            <a:ext cx="6047929" cy="845344"/>
          </a:xfrm>
          <a:prstGeom prst="roundRect">
            <a:avLst>
              <a:gd name="adj" fmla="val 17307"/>
            </a:avLst>
          </a:prstGeom>
          <a:solidFill>
            <a:srgbClr val="FFFFFF"/>
          </a:solidFill>
          <a:ln w="9525">
            <a:solidFill>
              <a:srgbClr val="DCE8D4"/>
            </a:solidFill>
            <a:prstDash val="solid"/>
          </a:ln>
          <a:effectLst>
            <a:outerShdw sx="100000" sy="100000" kx="0" ky="0" algn="bl" rotWithShape="0" blurRad="101600" dist="25400" dir="5400000">
              <a:srgbClr val="1E501E">
                <a:alpha val="15000"/>
              </a:srgbClr>
            </a:outerShdw>
          </a:effectLst>
        </p:spPr>
      </p:sp>
      <p:sp>
        <p:nvSpPr>
          <p:cNvPr id="5" name="Text 2"/>
          <p:cNvSpPr txBox="1"/>
          <p:nvPr/>
        </p:nvSpPr>
        <p:spPr>
          <a:xfrm>
            <a:off x="975456" y="4230823"/>
            <a:ext cx="5609017" cy="845344"/>
          </a:xfrm>
          <a:prstGeom prst="rect">
            <a:avLst/>
          </a:prstGeom>
          <a:noFill/>
          <a:ln/>
        </p:spPr>
        <p:txBody>
          <a:bodyPr wrap="square" lIns="0" tIns="0" rIns="0" bIns="0" rtlCol="0" anchor="ctr"/>
          <a:lstStyle/>
          <a:p>
            <a:pPr indent="0" marL="0">
              <a:buNone/>
            </a:pPr>
            <a:r>
              <a:rPr lang="en-US" sz="1050" b="1" dirty="0">
                <a:solidFill>
                  <a:srgbClr val="21703A"/>
                </a:solidFill>
                <a:latin typeface="Google Sans" pitchFamily="34" charset="0"/>
                <a:ea typeface="Google Sans" pitchFamily="34" charset="-122"/>
                <a:cs typeface="Google Sans" pitchFamily="34" charset="-120"/>
              </a:rPr>
              <a:t>Vendas para o ponto de equilíbrio</a:t>
            </a:r>
            <a:r>
              <a:rPr lang="en-US" sz="1050" b="1" dirty="0">
                <a:solidFill>
                  <a:srgbClr val="3E9A45"/>
                </a:solidFill>
                <a:latin typeface="Google Sans" pitchFamily="34" charset="0"/>
                <a:ea typeface="Google Sans" pitchFamily="34" charset="-122"/>
                <a:cs typeface="Google Sans" pitchFamily="34" charset="-120"/>
              </a:rPr>
              <a:t>  =  </a:t>
            </a:r>
            <a:r>
              <a:rPr lang="en-US" sz="1050" dirty="0">
                <a:solidFill>
                  <a:srgbClr val="14181A"/>
                </a:solidFill>
                <a:latin typeface="Google Sans" pitchFamily="34" charset="0"/>
                <a:ea typeface="Google Sans" pitchFamily="34" charset="-122"/>
                <a:cs typeface="Google Sans" pitchFamily="34" charset="-120"/>
              </a:rPr>
              <a:t>Custos fixos mensais ÷ Lucro bruto por venda</a:t>
            </a:r>
            <a:endParaRPr lang="en-US" sz="1050" dirty="0"/>
          </a:p>
        </p:txBody>
      </p:sp>
      <p:sp>
        <p:nvSpPr>
          <p:cNvPr id="6" name="Text 3"/>
          <p:cNvSpPr txBox="1"/>
          <p:nvPr/>
        </p:nvSpPr>
        <p:spPr>
          <a:xfrm>
            <a:off x="756000" y="5256100"/>
            <a:ext cx="6084505" cy="1703832"/>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Com custos fixos de 15.000 MT por mês (internet, transporte, um pequeno espaço; valor ilustrativo) e 380 MT de lucro bruto por venda, precisas de 40 vendas por mês, cerca de 10 por semana, só para empatar.</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O CAC é o teu teto nos anúncios.</a:t>
            </a:r>
            <a:r>
              <a:rPr lang="en-US" sz="1000" dirty="0">
                <a:solidFill>
                  <a:srgbClr val="2C332E"/>
                </a:solidFill>
                <a:latin typeface="Google Sans" pitchFamily="34" charset="0"/>
                <a:ea typeface="Google Sans" pitchFamily="34" charset="-122"/>
                <a:cs typeface="Google Sans" pitchFamily="34" charset="-120"/>
              </a:rPr>
              <a:t> O CAC que puseste na fórmula é o máximo que podes pagar por cliente sem destruir a margem. Na Parte 7, é este número que decide se um anúncio sobe, mantém, ajusta ou para.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Ficha de preço.</a:t>
            </a:r>
            <a:r>
              <a:rPr lang="en-US" sz="1000" dirty="0">
                <a:solidFill>
                  <a:srgbClr val="2C332E"/>
                </a:solidFill>
                <a:latin typeface="Google Sans" pitchFamily="34" charset="0"/>
                <a:ea typeface="Google Sans" pitchFamily="34" charset="-122"/>
                <a:cs typeface="Google Sans" pitchFamily="34" charset="-120"/>
              </a:rPr>
              <a:t> Uma ficha por produto da cabeça da tua Cauda Longa.</a:t>
            </a:r>
            <a:endParaRPr lang="en-US" sz="1000" dirty="0"/>
          </a:p>
        </p:txBody>
      </p:sp>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756000" y="7057218"/>
          <a:ext cx="6047929" cy="914400"/>
        </p:xfrm>
        <a:graphic>
          <a:graphicData uri="http://schemas.openxmlformats.org/drawingml/2006/table">
            <a:tbl>
              <a:tblPr/>
              <a:tblGrid>
                <a:gridCol w="4555927"/>
                <a:gridCol w="1472952"/>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Linha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Valor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Custo do Produto (CP)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Custo Logístico (CL)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CAC máximo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Taxas e comissões por venda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Subtotal de custos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Margem de Lucro Bruto (%)</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Preço de venda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4555927"/>
                <a:gridCol w="1472952"/>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Linha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Valor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Lucro bruto por venda (MT e % do preço)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 por mês para o ponto de equilíbrio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1999294"/>
            <a:ext cx="6084505" cy="761006"/>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a fórmula em cada modelo</a:t>
            </a:r>
            <a:endParaRPr lang="en-US" sz="112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Doces da Yara — vender menos e ganhar mais.</a:t>
            </a:r>
            <a:r>
              <a:rPr lang="en-US" sz="1000" dirty="0">
                <a:solidFill>
                  <a:srgbClr val="2C332E"/>
                </a:solidFill>
                <a:latin typeface="Google Sans" pitchFamily="34" charset="0"/>
                <a:ea typeface="Google Sans" pitchFamily="34" charset="-122"/>
                <a:cs typeface="Google Sans" pitchFamily="34" charset="-120"/>
              </a:rPr>
              <a:t> A Yara vendia o bolo de aniversário de 2 kg a 1.500 MT porque “é o preço das outras boleiras”. Quando fez a ficha, descobriu isto:</a:t>
            </a:r>
            <a:endParaRPr lang="en-US" sz="1120" dirty="0"/>
          </a:p>
        </p:txBody>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756000" y="2857586"/>
          <a:ext cx="6047929" cy="914400"/>
        </p:xfrm>
        <a:graphic>
          <a:graphicData uri="http://schemas.openxmlformats.org/drawingml/2006/table">
            <a:tbl>
              <a:tblPr/>
              <a:tblGrid>
                <a:gridCol w="2123777"/>
                <a:gridCol w="1492895"/>
                <a:gridCol w="2412206"/>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Item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Antes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Depois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Ingredientes, decoração e gás (CP)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950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950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Caixa e entrega (CL)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Anúncios por bolo (CAC)</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Custo total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1.300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1.300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Preço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2.000 (1.300 × 1,5 = 1.950, arredondado)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Lucro bruto por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Lucro bruto por mês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 bolos × 200 = 4.000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16 bolos × 700 = 11.200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5" name="Text 1"/>
          <p:cNvSpPr txBox="1"/>
          <p:nvPr/>
        </p:nvSpPr>
        <p:spPr>
          <a:xfrm>
            <a:off x="756000" y="5560751"/>
            <a:ext cx="6084505" cy="4091333"/>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Mesmo que perca quatro encomendas por mês com a subida, ganha quase três vezes mais — e trabalha menos fins-de-semana.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Célia Makeup — nos serviços, o tempo é o produto.</a:t>
            </a:r>
            <a:r>
              <a:rPr lang="en-US" sz="1000" dirty="0">
                <a:solidFill>
                  <a:srgbClr val="2C332E"/>
                </a:solidFill>
                <a:latin typeface="Google Sans" pitchFamily="34" charset="0"/>
                <a:ea typeface="Google Sans" pitchFamily="34" charset="-122"/>
                <a:cs typeface="Google Sans" pitchFamily="34" charset="-120"/>
              </a:rPr>
              <a:t> Numa maquilhagem para um evento, a Célia gasta 250 MT em produtos e duas horas do seu trabalho. Se a hora dela valer 150 MT, o CP é 250 + 300 = 550 MT. Somando 150 MT de deslocação (CL) e 100 MT de anúncios (CAC), com 50% de margem: (550 + 150 + 100) × 1,5 = 1.200 MT. Se não contas a tua hora, o negócio parece lucrativo só porque trabalhas de graça.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Excel em 7 Dias — no low-ticket, a fórmula dá o mínimo, não o preço.</a:t>
            </a:r>
            <a:r>
              <a:rPr lang="en-US" sz="1000" dirty="0">
                <a:solidFill>
                  <a:srgbClr val="2C332E"/>
                </a:solidFill>
                <a:latin typeface="Google Sans" pitchFamily="34" charset="0"/>
                <a:ea typeface="Google Sans" pitchFamily="34" charset="-122"/>
                <a:cs typeface="Google Sans" pitchFamily="34" charset="-120"/>
              </a:rPr>
              <a:t> O curso quase não tem custo por aluno: cerca de 15 MT em taxas de pagamento. Com um CAC de 150 MT e 60% de margem, a fórmula dá (15 + 0 + 150) × 1,6 = 264 MT. Esse é o preço mínimo. O preço real vem do valor percebido e da lógica do low-ticket: um valor baixo o suficiente para a decisão ser rápida. O Hélder fixou 500 MT e fica com 335 MT de lucro bruto por aluno — o lucro grande vem do volume e das vendas seguintes (Capítulo 8).</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TS Design — pacotes mensais com limites.</a:t>
            </a:r>
            <a:r>
              <a:rPr lang="en-US" sz="1000" dirty="0">
                <a:solidFill>
                  <a:srgbClr val="2C332E"/>
                </a:solidFill>
                <a:latin typeface="Google Sans" pitchFamily="34" charset="0"/>
                <a:ea typeface="Google Sans" pitchFamily="34" charset="-122"/>
                <a:cs typeface="Google Sans" pitchFamily="34" charset="-120"/>
              </a:rPr>
              <a:t> Um pacote de 12 posts por mês ocupa ao Tiago cerca de 16 horas. A 200 MT por hora, o CP são 3.200 MT. Somam-se 300 MT de ferramentas e internet e 500 MT para conquistar o cliente: (3.200 + 300 + 500) × 1,5 = 6.000 MT por mês. O pacote inclui duas revisões por post; cada alteração extra é cobrada. Sem esse limite, as horas sobem e a margem desaparece.</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756000" y="792000"/>
            <a:ext cx="6084505" cy="2353020"/>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Taxas e câmbio.</a:t>
            </a:r>
            <a:r>
              <a:rPr lang="en-US" sz="1000" dirty="0">
                <a:solidFill>
                  <a:srgbClr val="2C332E"/>
                </a:solidFill>
                <a:latin typeface="Google Sans" pitchFamily="34" charset="0"/>
                <a:ea typeface="Google Sans" pitchFamily="34" charset="-122"/>
                <a:cs typeface="Google Sans" pitchFamily="34" charset="-120"/>
              </a:rPr>
              <a:t> Se recebes por M-Pesa ou e-Mola numa conta de comerciante, ou pagas comissões a revendedoras, soma esses valores ao custo de cada venda. E se pagas anúncios em dólares, calcula o CAC com uma margem de segurança no câmbio: um CAC de 4 USD vale 256 MT a 64 MT por dólar, mas 280 MT a 70.</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Copiar o preço da concorrência.</a:t>
            </a:r>
            <a:r>
              <a:rPr lang="en-US" sz="1000" dirty="0">
                <a:solidFill>
                  <a:srgbClr val="2C332E"/>
                </a:solidFill>
                <a:latin typeface="Google Sans" pitchFamily="34" charset="0"/>
                <a:ea typeface="Google Sans" pitchFamily="34" charset="-122"/>
                <a:cs typeface="Google Sans" pitchFamily="34" charset="-120"/>
              </a:rPr>
              <a:t> Ela pode estar a perder dinheiro sem saber.</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Esquecer o teu próprio tempo.</a:t>
            </a:r>
            <a:r>
              <a:rPr lang="en-US" sz="1000" dirty="0">
                <a:solidFill>
                  <a:srgbClr val="2C332E"/>
                </a:solidFill>
                <a:latin typeface="Google Sans" pitchFamily="34" charset="0"/>
                <a:ea typeface="Google Sans" pitchFamily="34" charset="-122"/>
                <a:cs typeface="Google Sans" pitchFamily="34" charset="-120"/>
              </a:rPr>
              <a:t> Se és tu que fazes o trabalho, a tua hora entra no custo.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Dar desconto sem recalcular.</a:t>
            </a:r>
            <a:r>
              <a:rPr lang="en-US" sz="1000" dirty="0">
                <a:solidFill>
                  <a:srgbClr val="2C332E"/>
                </a:solidFill>
                <a:latin typeface="Google Sans" pitchFamily="34" charset="0"/>
                <a:ea typeface="Google Sans" pitchFamily="34" charset="-122"/>
                <a:cs typeface="Google Sans" pitchFamily="34" charset="-120"/>
              </a:rPr>
              <a:t> Na Yara, 10% de desconto (2.000 → 1.800 MT) corta o lucro bruto de 700 para 500 MT: quase 30% a menos.</a:t>
            </a:r>
            <a:endParaRPr lang="en-US" sz="1000" dirty="0"/>
          </a:p>
        </p:txBody>
      </p:sp>
      <p:sp>
        <p:nvSpPr>
          <p:cNvPr id="3" name="Shape 1"/>
          <p:cNvSpPr/>
          <p:nvPr/>
        </p:nvSpPr>
        <p:spPr>
          <a:xfrm>
            <a:off x="756000" y="3261505"/>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4" name="Text 2"/>
          <p:cNvSpPr txBox="1"/>
          <p:nvPr/>
        </p:nvSpPr>
        <p:spPr>
          <a:xfrm>
            <a:off x="971950" y="3441438"/>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4: Ficha de preço e CAC máximo.</a:t>
            </a:r>
            <a:r>
              <a:rPr lang="en-US" sz="1000" dirty="0">
                <a:solidFill>
                  <a:srgbClr val="2C332E"/>
                </a:solidFill>
                <a:latin typeface="Google Sans" pitchFamily="34" charset="0"/>
                <a:ea typeface="Google Sans" pitchFamily="34" charset="-122"/>
                <a:cs typeface="Google Sans" pitchFamily="34" charset="-120"/>
              </a:rPr>
              <a:t> Usa os custos do produto (Capítulo 2) e a oferta (Capítulo 3). </a:t>
            </a:r>
            <a:r>
              <a:rPr lang="en-US" sz="1000" b="1" dirty="0">
                <a:solidFill>
                  <a:srgbClr val="21703A"/>
                </a:solidFill>
                <a:latin typeface="Google Sans" pitchFamily="34" charset="0"/>
                <a:ea typeface="Google Sans" pitchFamily="34" charset="-122"/>
                <a:cs typeface="Google Sans" pitchFamily="34" charset="-120"/>
              </a:rPr>
              <a:t>Segue para o Capítulo 5:</a:t>
            </a:r>
            <a:r>
              <a:rPr lang="en-US" sz="1000" dirty="0">
                <a:solidFill>
                  <a:srgbClr val="2C332E"/>
                </a:solidFill>
                <a:latin typeface="Google Sans" pitchFamily="34" charset="0"/>
                <a:ea typeface="Google Sans" pitchFamily="34" charset="-122"/>
                <a:cs typeface="Google Sans" pitchFamily="34" charset="-120"/>
              </a:rPr>
              <a:t> o preço define a margem de cada venda; agora precisas de ver se o dinheiro sobra no fim da semana. O CAC máximo volta no Capítulo 17, para decidir os anúncios.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756000" y="792000"/>
            <a:ext cx="6084505" cy="2362396"/>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5</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Calcular métricas e controlar o dinheiro</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Na nossa operação, o número que olhávamos todos os dias era a faturação diária: 35.000 MT com o Green Mask, 8.000 MT com o Pretty, 40.000 MT com a Cauda Longa, 100.000 MT no nosso dia recorde. Mas faturação não é lucro, e lucro não é dinheiro no banco. Uma empresa pode fechar o mês com lucro e não ter como pagar salários, porque comprou stock a mais ou porque o dinheiro das entregas ainda não entrou.</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Cada número tem o seu ritmo. Olhar para tudo todos os dias cansa; olhar só no fim do mês chega tarde.</a:t>
            </a:r>
            <a:endParaRPr lang="en-US" sz="1020" dirty="0"/>
          </a:p>
        </p:txBody>
      </p:sp>
      <p:pic>
        <p:nvPicPr>
          <p:cNvPr id="3" name="Image 0" descr="Cada número financeiro tem o seu ritmo">    </p:cNvPr>
          <p:cNvPicPr>
            <a:picLocks noChangeAspect="1"/>
          </p:cNvPicPr>
          <p:nvPr/>
        </p:nvPicPr>
        <p:blipFill>
          <a:blip r:embed="rId1"/>
          <a:stretch>
            <a:fillRect/>
          </a:stretch>
        </p:blipFill>
        <p:spPr>
          <a:xfrm>
            <a:off x="756000" y="3378930"/>
            <a:ext cx="6047780" cy="3798094"/>
          </a:xfrm>
          <a:prstGeom prst="rect">
            <a:avLst/>
          </a:prstGeom>
        </p:spPr>
      </p:pic>
      <p:sp>
        <p:nvSpPr>
          <p:cNvPr id="4" name="Shape 1"/>
          <p:cNvSpPr/>
          <p:nvPr/>
        </p:nvSpPr>
        <p:spPr>
          <a:xfrm>
            <a:off x="756000" y="7302933"/>
            <a:ext cx="6047929" cy="0"/>
          </a:xfrm>
          <a:prstGeom prst="line">
            <a:avLst/>
          </a:prstGeom>
          <a:noFill/>
          <a:ln w="9525">
            <a:solidFill>
              <a:srgbClr val="E2E8DF"/>
            </a:solidFill>
            <a:prstDash val="solid"/>
          </a:ln>
        </p:spPr>
      </p:sp>
      <p:sp>
        <p:nvSpPr>
          <p:cNvPr id="5" name="Text 2"/>
          <p:cNvSpPr txBox="1"/>
          <p:nvPr/>
        </p:nvSpPr>
        <p:spPr>
          <a:xfrm>
            <a:off x="756000" y="7420358"/>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Cada número financeiro tem o seu ritmo</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10</a:t>
            </a:r>
            <a:r>
              <a:rPr lang="en-US" sz="830" dirty="0">
                <a:solidFill>
                  <a:srgbClr val="7E8780"/>
                </a:solidFill>
                <a:latin typeface="Google Sans" pitchFamily="34" charset="0"/>
                <a:ea typeface="Google Sans" pitchFamily="34" charset="-122"/>
                <a:cs typeface="Google Sans" pitchFamily="34" charset="-120"/>
              </a:rPr>
              <a:t> · A pirâmide da gestão financeira</a:t>
            </a:r>
            <a:endParaRPr lang="en-US" sz="1020" dirty="0"/>
          </a:p>
        </p:txBody>
      </p:sp>
      <p:sp>
        <p:nvSpPr>
          <p:cNvPr id="6" name="Text 3"/>
          <p:cNvSpPr txBox="1"/>
          <p:nvPr/>
        </p:nvSpPr>
        <p:spPr>
          <a:xfrm>
            <a:off x="756000" y="8046776"/>
            <a:ext cx="6084505" cy="647152"/>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Painel semanal.</a:t>
            </a:r>
            <a:r>
              <a:rPr lang="en-US" sz="1000" dirty="0">
                <a:solidFill>
                  <a:srgbClr val="2C332E"/>
                </a:solidFill>
                <a:latin typeface="Google Sans" pitchFamily="34" charset="0"/>
                <a:ea typeface="Google Sans" pitchFamily="34" charset="-122"/>
                <a:cs typeface="Google Sans" pitchFamily="34" charset="-120"/>
              </a:rPr>
              <a:t> Começa com seis números, actualizados à segunda-feira, num quadro que toda a liderança vê. Este painel cresce contigo: cada capítulo seguinte acrescenta-lhe uma linha, e no Capítulo 18 terás o painel completo do negócio.</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56000" y="8791214"/>
          <a:ext cx="6047929" cy="914400"/>
        </p:xfrm>
        <a:graphic>
          <a:graphicData uri="http://schemas.openxmlformats.org/drawingml/2006/table">
            <a:tbl>
              <a:tblPr/>
              <a:tblGrid>
                <a:gridCol w="1283196"/>
                <a:gridCol w="2067669"/>
                <a:gridCol w="487114"/>
                <a:gridCol w="539204"/>
                <a:gridCol w="547688"/>
                <a:gridCol w="549622"/>
                <a:gridCol w="554385"/>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Métrica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calcular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Meta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1</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2</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3</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4</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Faturação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Soma das vendas da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1283196"/>
                <a:gridCol w="2067669"/>
                <a:gridCol w="487114"/>
                <a:gridCol w="539204"/>
                <a:gridCol w="547688"/>
                <a:gridCol w="549622"/>
                <a:gridCol w="554385"/>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Métrica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calcular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Meta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1</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2</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3</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 4</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N.º de vendas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Pedidos entregues e pagos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Ticket médio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Faturação ÷ n.º de vendas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Lucro bruto (MT e %)</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Faturação − (produto + logística + anúncios)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CAC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Gastos em anúncios ÷ n.º de vendas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Dinheiro disponível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Saldo em banco, carteiras móveis e caixa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3" name="Text 0"/>
          <p:cNvSpPr txBox="1"/>
          <p:nvPr/>
        </p:nvSpPr>
        <p:spPr>
          <a:xfrm>
            <a:off x="756000" y="3348867"/>
            <a:ext cx="6084505" cy="647152"/>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Previsão de entradas e saídas.</a:t>
            </a:r>
            <a:r>
              <a:rPr lang="en-US" sz="1000" dirty="0">
                <a:solidFill>
                  <a:srgbClr val="2C332E"/>
                </a:solidFill>
                <a:latin typeface="Google Sans" pitchFamily="34" charset="0"/>
                <a:ea typeface="Google Sans" pitchFamily="34" charset="-122"/>
                <a:cs typeface="Google Sans" pitchFamily="34" charset="-120"/>
              </a:rPr>
              <a:t> Projecta as próximas 13 semanas. Regista só o que entra e sai de facto, na semana em que acontece. A semana em que o saldo final fica negativo é o aviso para agir agora: cobrar, renegociar prazos com fornecedores ou adiar compras de stock.</a:t>
            </a:r>
            <a:endParaRPr lang="en-US" sz="1000" dirty="0"/>
          </a:p>
        </p:txBody>
      </p:sp>
      <p:graphicFrame>
        <p:nvGraphicFramePr>
          <p:cNvPr id="81" name="Table 1"/>
          <p:cNvGraphicFramePr>
            <a:graphicFrameLocks noGrp="1"/>
          </p:cNvGraphicFramePr>
          <p:nvPr>
            <p:extLst>
              <p:ext uri="{D42A27DB-BD31-4B8C-83A1-F6EECF244321}">
                <p14:modId xmlns:p14="http://schemas.microsoft.com/office/powerpoint/2010/main" val="1579011935"/>
              </p:ext>
            </p:extLst>
          </p:nvPr>
        </p:nvGraphicFramePr>
        <p:xfrm>
          <a:off x="756000" y="4093305"/>
          <a:ext cx="6047929" cy="914400"/>
        </p:xfrm>
        <a:graphic>
          <a:graphicData uri="http://schemas.openxmlformats.org/drawingml/2006/table">
            <a:tbl>
              <a:tblPr/>
              <a:tblGrid>
                <a:gridCol w="853678"/>
                <a:gridCol w="1120676"/>
                <a:gridCol w="1601688"/>
                <a:gridCol w="1432322"/>
                <a:gridCol w="1020514"/>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Semana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Saldo inicial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Entradas previstas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Saídas previstas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Saldo final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5" name="Text 1"/>
          <p:cNvSpPr txBox="1"/>
          <p:nvPr/>
        </p:nvSpPr>
        <p:spPr>
          <a:xfrm>
            <a:off x="756000" y="5614180"/>
            <a:ext cx="6084505" cy="554432"/>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ler os números</a:t>
            </a:r>
            <a:endParaRPr lang="en-US" sz="112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O painel da Neyma numa semana.</a:t>
            </a:r>
            <a:endParaRPr lang="en-US" sz="1120" dirty="0"/>
          </a:p>
        </p:txBody>
      </p:sp>
      <p:graphicFrame>
        <p:nvGraphicFramePr>
          <p:cNvPr id="121" name="Table 2"/>
          <p:cNvGraphicFramePr>
            <a:graphicFrameLocks noGrp="1"/>
          </p:cNvGraphicFramePr>
          <p:nvPr>
            <p:extLst>
              <p:ext uri="{D42A27DB-BD31-4B8C-83A1-F6EECF244321}">
                <p14:modId xmlns:p14="http://schemas.microsoft.com/office/powerpoint/2010/main" val="1579011935"/>
              </p:ext>
            </p:extLst>
          </p:nvPr>
        </p:nvGraphicFramePr>
        <p:xfrm>
          <a:off x="756000" y="6265898"/>
          <a:ext cx="6047929" cy="914400"/>
        </p:xfrm>
        <a:graphic>
          <a:graphicData uri="http://schemas.openxmlformats.org/drawingml/2006/table">
            <a:tbl>
              <a:tblPr/>
              <a:tblGrid>
                <a:gridCol w="1189881"/>
                <a:gridCol w="1158329"/>
                <a:gridCol w="3680668"/>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Métrica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Valor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Leitura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22.000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Uma boa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N.º de vendas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Ticket médio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cerca de 1.700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Estável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Lucro bruto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5.500 MT (25%)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Abaixo do que a ficha de preço previa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CAC</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270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Acima do máximo de 250 MT: os anúncios estão a comer a margem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Dinheiro disponível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18.000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Chega para a próxima encomenda ao fornecedor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7" name="Text 2"/>
          <p:cNvSpPr txBox="1"/>
          <p:nvPr/>
        </p:nvSpPr>
        <p:spPr>
          <a:xfrm>
            <a:off x="756000" y="8655483"/>
            <a:ext cx="6084505" cy="96891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Uma semana “boa” na faturação escondia um problema no CAC. Sem painel, a Neyma só o descobriria no fim do mês. Na Parte 7 vais ver o que fazer com este sinal.</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A previsão de caixa do Tiago.</a:t>
            </a:r>
            <a:r>
              <a:rPr lang="en-US" sz="1000" dirty="0">
                <a:solidFill>
                  <a:srgbClr val="2C332E"/>
                </a:solidFill>
                <a:latin typeface="Google Sans" pitchFamily="34" charset="0"/>
                <a:ea typeface="Google Sans" pitchFamily="34" charset="-122"/>
                <a:cs typeface="Google Sans" pitchFamily="34" charset="-120"/>
              </a:rPr>
              <a:t> Os clientes pagavam no fim do mês; o designer freelancer, a renda e a internet saem antes.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793105"/>
                <a:gridCol w="1041202"/>
                <a:gridCol w="851892"/>
                <a:gridCol w="2394645"/>
                <a:gridCol w="948035"/>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Semana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Saldo inicial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Entradas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Saídas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Saldo final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11.000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11.000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13.000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13.000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9.000 (renda, internet, freelancer)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7.000 (um computador novo)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−3.000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3" name="Text 0"/>
          <p:cNvSpPr txBox="1"/>
          <p:nvPr/>
        </p:nvSpPr>
        <p:spPr>
          <a:xfrm>
            <a:off x="756000" y="2554423"/>
            <a:ext cx="6084505" cy="3616273"/>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Com a previsão, o Tiago adiou a compra do computador e passou a cobrar os pacotes mensais no início do mês, não no fim. O problema de caixa desapareceu.</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Separa o dinheiro pessoal do dinheiro do negócio.</a:t>
            </a:r>
            <a:r>
              <a:rPr lang="en-US" sz="1000" dirty="0">
                <a:solidFill>
                  <a:srgbClr val="2C332E"/>
                </a:solidFill>
                <a:latin typeface="Google Sans" pitchFamily="34" charset="0"/>
                <a:ea typeface="Google Sans" pitchFamily="34" charset="-122"/>
                <a:cs typeface="Google Sans" pitchFamily="34" charset="-120"/>
              </a:rPr>
              <a:t> Abre uma carteira móvel ou uma conta só para o negócio, e paga-te um valor fixo por mês. A Yara usava o mesmo M-Pesa para tudo e nunca sabia se o mês tinha dado lucro. Não precisas de um sistema caro: um caderno, uma folha de Excel ou uma folha do Google chegam.</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Sinal antecipado.</a:t>
            </a:r>
            <a:r>
              <a:rPr lang="en-US" sz="1000" dirty="0">
                <a:solidFill>
                  <a:srgbClr val="2C332E"/>
                </a:solidFill>
                <a:latin typeface="Google Sans" pitchFamily="34" charset="0"/>
                <a:ea typeface="Google Sans" pitchFamily="34" charset="-122"/>
                <a:cs typeface="Google Sans" pitchFamily="34" charset="-120"/>
              </a:rPr>
              <a:t> A Yara passou a pedir 50% de sinal em todas as encomendas. Os ingredientes deixaram de sair do bolso dela, e as encomendas canceladas à última hora deixaram de dar prejuízo.</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Olhar só para a faturação.</a:t>
            </a:r>
            <a:r>
              <a:rPr lang="en-US" sz="1000" dirty="0">
                <a:solidFill>
                  <a:srgbClr val="2C332E"/>
                </a:solidFill>
                <a:latin typeface="Google Sans" pitchFamily="34" charset="0"/>
                <a:ea typeface="Google Sans" pitchFamily="34" charset="-122"/>
                <a:cs typeface="Google Sans" pitchFamily="34" charset="-120"/>
              </a:rPr>
              <a:t> Vender mais com o CAC acima do máximo é perder dinheiro mais depressa.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Contar vendas que ainda não foram pagas.</a:t>
            </a:r>
            <a:r>
              <a:rPr lang="en-US" sz="1000" dirty="0">
                <a:solidFill>
                  <a:srgbClr val="2C332E"/>
                </a:solidFill>
                <a:latin typeface="Google Sans" pitchFamily="34" charset="0"/>
                <a:ea typeface="Google Sans" pitchFamily="34" charset="-122"/>
                <a:cs typeface="Google Sans" pitchFamily="34" charset="-120"/>
              </a:rPr>
              <a:t> No pagamento na entrega, uma encomenda recusada não é venda.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Misturar dinheiro pessoal e do negócio.</a:t>
            </a:r>
            <a:r>
              <a:rPr lang="en-US" sz="1000" dirty="0">
                <a:solidFill>
                  <a:srgbClr val="2C332E"/>
                </a:solidFill>
                <a:latin typeface="Google Sans" pitchFamily="34" charset="0"/>
                <a:ea typeface="Google Sans" pitchFamily="34" charset="-122"/>
                <a:cs typeface="Google Sans" pitchFamily="34" charset="-120"/>
              </a:rPr>
              <a:t> É a forma mais rápida de perder o controlo.</a:t>
            </a:r>
            <a:endParaRPr lang="en-US" sz="1000" dirty="0"/>
          </a:p>
        </p:txBody>
      </p:sp>
      <p:sp>
        <p:nvSpPr>
          <p:cNvPr id="4" name="Shape 1"/>
          <p:cNvSpPr/>
          <p:nvPr/>
        </p:nvSpPr>
        <p:spPr>
          <a:xfrm>
            <a:off x="756000" y="6287181"/>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5" name="Text 2"/>
          <p:cNvSpPr txBox="1"/>
          <p:nvPr/>
        </p:nvSpPr>
        <p:spPr>
          <a:xfrm>
            <a:off x="971950" y="6467114"/>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5: Painel semanal e previsão de caixa.</a:t>
            </a:r>
            <a:r>
              <a:rPr lang="en-US" sz="1000" dirty="0">
                <a:solidFill>
                  <a:srgbClr val="2C332E"/>
                </a:solidFill>
                <a:latin typeface="Google Sans" pitchFamily="34" charset="0"/>
                <a:ea typeface="Google Sans" pitchFamily="34" charset="-122"/>
                <a:cs typeface="Google Sans" pitchFamily="34" charset="-120"/>
              </a:rPr>
              <a:t> Usa a ficha de preço (Capítulo 4). Com a oferta, o preço e os números no lugar, concluis o nível da organização. </a:t>
            </a:r>
            <a:r>
              <a:rPr lang="en-US" sz="1000" b="1" dirty="0">
                <a:solidFill>
                  <a:srgbClr val="21703A"/>
                </a:solidFill>
                <a:latin typeface="Google Sans" pitchFamily="34" charset="0"/>
                <a:ea typeface="Google Sans" pitchFamily="34" charset="-122"/>
                <a:cs typeface="Google Sans" pitchFamily="34" charset="-120"/>
              </a:rPr>
              <a:t>Segue para o Capítulo 6:</a:t>
            </a:r>
            <a:r>
              <a:rPr lang="en-US" sz="1000" dirty="0">
                <a:solidFill>
                  <a:srgbClr val="2C332E"/>
                </a:solidFill>
                <a:latin typeface="Google Sans" pitchFamily="34" charset="0"/>
                <a:ea typeface="Google Sans" pitchFamily="34" charset="-122"/>
                <a:cs typeface="Google Sans" pitchFamily="34" charset="-120"/>
              </a:rPr>
              <a:t> começas a subir ao nível da previsibilidade pelas vendas, medindo-as com o painel que acabaste de criar.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756000" y="792000"/>
            <a:ext cx="6047929" cy="2741116"/>
          </a:xfrm>
          <a:prstGeom prst="roundRect">
            <a:avLst>
              <a:gd name="adj" fmla="val 8006"/>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87134"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3</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Vendas e clientes</a:t>
            </a:r>
            <a:endParaRPr lang="en-US" sz="2520" dirty="0"/>
          </a:p>
        </p:txBody>
      </p:sp>
      <p:sp>
        <p:nvSpPr>
          <p:cNvPr id="5" name="Shape 3"/>
          <p:cNvSpPr/>
          <p:nvPr/>
        </p:nvSpPr>
        <p:spPr>
          <a:xfrm>
            <a:off x="1079999" y="2687195"/>
            <a:ext cx="5399931" cy="0"/>
          </a:xfrm>
          <a:prstGeom prst="line">
            <a:avLst/>
          </a:prstGeom>
          <a:noFill/>
          <a:ln w="9525">
            <a:solidFill>
              <a:srgbClr val="CFE3C3"/>
            </a:solidFill>
            <a:prstDash val="solid"/>
          </a:ln>
        </p:spPr>
      </p:sp>
      <p:sp>
        <p:nvSpPr>
          <p:cNvPr id="6" name="Text 4"/>
          <p:cNvSpPr txBox="1"/>
          <p:nvPr/>
        </p:nvSpPr>
        <p:spPr>
          <a:xfrm>
            <a:off x="1079999" y="1977863"/>
            <a:ext cx="5436507" cy="121367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Vendas previsíveis vêm de um caminho que se mede, não do talento de um vendedor. Nesta parte transformas o teu processo comercial num funil com números, num guião que qualquer pessoa da equipa segue e numa estrutura que faz o cliente comprar outra vez.</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Nível 3 — Previsibilidade · Peças 6 a 8 · Recebes da Parte 2: preço, CAC máximo e painel · Entregas à Parte 4: um volume de pedidos que se repete todas as semanas.</a:t>
            </a:r>
            <a:endParaRPr lang="en-US" sz="1000" dirty="0"/>
          </a:p>
        </p:txBody>
      </p:sp>
      <p:sp>
        <p:nvSpPr>
          <p:cNvPr id="7" name="Text 5"/>
          <p:cNvSpPr txBox="1"/>
          <p:nvPr/>
        </p:nvSpPr>
        <p:spPr>
          <a:xfrm>
            <a:off x="756000" y="3857115"/>
            <a:ext cx="6084505" cy="1420910"/>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6</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Compreender o funil</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Com a Oferta 10X definida e o preço calculado, o nosso processo de vendas era simples e directo: atraíamos clientes com anúncios no Meta Ads (Facebook e Instagram) e convertíamos no WhatsApp Business. Usamos o mesmo processo para produtos e serviços de 100 a 3.500 MT.</a:t>
            </a:r>
            <a:endParaRPr lang="en-US" sz="1020" dirty="0"/>
          </a:p>
        </p:txBody>
      </p:sp>
      <p:pic>
        <p:nvPicPr>
          <p:cNvPr id="8" name="Image 0" descr="Processo de Vendas Directo: do anúncio à recompra">    </p:cNvPr>
          <p:cNvPicPr>
            <a:picLocks noChangeAspect="1"/>
          </p:cNvPicPr>
          <p:nvPr/>
        </p:nvPicPr>
        <p:blipFill>
          <a:blip r:embed="rId1"/>
          <a:stretch>
            <a:fillRect/>
          </a:stretch>
        </p:blipFill>
        <p:spPr>
          <a:xfrm>
            <a:off x="756000" y="5502559"/>
            <a:ext cx="6047780" cy="2906018"/>
          </a:xfrm>
          <a:prstGeom prst="rect">
            <a:avLst/>
          </a:prstGeom>
        </p:spPr>
      </p:pic>
      <p:sp>
        <p:nvSpPr>
          <p:cNvPr id="9" name="Shape 6"/>
          <p:cNvSpPr/>
          <p:nvPr/>
        </p:nvSpPr>
        <p:spPr>
          <a:xfrm>
            <a:off x="756000" y="8534486"/>
            <a:ext cx="6047929" cy="0"/>
          </a:xfrm>
          <a:prstGeom prst="line">
            <a:avLst/>
          </a:prstGeom>
          <a:noFill/>
          <a:ln w="9525">
            <a:solidFill>
              <a:srgbClr val="E2E8DF"/>
            </a:solidFill>
            <a:prstDash val="solid"/>
          </a:ln>
        </p:spPr>
      </p:sp>
      <p:sp>
        <p:nvSpPr>
          <p:cNvPr id="10" name="Text 7"/>
          <p:cNvSpPr txBox="1"/>
          <p:nvPr/>
        </p:nvSpPr>
        <p:spPr>
          <a:xfrm>
            <a:off x="756000" y="8651911"/>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Processo de Vendas Directo: do anúncio à recompra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11</a:t>
            </a:r>
            <a:r>
              <a:rPr lang="en-US" sz="830" dirty="0">
                <a:solidFill>
                  <a:srgbClr val="7E8780"/>
                </a:solidFill>
                <a:latin typeface="Google Sans" pitchFamily="34" charset="0"/>
                <a:ea typeface="Google Sans" pitchFamily="34" charset="-122"/>
                <a:cs typeface="Google Sans" pitchFamily="34" charset="-120"/>
              </a:rPr>
              <a:t> · O Processo de Vendas Directo</a:t>
            </a:r>
            <a:endParaRPr lang="en-US" sz="1020" dirty="0"/>
          </a:p>
        </p:txBody>
      </p:sp>
      <p:sp>
        <p:nvSpPr>
          <p:cNvPr id="11" name="Text 8"/>
          <p:cNvSpPr txBox="1"/>
          <p:nvPr/>
        </p:nvSpPr>
        <p:spPr>
          <a:xfrm>
            <a:off x="756000" y="9278329"/>
            <a:ext cx="6084505" cy="234005"/>
          </a:xfrm>
          <a:prstGeom prst="rect">
            <a:avLst/>
          </a:prstGeom>
          <a:noFill/>
          <a:ln/>
        </p:spPr>
        <p:txBody>
          <a:bodyPr wrap="square" lIns="0" tIns="0" rIns="0" bIns="0" rtlCol="0" anchor="t"/>
          <a:lstStyle/>
          <a:p>
            <a:pPr algn="l" marL="215900" indent="-215900">
              <a:lnSpc>
                <a:spcPts val="1627"/>
              </a:lnSpc>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Anúncio:</a:t>
            </a:r>
            <a:r>
              <a:rPr lang="en-US" sz="1000" dirty="0">
                <a:solidFill>
                  <a:srgbClr val="2C332E"/>
                </a:solidFill>
                <a:latin typeface="Google Sans" pitchFamily="34" charset="0"/>
                <a:ea typeface="Google Sans" pitchFamily="34" charset="-122"/>
                <a:cs typeface="Google Sans" pitchFamily="34" charset="-120"/>
              </a:rPr>
              <a:t> crias um anúncio no Facebook ou no Instagram que leva as pessoas ao WhatsApp.</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756000" y="792000"/>
            <a:ext cx="6084505" cy="1750266"/>
          </a:xfrm>
          <a:prstGeom prst="rect">
            <a:avLst/>
          </a:prstGeom>
          <a:noFill/>
          <a:ln/>
        </p:spPr>
        <p:txBody>
          <a:bodyPr wrap="square" lIns="0" tIns="0" rIns="0" bIns="0" rtlCol="0" anchor="t"/>
          <a:lstStyle/>
          <a:p>
            <a:pPr algn="l" marL="215900" indent="-215900">
              <a:lnSpc>
                <a:spcPts val="1627"/>
              </a:lnSpc>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Atendimento:</a:t>
            </a:r>
            <a:r>
              <a:rPr lang="en-US" sz="1000" dirty="0">
                <a:solidFill>
                  <a:srgbClr val="2C332E"/>
                </a:solidFill>
                <a:latin typeface="Google Sans" pitchFamily="34" charset="0"/>
                <a:ea typeface="Google Sans" pitchFamily="34" charset="-122"/>
                <a:cs typeface="Google Sans" pitchFamily="34" charset="-120"/>
              </a:rPr>
              <a:t> atendes com um script de vendas construído com o Diamante do Marketing, para converter essas pessoas em clientes.</a:t>
            </a:r>
            <a:endParaRPr lang="en-US" sz="1000" dirty="0"/>
          </a:p>
          <a:p>
            <a:pPr algn="l" marL="215900" indent="-215900">
              <a:lnSpc>
                <a:spcPts val="1627"/>
              </a:lnSpc>
              <a:spcBef>
                <a:spcPts val="396"/>
              </a:spcBef>
              <a:buSzPct val="100000"/>
              <a:buFont typeface="+mj-lt"/>
              <a:buAutoNum type="arabicPeriod" startAt="3"/>
            </a:pPr>
            <a:r>
              <a:rPr lang="en-US" sz="1000" b="1" dirty="0">
                <a:solidFill>
                  <a:srgbClr val="14181A"/>
                </a:solidFill>
                <a:latin typeface="Google Sans" pitchFamily="34" charset="0"/>
                <a:ea typeface="Google Sans" pitchFamily="34" charset="-122"/>
                <a:cs typeface="Google Sans" pitchFamily="34" charset="-120"/>
              </a:rPr>
              <a:t>Recolha de dados:</a:t>
            </a:r>
            <a:r>
              <a:rPr lang="en-US" sz="1000" dirty="0">
                <a:solidFill>
                  <a:srgbClr val="2C332E"/>
                </a:solidFill>
                <a:latin typeface="Google Sans" pitchFamily="34" charset="0"/>
                <a:ea typeface="Google Sans" pitchFamily="34" charset="-122"/>
                <a:cs typeface="Google Sans" pitchFamily="34" charset="-120"/>
              </a:rPr>
              <a:t> confirmas nome, contacto, endereço e hora de entrega.</a:t>
            </a:r>
            <a:endParaRPr lang="en-US" sz="1000" dirty="0"/>
          </a:p>
          <a:p>
            <a:pPr algn="l" marL="215900" indent="-215900">
              <a:lnSpc>
                <a:spcPts val="1627"/>
              </a:lnSpc>
              <a:spcBef>
                <a:spcPts val="396"/>
              </a:spcBef>
              <a:buSzPct val="100000"/>
              <a:buFont typeface="+mj-lt"/>
              <a:buAutoNum type="arabicPeriod" startAt="4"/>
            </a:pPr>
            <a:r>
              <a:rPr lang="en-US" sz="1000" b="1" dirty="0">
                <a:solidFill>
                  <a:srgbClr val="14181A"/>
                </a:solidFill>
                <a:latin typeface="Google Sans" pitchFamily="34" charset="0"/>
                <a:ea typeface="Google Sans" pitchFamily="34" charset="-122"/>
                <a:cs typeface="Google Sans" pitchFamily="34" charset="-120"/>
              </a:rPr>
              <a:t>Entrega:</a:t>
            </a:r>
            <a:r>
              <a:rPr lang="en-US" sz="1000" dirty="0">
                <a:solidFill>
                  <a:srgbClr val="2C332E"/>
                </a:solidFill>
                <a:latin typeface="Google Sans" pitchFamily="34" charset="0"/>
                <a:ea typeface="Google Sans" pitchFamily="34" charset="-122"/>
                <a:cs typeface="Google Sans" pitchFamily="34" charset="-120"/>
              </a:rPr>
              <a:t> entregas o produto ou o serviço.</a:t>
            </a:r>
            <a:endParaRPr lang="en-US" sz="1000" dirty="0"/>
          </a:p>
          <a:p>
            <a:pPr algn="l" marL="215900" indent="-215900">
              <a:lnSpc>
                <a:spcPts val="1627"/>
              </a:lnSpc>
              <a:spcBef>
                <a:spcPts val="396"/>
              </a:spcBef>
              <a:buSzPct val="100000"/>
              <a:buFont typeface="+mj-lt"/>
              <a:buAutoNum type="arabicPeriod" startAt="5"/>
            </a:pPr>
            <a:r>
              <a:rPr lang="en-US" sz="1000" b="1" dirty="0">
                <a:solidFill>
                  <a:srgbClr val="14181A"/>
                </a:solidFill>
                <a:latin typeface="Google Sans" pitchFamily="34" charset="0"/>
                <a:ea typeface="Google Sans" pitchFamily="34" charset="-122"/>
                <a:cs typeface="Google Sans" pitchFamily="34" charset="-120"/>
              </a:rPr>
              <a:t>Promoções:</a:t>
            </a:r>
            <a:r>
              <a:rPr lang="en-US" sz="1000" dirty="0">
                <a:solidFill>
                  <a:srgbClr val="2C332E"/>
                </a:solidFill>
                <a:latin typeface="Google Sans" pitchFamily="34" charset="0"/>
                <a:ea typeface="Google Sans" pitchFamily="34" charset="-122"/>
                <a:cs typeface="Google Sans" pitchFamily="34" charset="-120"/>
              </a:rPr>
              <a:t> o cliente passa a receber promoções de produtos e serviços novos e volta ao passo 2.</a:t>
            </a:r>
            <a:endParaRPr lang="en-US" sz="100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Em cada passo perde-se uma parte das pessoas. O funil mostra quantas passam de uma etapa para a seguinte. O teu trabalho é saber onde se perde mais e atacar essa etapa primeiro.</a:t>
            </a:r>
            <a:endParaRPr lang="en-US" sz="1000" dirty="0"/>
          </a:p>
        </p:txBody>
      </p:sp>
      <p:pic>
        <p:nvPicPr>
          <p:cNvPr id="3" name="Image 0" descr="Em cada etapa do funil perde-se uma parte dos contactos">    </p:cNvPr>
          <p:cNvPicPr>
            <a:picLocks noChangeAspect="1"/>
          </p:cNvPicPr>
          <p:nvPr/>
        </p:nvPicPr>
        <p:blipFill>
          <a:blip r:embed="rId1"/>
          <a:stretch>
            <a:fillRect/>
          </a:stretch>
        </p:blipFill>
        <p:spPr>
          <a:xfrm>
            <a:off x="756000" y="2766800"/>
            <a:ext cx="6047780" cy="3522911"/>
          </a:xfrm>
          <a:prstGeom prst="rect">
            <a:avLst/>
          </a:prstGeom>
        </p:spPr>
      </p:pic>
      <p:sp>
        <p:nvSpPr>
          <p:cNvPr id="4" name="Shape 1"/>
          <p:cNvSpPr/>
          <p:nvPr/>
        </p:nvSpPr>
        <p:spPr>
          <a:xfrm>
            <a:off x="756000" y="6415620"/>
            <a:ext cx="6047929" cy="0"/>
          </a:xfrm>
          <a:prstGeom prst="line">
            <a:avLst/>
          </a:prstGeom>
          <a:noFill/>
          <a:ln w="9525">
            <a:solidFill>
              <a:srgbClr val="E2E8DF"/>
            </a:solidFill>
            <a:prstDash val="solid"/>
          </a:ln>
        </p:spPr>
      </p:sp>
      <p:sp>
        <p:nvSpPr>
          <p:cNvPr id="5" name="Text 2"/>
          <p:cNvSpPr txBox="1"/>
          <p:nvPr/>
        </p:nvSpPr>
        <p:spPr>
          <a:xfrm>
            <a:off x="756000" y="6533045"/>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Em cada etapa do funil perde-se uma parte dos contactos</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12</a:t>
            </a:r>
            <a:r>
              <a:rPr lang="en-US" sz="830" dirty="0">
                <a:solidFill>
                  <a:srgbClr val="7E8780"/>
                </a:solidFill>
                <a:latin typeface="Google Sans" pitchFamily="34" charset="0"/>
                <a:ea typeface="Google Sans" pitchFamily="34" charset="-122"/>
                <a:cs typeface="Google Sans" pitchFamily="34" charset="-120"/>
              </a:rPr>
              <a:t> · Funil de vendas, do anúncio ao cliente</a:t>
            </a:r>
            <a:endParaRPr lang="en-US" sz="1020" dirty="0"/>
          </a:p>
        </p:txBody>
      </p:sp>
      <p:sp>
        <p:nvSpPr>
          <p:cNvPr id="6" name="Text 3"/>
          <p:cNvSpPr txBox="1"/>
          <p:nvPr/>
        </p:nvSpPr>
        <p:spPr>
          <a:xfrm>
            <a:off x="756000" y="7159463"/>
            <a:ext cx="6084505" cy="44057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Com as taxas de passagem conhecidas, a meta de vendas transforma-se numa meta de conversas. Trabalha de trás para a frente:</a:t>
            </a:r>
            <a:endParaRPr lang="en-US" sz="1000" dirty="0"/>
          </a:p>
        </p:txBody>
      </p:sp>
      <p:sp>
        <p:nvSpPr>
          <p:cNvPr id="7" name="Shape 4"/>
          <p:cNvSpPr/>
          <p:nvPr/>
        </p:nvSpPr>
        <p:spPr>
          <a:xfrm>
            <a:off x="756000" y="7687802"/>
            <a:ext cx="6047929" cy="845344"/>
          </a:xfrm>
          <a:prstGeom prst="roundRect">
            <a:avLst>
              <a:gd name="adj" fmla="val 17307"/>
            </a:avLst>
          </a:prstGeom>
          <a:solidFill>
            <a:srgbClr val="FFFFFF"/>
          </a:solidFill>
          <a:ln w="9525">
            <a:solidFill>
              <a:srgbClr val="DCE8D4"/>
            </a:solidFill>
            <a:prstDash val="solid"/>
          </a:ln>
          <a:effectLst>
            <a:outerShdw sx="100000" sy="100000" kx="0" ky="0" algn="bl" rotWithShape="0" blurRad="101600" dist="25400" dir="5400000">
              <a:srgbClr val="1E501E">
                <a:alpha val="15000"/>
              </a:srgbClr>
            </a:outerShdw>
          </a:effectLst>
        </p:spPr>
      </p:sp>
      <p:sp>
        <p:nvSpPr>
          <p:cNvPr id="8" name="Text 5"/>
          <p:cNvSpPr txBox="1"/>
          <p:nvPr/>
        </p:nvSpPr>
        <p:spPr>
          <a:xfrm>
            <a:off x="975456" y="7687802"/>
            <a:ext cx="5609017" cy="845344"/>
          </a:xfrm>
          <a:prstGeom prst="rect">
            <a:avLst/>
          </a:prstGeom>
          <a:noFill/>
          <a:ln/>
        </p:spPr>
        <p:txBody>
          <a:bodyPr wrap="square" lIns="0" tIns="0" rIns="0" bIns="0" rtlCol="0" anchor="ctr"/>
          <a:lstStyle/>
          <a:p>
            <a:pPr indent="0" marL="0">
              <a:buNone/>
            </a:pPr>
            <a:r>
              <a:rPr lang="en-US" sz="1050" b="1" dirty="0">
                <a:solidFill>
                  <a:srgbClr val="21703A"/>
                </a:solidFill>
                <a:latin typeface="Google Sans" pitchFamily="34" charset="0"/>
                <a:ea typeface="Google Sans" pitchFamily="34" charset="-122"/>
                <a:cs typeface="Google Sans" pitchFamily="34" charset="-120"/>
              </a:rPr>
              <a:t>Conversas necessárias</a:t>
            </a:r>
            <a:r>
              <a:rPr lang="en-US" sz="1050" b="1" dirty="0">
                <a:solidFill>
                  <a:srgbClr val="3E9A45"/>
                </a:solidFill>
                <a:latin typeface="Google Sans" pitchFamily="34" charset="0"/>
                <a:ea typeface="Google Sans" pitchFamily="34" charset="-122"/>
                <a:cs typeface="Google Sans" pitchFamily="34" charset="-120"/>
              </a:rPr>
              <a:t>  =  </a:t>
            </a:r>
            <a:r>
              <a:rPr lang="en-US" sz="1050" dirty="0">
                <a:solidFill>
                  <a:srgbClr val="14181A"/>
                </a:solidFill>
                <a:latin typeface="Google Sans" pitchFamily="34" charset="0"/>
                <a:ea typeface="Google Sans" pitchFamily="34" charset="-122"/>
                <a:cs typeface="Google Sans" pitchFamily="34" charset="-120"/>
              </a:rPr>
              <a:t>Meta de vendas ÷ Taxa de conversão de conversa em venda</a:t>
            </a:r>
            <a:endParaRPr lang="en-US" sz="1050" dirty="0"/>
          </a:p>
        </p:txBody>
      </p:sp>
      <p:sp>
        <p:nvSpPr>
          <p:cNvPr id="9" name="Text 6"/>
          <p:cNvSpPr txBox="1"/>
          <p:nvPr/>
        </p:nvSpPr>
        <p:spPr>
          <a:xfrm>
            <a:off x="756000" y="8713079"/>
            <a:ext cx="6084505" cy="44057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No exemplo da figura, 200 conversas geram 12 vendas: uma conversão de 6%. Para 24 vendas, são precisas 400 conversas — ou melhorar uma das etapas.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756000" y="792000"/>
            <a:ext cx="6084505" cy="1426119"/>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Funil.</a:t>
            </a:r>
            <a:r>
              <a:rPr lang="en-US" sz="1000" dirty="0">
                <a:solidFill>
                  <a:srgbClr val="2C332E"/>
                </a:solidFill>
                <a:latin typeface="Google Sans" pitchFamily="34" charset="0"/>
                <a:ea typeface="Google Sans" pitchFamily="34" charset="-122"/>
                <a:cs typeface="Google Sans" pitchFamily="34" charset="-120"/>
              </a:rPr>
              <a:t> Regista os números reais do último mês em cada etapa e calcula a taxa de passagem. A etapa com a pior taxa, comparada com a tua própria história, é a que trabalhas no Capítulo 7.</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Na prática: três funis diferentes</a:t>
            </a:r>
            <a:endParaRPr lang="en-US" sz="100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Célia Makeup — o funil que perde no fim.</a:t>
            </a:r>
            <a:r>
              <a:rPr lang="en-US" sz="1000" dirty="0">
                <a:solidFill>
                  <a:srgbClr val="2C332E"/>
                </a:solidFill>
                <a:latin typeface="Google Sans" pitchFamily="34" charset="0"/>
                <a:ea typeface="Google Sans" pitchFamily="34" charset="-122"/>
                <a:cs typeface="Google Sans" pitchFamily="34" charset="-120"/>
              </a:rPr>
              <a:t> Num mês:</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56000" y="2315405"/>
          <a:ext cx="6047929" cy="914400"/>
        </p:xfrm>
        <a:graphic>
          <a:graphicData uri="http://schemas.openxmlformats.org/drawingml/2006/table">
            <a:tbl>
              <a:tblPr/>
              <a:tblGrid>
                <a:gridCol w="3706118"/>
                <a:gridCol w="1184523"/>
                <a:gridCol w="1138238"/>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Etapa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Pessoas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Passam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Visualizações no Instagram e TikTok</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3.000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Mensagens no WhatsApp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Pedem preço e horário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Marcam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Aparecem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4391408"/>
            <a:ext cx="6084505" cy="4764334"/>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Cinco clientes por mês marcavam e não apareciam — muitas vezes ao sábado, o dia mais disputado. A Célia passou a pedir um sinal de 300 MT por M-Pesa na marcação, descontado no preço final. As faltas quase desapareceram.</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Excel em 7 Dias — o funil com aula grátis.</a:t>
            </a:r>
            <a:r>
              <a:rPr lang="en-US" sz="1000" dirty="0">
                <a:solidFill>
                  <a:srgbClr val="2C332E"/>
                </a:solidFill>
                <a:latin typeface="Google Sans" pitchFamily="34" charset="0"/>
                <a:ea typeface="Google Sans" pitchFamily="34" charset="-122"/>
                <a:cs typeface="Google Sans" pitchFamily="34" charset="-120"/>
              </a:rPr>
              <a:t> Num mês, 30.000 visualizações no TikTok geram 600 mensagens. Quem escreve recebe uma aula grátis de 10 minutos; 300 pessoas vêem-na até ao fim e 60 compram o curso. São 10% das mensagens: para 120 alunos por mês, o Hélder precisa de 1.200 mensagens — ou de uma aula grátis melhor.</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TS Design — o funil de quem vende serviços a negócios.</a:t>
            </a:r>
            <a:r>
              <a:rPr lang="en-US" sz="1000" dirty="0">
                <a:solidFill>
                  <a:srgbClr val="2C332E"/>
                </a:solidFill>
                <a:latin typeface="Google Sans" pitchFamily="34" charset="0"/>
                <a:ea typeface="Google Sans" pitchFamily="34" charset="-122"/>
                <a:cs typeface="Google Sans" pitchFamily="34" charset="-120"/>
              </a:rPr>
              <a:t> Num mês, 40 conversas (Instagram, indicações e grupos de empreendedores no WhatsApp) dão 15 briefings, 8 propostas e 4 clientes novos. Entre a primeira mensagem e o “sim” passam uma a três semanas. Neste tipo de negócio, o funil mede-se ao mês, não à semana.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Não é só anúncios.</a:t>
            </a:r>
            <a:r>
              <a:rPr lang="en-US" sz="1000" dirty="0">
                <a:solidFill>
                  <a:srgbClr val="2C332E"/>
                </a:solidFill>
                <a:latin typeface="Google Sans" pitchFamily="34" charset="0"/>
                <a:ea typeface="Google Sans" pitchFamily="34" charset="-122"/>
                <a:cs typeface="Google Sans" pitchFamily="34" charset="-120"/>
              </a:rPr>
              <a:t> O topo do funil também se alimenta de canais gratuitos: o status do WhatsApp, os grupos de Facebook de compra e venda, o Marketplace, o TikTok orgânico, parcerias com páginas e criadores locais e as indicações de clientes. No fecho de cada venda, pergunta “Como nos conheceste?” e regista a resposta: vais descobrir que canal vende de facto.</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Medir gostos e seguidores</a:t>
            </a:r>
            <a:r>
              <a:rPr lang="en-US" sz="1000" dirty="0">
                <a:solidFill>
                  <a:srgbClr val="2C332E"/>
                </a:solidFill>
                <a:latin typeface="Google Sans" pitchFamily="34" charset="0"/>
                <a:ea typeface="Google Sans" pitchFamily="34" charset="-122"/>
                <a:cs typeface="Google Sans" pitchFamily="34" charset="-120"/>
              </a:rPr>
              <a:t> em vez de conversas e vendas.</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Não registar a origem de cada cliente.</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Olhar só para o topo do funil.</a:t>
            </a:r>
            <a:r>
              <a:rPr lang="en-US" sz="1000" dirty="0">
                <a:solidFill>
                  <a:srgbClr val="2C332E"/>
                </a:solidFill>
                <a:latin typeface="Google Sans" pitchFamily="34" charset="0"/>
                <a:ea typeface="Google Sans" pitchFamily="34" charset="-122"/>
                <a:cs typeface="Google Sans" pitchFamily="34" charset="-120"/>
              </a:rPr>
              <a:t> Na Célia, o problema estava na última etapa.</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756000" y="792000"/>
            <a:ext cx="6047929" cy="979587"/>
          </a:xfrm>
          <a:prstGeom prst="roundRect">
            <a:avLst>
              <a:gd name="adj" fmla="val 14935"/>
            </a:avLst>
          </a:prstGeom>
          <a:solidFill>
            <a:srgbClr val="E8F4E0"/>
          </a:solidFill>
          <a:ln/>
          <a:effectLst>
            <a:outerShdw sx="100000" sy="100000" kx="0" ky="0" algn="bl" rotWithShape="0" blurRad="127000" dist="38100" dir="5400000">
              <a:srgbClr val="1E501E">
                <a:alpha val="18000"/>
              </a:srgbClr>
            </a:outerShdw>
          </a:effectLst>
        </p:spPr>
      </p:sp>
      <p:sp>
        <p:nvSpPr>
          <p:cNvPr id="3" name="Text 1"/>
          <p:cNvSpPr txBox="1"/>
          <p:nvPr/>
        </p:nvSpPr>
        <p:spPr>
          <a:xfrm>
            <a:off x="971950" y="971933"/>
            <a:ext cx="5652605" cy="638008"/>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6: Funil.</a:t>
            </a:r>
            <a:r>
              <a:rPr lang="en-US" sz="1000" dirty="0">
                <a:solidFill>
                  <a:srgbClr val="2C332E"/>
                </a:solidFill>
                <a:latin typeface="Google Sans" pitchFamily="34" charset="0"/>
                <a:ea typeface="Google Sans" pitchFamily="34" charset="-122"/>
                <a:cs typeface="Google Sans" pitchFamily="34" charset="-120"/>
              </a:rPr>
              <a:t> Usa a Oferta 10X (Capítulo 3) no anúncio e o painel (Capítulo 5) para medir.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conversas novas no WhatsApp e taxa de conversão. </a:t>
            </a:r>
            <a:r>
              <a:rPr lang="en-US" sz="1000" b="1" dirty="0">
                <a:solidFill>
                  <a:srgbClr val="21703A"/>
                </a:solidFill>
                <a:latin typeface="Google Sans" pitchFamily="34" charset="0"/>
                <a:ea typeface="Google Sans" pitchFamily="34" charset="-122"/>
                <a:cs typeface="Google Sans" pitchFamily="34" charset="-120"/>
              </a:rPr>
              <a:t>Segue para o Capítulo 7:</a:t>
            </a:r>
            <a:r>
              <a:rPr lang="en-US" sz="1000" dirty="0">
                <a:solidFill>
                  <a:srgbClr val="2C332E"/>
                </a:solidFill>
                <a:latin typeface="Google Sans" pitchFamily="34" charset="0"/>
                <a:ea typeface="Google Sans" pitchFamily="34" charset="-122"/>
                <a:cs typeface="Google Sans" pitchFamily="34" charset="-120"/>
              </a:rPr>
              <a:t> a etapa do funil que mais pessoas perde é quase sempre o atendimento.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756000" y="792000"/>
            <a:ext cx="6084505" cy="5970288"/>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7</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Organizar qualificação, atendimento, seguimento e fecho</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No WhatsApp usávamos outra vez o Diamante do Marketing, agora para criar scripts de vendas. Um guião não é um texto decorado: é uma sequência que garante que nenhum cliente fica sem diagnóstico, sem resposta às suas dúvidas ou sem seguimento.</a:t>
            </a:r>
            <a:endParaRPr lang="en-US" sz="10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Qualificação.</a:t>
            </a:r>
            <a:r>
              <a:rPr lang="en-US" sz="1000" dirty="0">
                <a:solidFill>
                  <a:srgbClr val="2C332E"/>
                </a:solidFill>
                <a:latin typeface="Google Sans" pitchFamily="34" charset="0"/>
                <a:ea typeface="Google Sans" pitchFamily="34" charset="-122"/>
                <a:cs typeface="Google Sans" pitchFamily="34" charset="-120"/>
              </a:rPr>
              <a:t> Antes de investir tempo, confirma quatro pontos:</a:t>
            </a:r>
            <a:endParaRPr lang="en-US" sz="1020" dirty="0"/>
          </a:p>
          <a:p>
            <a:pPr algn="l" marL="215900" indent="-215900">
              <a:lnSpc>
                <a:spcPts val="1627"/>
              </a:lnSpc>
              <a:spcBef>
                <a:spcPts val="907"/>
              </a:spcBef>
              <a:buSzPct val="100000"/>
              <a:buChar char="•"/>
            </a:pPr>
            <a:r>
              <a:rPr lang="en-US" sz="1000" b="1" dirty="0">
                <a:solidFill>
                  <a:srgbClr val="14181A"/>
                </a:solidFill>
                <a:latin typeface="Google Sans" pitchFamily="34" charset="0"/>
                <a:ea typeface="Google Sans" pitchFamily="34" charset="-122"/>
                <a:cs typeface="Google Sans" pitchFamily="34" charset="-120"/>
              </a:rPr>
              <a:t>Necessidade:</a:t>
            </a:r>
            <a:r>
              <a:rPr lang="en-US" sz="1000" dirty="0">
                <a:solidFill>
                  <a:srgbClr val="2C332E"/>
                </a:solidFill>
                <a:latin typeface="Google Sans" pitchFamily="34" charset="0"/>
                <a:ea typeface="Google Sans" pitchFamily="34" charset="-122"/>
                <a:cs typeface="Google Sans" pitchFamily="34" charset="-120"/>
              </a:rPr>
              <a:t> a pessoa tem o problema que a oferta resolve?</a:t>
            </a:r>
            <a:endParaRPr lang="en-US" sz="10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Orçamento:</a:t>
            </a:r>
            <a:r>
              <a:rPr lang="en-US" sz="1000" dirty="0">
                <a:solidFill>
                  <a:srgbClr val="2C332E"/>
                </a:solidFill>
                <a:latin typeface="Google Sans" pitchFamily="34" charset="0"/>
                <a:ea typeface="Google Sans" pitchFamily="34" charset="-122"/>
                <a:cs typeface="Google Sans" pitchFamily="34" charset="-120"/>
              </a:rPr>
              <a:t> consegue pagar o preço?</a:t>
            </a:r>
            <a:endParaRPr lang="en-US" sz="10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Decisão:</a:t>
            </a:r>
            <a:r>
              <a:rPr lang="en-US" sz="1000" dirty="0">
                <a:solidFill>
                  <a:srgbClr val="2C332E"/>
                </a:solidFill>
                <a:latin typeface="Google Sans" pitchFamily="34" charset="0"/>
                <a:ea typeface="Google Sans" pitchFamily="34" charset="-122"/>
                <a:cs typeface="Google Sans" pitchFamily="34" charset="-120"/>
              </a:rPr>
              <a:t> é ela quem decide, ou quem decide está na conversa?</a:t>
            </a:r>
            <a:endParaRPr lang="en-US" sz="10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Prazo:</a:t>
            </a:r>
            <a:r>
              <a:rPr lang="en-US" sz="1000" dirty="0">
                <a:solidFill>
                  <a:srgbClr val="2C332E"/>
                </a:solidFill>
                <a:latin typeface="Google Sans" pitchFamily="34" charset="0"/>
                <a:ea typeface="Google Sans" pitchFamily="34" charset="-122"/>
                <a:cs typeface="Google Sans" pitchFamily="34" charset="-120"/>
              </a:rPr>
              <a:t> quando precisa da solução?</a:t>
            </a:r>
            <a:endParaRPr lang="en-US" sz="1020" dirty="0"/>
          </a:p>
          <a:p>
            <a:pPr algn="l" indent="0" marL="0">
              <a:lnSpc>
                <a:spcPts val="1627"/>
              </a:lnSpc>
              <a:spcBef>
                <a:spcPts val="991"/>
              </a:spcBef>
              <a:buNone/>
            </a:pPr>
            <a:r>
              <a:rPr lang="en-US" sz="1000" b="1" dirty="0">
                <a:solidFill>
                  <a:srgbClr val="14181A"/>
                </a:solidFill>
                <a:latin typeface="Google Sans" pitchFamily="34" charset="0"/>
                <a:ea typeface="Google Sans" pitchFamily="34" charset="-122"/>
                <a:cs typeface="Google Sans" pitchFamily="34" charset="-120"/>
              </a:rPr>
              <a:t>Ferramenta — Guião comercial com o Diamante.</a:t>
            </a:r>
            <a:endParaRPr lang="en-US" sz="1020" dirty="0"/>
          </a:p>
          <a:p>
            <a:pPr algn="l" marL="215900" indent="-215900">
              <a:lnSpc>
                <a:spcPts val="1627"/>
              </a:lnSpc>
              <a:spcBef>
                <a:spcPts val="907"/>
              </a:spcBef>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Abertura:</a:t>
            </a:r>
            <a:r>
              <a:rPr lang="en-US" sz="1000" dirty="0">
                <a:solidFill>
                  <a:srgbClr val="2C332E"/>
                </a:solidFill>
                <a:latin typeface="Google Sans" pitchFamily="34" charset="0"/>
                <a:ea typeface="Google Sans" pitchFamily="34" charset="-122"/>
                <a:cs typeface="Google Sans" pitchFamily="34" charset="-120"/>
              </a:rPr>
              <a:t> responde depressa, apresenta-te e confirma o que a pessoa viu no anúncio.</a:t>
            </a:r>
            <a:endParaRPr lang="en-US" sz="102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Problema:</a:t>
            </a:r>
            <a:r>
              <a:rPr lang="en-US" sz="1000" dirty="0">
                <a:solidFill>
                  <a:srgbClr val="2C332E"/>
                </a:solidFill>
                <a:latin typeface="Google Sans" pitchFamily="34" charset="0"/>
                <a:ea typeface="Google Sans" pitchFamily="34" charset="-122"/>
                <a:cs typeface="Google Sans" pitchFamily="34" charset="-120"/>
              </a:rPr>
              <a:t> pergunta pela dor, com as palavras do cliente. Há quanto tempo? O que já tentou?</a:t>
            </a:r>
            <a:endParaRPr lang="en-US" sz="1020" dirty="0"/>
          </a:p>
          <a:p>
            <a:pPr algn="l" marL="215900" indent="-215900">
              <a:lnSpc>
                <a:spcPts val="1627"/>
              </a:lnSpc>
              <a:spcBef>
                <a:spcPts val="396"/>
              </a:spcBef>
              <a:buSzPct val="100000"/>
              <a:buFont typeface="+mj-lt"/>
              <a:buAutoNum type="arabicPeriod" startAt="3"/>
            </a:pPr>
            <a:r>
              <a:rPr lang="en-US" sz="1000" b="1" dirty="0">
                <a:solidFill>
                  <a:srgbClr val="14181A"/>
                </a:solidFill>
                <a:latin typeface="Google Sans" pitchFamily="34" charset="0"/>
                <a:ea typeface="Google Sans" pitchFamily="34" charset="-122"/>
                <a:cs typeface="Google Sans" pitchFamily="34" charset="-120"/>
              </a:rPr>
              <a:t>Consumidor:</a:t>
            </a:r>
            <a:r>
              <a:rPr lang="en-US" sz="1000" dirty="0">
                <a:solidFill>
                  <a:srgbClr val="2C332E"/>
                </a:solidFill>
                <a:latin typeface="Google Sans" pitchFamily="34" charset="0"/>
                <a:ea typeface="Google Sans" pitchFamily="34" charset="-122"/>
                <a:cs typeface="Google Sans" pitchFamily="34" charset="-120"/>
              </a:rPr>
              <a:t> escuta os desejos e as dores; responde às dúvidas dos 3D IDs do avatar antes de elas virarem objeções.</a:t>
            </a:r>
            <a:endParaRPr lang="en-US" sz="1020" dirty="0"/>
          </a:p>
          <a:p>
            <a:pPr algn="l" marL="215900" indent="-215900">
              <a:lnSpc>
                <a:spcPts val="1627"/>
              </a:lnSpc>
              <a:spcBef>
                <a:spcPts val="396"/>
              </a:spcBef>
              <a:buSzPct val="100000"/>
              <a:buFont typeface="+mj-lt"/>
              <a:buAutoNum type="arabicPeriod" startAt="4"/>
            </a:pPr>
            <a:r>
              <a:rPr lang="en-US" sz="1000" b="1" dirty="0">
                <a:solidFill>
                  <a:srgbClr val="14181A"/>
                </a:solidFill>
                <a:latin typeface="Google Sans" pitchFamily="34" charset="0"/>
                <a:ea typeface="Google Sans" pitchFamily="34" charset="-122"/>
                <a:cs typeface="Google Sans" pitchFamily="34" charset="-120"/>
              </a:rPr>
              <a:t>Veículo e transformação:</a:t>
            </a:r>
            <a:r>
              <a:rPr lang="en-US" sz="1000" dirty="0">
                <a:solidFill>
                  <a:srgbClr val="2C332E"/>
                </a:solidFill>
                <a:latin typeface="Google Sans" pitchFamily="34" charset="0"/>
                <a:ea typeface="Google Sans" pitchFamily="34" charset="-122"/>
                <a:cs typeface="Google Sans" pitchFamily="34" charset="-120"/>
              </a:rPr>
              <a:t> apresenta o produto como o caminho para o resultado que o cliente descreveu.</a:t>
            </a:r>
            <a:endParaRPr lang="en-US" sz="1020" dirty="0"/>
          </a:p>
          <a:p>
            <a:pPr algn="l" marL="215900" indent="-215900">
              <a:lnSpc>
                <a:spcPts val="1627"/>
              </a:lnSpc>
              <a:spcBef>
                <a:spcPts val="396"/>
              </a:spcBef>
              <a:buSzPct val="100000"/>
              <a:buFont typeface="+mj-lt"/>
              <a:buAutoNum type="arabicPeriod" startAt="5"/>
            </a:pPr>
            <a:r>
              <a:rPr lang="en-US" sz="1000" b="1" dirty="0">
                <a:solidFill>
                  <a:srgbClr val="14181A"/>
                </a:solidFill>
                <a:latin typeface="Google Sans" pitchFamily="34" charset="0"/>
                <a:ea typeface="Google Sans" pitchFamily="34" charset="-122"/>
                <a:cs typeface="Google Sans" pitchFamily="34" charset="-120"/>
              </a:rPr>
              <a:t>Fecho e recolha de dados:</a:t>
            </a:r>
            <a:r>
              <a:rPr lang="en-US" sz="1000" dirty="0">
                <a:solidFill>
                  <a:srgbClr val="2C332E"/>
                </a:solidFill>
                <a:latin typeface="Google Sans" pitchFamily="34" charset="0"/>
                <a:ea typeface="Google Sans" pitchFamily="34" charset="-122"/>
                <a:cs typeface="Google Sans" pitchFamily="34" charset="-120"/>
              </a:rPr>
              <a:t> propõe o pedido e confirma nome, endereço, contacto e hora de entrega. Nunca termines com “depois diz-me alguma coisa”.</a:t>
            </a:r>
            <a:endParaRPr lang="en-US" sz="1020" dirty="0"/>
          </a:p>
          <a:p>
            <a:pPr algn="l" indent="0" marL="0">
              <a:lnSpc>
                <a:spcPts val="1627"/>
              </a:lnSpc>
              <a:spcBef>
                <a:spcPts val="991"/>
              </a:spcBef>
              <a:buNone/>
            </a:pPr>
            <a:r>
              <a:rPr lang="en-US" sz="1000" b="1" dirty="0">
                <a:solidFill>
                  <a:srgbClr val="14181A"/>
                </a:solidFill>
                <a:latin typeface="Google Sans" pitchFamily="34" charset="0"/>
                <a:ea typeface="Google Sans" pitchFamily="34" charset="-122"/>
                <a:cs typeface="Google Sans" pitchFamily="34" charset="-120"/>
              </a:rPr>
              <a:t>Seguimento.</a:t>
            </a:r>
            <a:r>
              <a:rPr lang="en-US" sz="1000" dirty="0">
                <a:solidFill>
                  <a:srgbClr val="2C332E"/>
                </a:solidFill>
                <a:latin typeface="Google Sans" pitchFamily="34" charset="0"/>
                <a:ea typeface="Google Sans" pitchFamily="34" charset="-122"/>
                <a:cs typeface="Google Sans" pitchFamily="34" charset="-120"/>
              </a:rPr>
              <a:t> A maioria das vendas perde-se por falta de seguimento, não por recusa. Define a cadência e regista cada contacto:</a:t>
            </a:r>
            <a:endParaRPr lang="en-US" sz="102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56000" y="6859574"/>
          <a:ext cx="6047929" cy="914400"/>
        </p:xfrm>
        <a:graphic>
          <a:graphicData uri="http://schemas.openxmlformats.org/drawingml/2006/table">
            <a:tbl>
              <a:tblPr/>
              <a:tblGrid>
                <a:gridCol w="1066651"/>
                <a:gridCol w="4962227"/>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Momento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Acção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Mesmo 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Responder à última dúvida e repetir a Oferta 10X</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Partilhar um testemunho ou foto de resultado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Lembrar a transformação e propor a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Oferecer uma alternativa mais acessível (downsell)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Depois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Passar o contacto para as listas do WhatsApp Business (Capítulo 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756000" y="792000"/>
            <a:ext cx="6084505" cy="554432"/>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uma conversa que vende</a:t>
            </a:r>
            <a:endParaRPr lang="en-US" sz="1120" dirty="0"/>
          </a:p>
          <a:p>
            <a:pPr algn="l" indent="0" marL="0">
              <a:lnSpc>
                <a:spcPts val="1627"/>
              </a:lnSpc>
              <a:spcBef>
                <a:spcPts val="708"/>
              </a:spcBef>
              <a:buNone/>
            </a:pPr>
            <a:r>
              <a:rPr lang="en-US" sz="1000" dirty="0">
                <a:solidFill>
                  <a:srgbClr val="2C332E"/>
                </a:solidFill>
                <a:latin typeface="Google Sans" pitchFamily="34" charset="0"/>
                <a:ea typeface="Google Sans" pitchFamily="34" charset="-122"/>
                <a:cs typeface="Google Sans" pitchFamily="34" charset="-120"/>
              </a:rPr>
              <a:t>Uma conversa na Neyma Store, depois do guião:</a:t>
            </a:r>
            <a:endParaRPr lang="en-US" sz="1120" dirty="0"/>
          </a:p>
        </p:txBody>
      </p:sp>
      <p:sp>
        <p:nvSpPr>
          <p:cNvPr id="3" name="Shape 1"/>
          <p:cNvSpPr/>
          <p:nvPr/>
        </p:nvSpPr>
        <p:spPr>
          <a:xfrm>
            <a:off x="756000" y="1462917"/>
            <a:ext cx="6047929" cy="2043410"/>
          </a:xfrm>
          <a:prstGeom prst="roundRect">
            <a:avLst>
              <a:gd name="adj" fmla="val 6265"/>
            </a:avLst>
          </a:prstGeom>
          <a:solidFill>
            <a:srgbClr val="F3F6F2"/>
          </a:solidFill>
          <a:ln/>
        </p:spPr>
      </p:sp>
      <p:sp>
        <p:nvSpPr>
          <p:cNvPr id="4" name="Text 2"/>
          <p:cNvSpPr txBox="1"/>
          <p:nvPr/>
        </p:nvSpPr>
        <p:spPr>
          <a:xfrm>
            <a:off x="935933" y="1588826"/>
            <a:ext cx="5724638" cy="1809881"/>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Cliente:</a:t>
            </a:r>
            <a:r>
              <a:rPr lang="en-US" sz="1000" dirty="0">
                <a:solidFill>
                  <a:srgbClr val="2C332E"/>
                </a:solidFill>
                <a:latin typeface="Google Sans" pitchFamily="34" charset="0"/>
                <a:ea typeface="Google Sans" pitchFamily="34" charset="-122"/>
                <a:cs typeface="Google Sans" pitchFamily="34" charset="-120"/>
              </a:rPr>
              <a:t> Boa noite, quanto custam os ténis brancos?</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Neyma:</a:t>
            </a:r>
            <a:r>
              <a:rPr lang="en-US" sz="1000" dirty="0">
                <a:solidFill>
                  <a:srgbClr val="2C332E"/>
                </a:solidFill>
                <a:latin typeface="Google Sans" pitchFamily="34" charset="0"/>
                <a:ea typeface="Google Sans" pitchFamily="34" charset="-122"/>
                <a:cs typeface="Google Sans" pitchFamily="34" charset="-120"/>
              </a:rPr>
              <a:t> Boa noite! Aqui é a Neyma, da Neyma Store. Que número calças? E são para o dia-a-dia ou para sair?</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Cliente:</a:t>
            </a:r>
            <a:r>
              <a:rPr lang="en-US" sz="1000" dirty="0">
                <a:solidFill>
                  <a:srgbClr val="2C332E"/>
                </a:solidFill>
                <a:latin typeface="Google Sans" pitchFamily="34" charset="0"/>
                <a:ea typeface="Google Sans" pitchFamily="34" charset="-122"/>
                <a:cs typeface="Google Sans" pitchFamily="34" charset="-120"/>
              </a:rPr>
              <a:t> 38, para o dia-a-dia. Ando muito a pé.</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Neyma:</a:t>
            </a:r>
            <a:r>
              <a:rPr lang="en-US" sz="1000" dirty="0">
                <a:solidFill>
                  <a:srgbClr val="2C332E"/>
                </a:solidFill>
                <a:latin typeface="Google Sans" pitchFamily="34" charset="0"/>
                <a:ea typeface="Google Sans" pitchFamily="34" charset="-122"/>
                <a:cs typeface="Google Sans" pitchFamily="34" charset="-120"/>
              </a:rPr>
              <a:t> Então são perfeitos: a sola é alta mas almofadada, e as clientes usam-nos o dia todo sem dores. Olha este vídeo da Shaira a usá-los na faculdade. Custam 1.850 MT, entregamos amanhã e pagas na entrega. Temos o 38 em branco e em preto — qual preferes?</a:t>
            </a:r>
            <a:endParaRPr lang="en-US" sz="1000" dirty="0"/>
          </a:p>
        </p:txBody>
      </p:sp>
      <p:sp>
        <p:nvSpPr>
          <p:cNvPr id="5" name="Text 3"/>
          <p:cNvSpPr txBox="1"/>
          <p:nvPr/>
        </p:nvSpPr>
        <p:spPr>
          <a:xfrm>
            <a:off x="756000" y="3686261"/>
            <a:ext cx="6084505" cy="762345"/>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Neyma não respondeu ao preço primeiro: fez o diagnóstico, ligou o produto à necessidade da cliente, mostrou prova e fechou com uma pergunta de escolha, que leva directamente à recolha de dados.</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As objeções mais comuns:</a:t>
            </a:r>
            <a:endParaRPr lang="en-US" sz="1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56000" y="4545892"/>
          <a:ext cx="6047929" cy="914400"/>
        </p:xfrm>
        <a:graphic>
          <a:graphicData uri="http://schemas.openxmlformats.org/drawingml/2006/table">
            <a:tbl>
              <a:tblPr/>
              <a:tblGrid>
                <a:gridCol w="1619696"/>
                <a:gridCol w="4409182"/>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Objeção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responder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“Está caro.”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Compara com o custo de comprar barato duas vezes; mostra a qualidade num vídeo de perto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“É igual à foto?”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Envia um vídeo real da peça, feito por ti, e não fotos da internet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“Já fui enganada online.”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Pagamento na entrega, ou um sinal pequeno por M-Pesa; testemunhos com nome e bairro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“Vou pensar.”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“Claro. O que te deixa com dúvida?” — e responde à dúvida real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“Entregam em Nampula?”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Envio por transportadora, com pagamento antecipado e código de seguimento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“Posso pagar em duas vezes?”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Em valores altos: metade na encomenda, metade na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7" name="Text 4"/>
          <p:cNvSpPr txBox="1"/>
          <p:nvPr/>
        </p:nvSpPr>
        <p:spPr>
          <a:xfrm>
            <a:off x="756000" y="7416340"/>
            <a:ext cx="6084505" cy="1795212"/>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Ritmo do atendimento.</a:t>
            </a:r>
            <a:r>
              <a:rPr lang="en-US" sz="1000" dirty="0">
                <a:solidFill>
                  <a:srgbClr val="2C332E"/>
                </a:solidFill>
                <a:latin typeface="Google Sans" pitchFamily="34" charset="0"/>
                <a:ea typeface="Google Sans" pitchFamily="34" charset="-122"/>
                <a:cs typeface="Google Sans" pitchFamily="34" charset="-120"/>
              </a:rPr>
              <a:t> Responde em menos de cinco minutos: quem espera uma hora já comprou noutro lado. Usa áudios curtos, de um minuto no máximo. Se trabalhas sozinho, define dois ou três blocos de atendimento por dia e usa a mensagem de ausência do WhatsApp Business no resto do tempo.</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Nos serviços, o guião inclui um briefing.</a:t>
            </a:r>
            <a:r>
              <a:rPr lang="en-US" sz="1000" dirty="0">
                <a:solidFill>
                  <a:srgbClr val="2C332E"/>
                </a:solidFill>
                <a:latin typeface="Google Sans" pitchFamily="34" charset="0"/>
                <a:ea typeface="Google Sans" pitchFamily="34" charset="-122"/>
                <a:cs typeface="Google Sans" pitchFamily="34" charset="-120"/>
              </a:rPr>
              <a:t> O Tiago faz uma chamada de 15 minutos pelo WhatsApp para perceber o negócio do cliente, envia uma proposta de uma página em 24 horas, com o que está incluído e o número de revisões, e faz o seguimento dois dias depois. À objeção “eu faço no Canva”, responde: “Faz sentido. Quantas horas por semana gastas nisso, em vez de vender?”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756000" y="792000"/>
            <a:ext cx="6084505" cy="1068187"/>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12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Responder só com o preço</a:t>
            </a:r>
            <a:r>
              <a:rPr lang="en-US" sz="1000" dirty="0">
                <a:solidFill>
                  <a:srgbClr val="2C332E"/>
                </a:solidFill>
                <a:latin typeface="Google Sans" pitchFamily="34" charset="0"/>
                <a:ea typeface="Google Sans" pitchFamily="34" charset="-122"/>
                <a:cs typeface="Google Sans" pitchFamily="34" charset="-120"/>
              </a:rPr>
              <a:t> e esperar que o cliente decida sozinho.</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Não pedir o fecho.</a:t>
            </a:r>
            <a:r>
              <a:rPr lang="en-US" sz="1000" dirty="0">
                <a:solidFill>
                  <a:srgbClr val="2C332E"/>
                </a:solidFill>
                <a:latin typeface="Google Sans" pitchFamily="34" charset="0"/>
                <a:ea typeface="Google Sans" pitchFamily="34" charset="-122"/>
                <a:cs typeface="Google Sans" pitchFamily="34" charset="-120"/>
              </a:rPr>
              <a:t> Muitas conversas morrem porque ninguém propôs o próximo passo.</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Áudios de cinco minutos.</a:t>
            </a:r>
            <a:r>
              <a:rPr lang="en-US" sz="1000" dirty="0">
                <a:solidFill>
                  <a:srgbClr val="2C332E"/>
                </a:solidFill>
                <a:latin typeface="Google Sans" pitchFamily="34" charset="0"/>
                <a:ea typeface="Google Sans" pitchFamily="34" charset="-122"/>
                <a:cs typeface="Google Sans" pitchFamily="34" charset="-120"/>
              </a:rPr>
              <a:t> O cliente não os ouve até ao fim.</a:t>
            </a:r>
            <a:endParaRPr lang="en-US" sz="1120" dirty="0"/>
          </a:p>
        </p:txBody>
      </p:sp>
      <p:sp>
        <p:nvSpPr>
          <p:cNvPr id="3" name="Shape 1"/>
          <p:cNvSpPr/>
          <p:nvPr/>
        </p:nvSpPr>
        <p:spPr>
          <a:xfrm>
            <a:off x="756000" y="1976672"/>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4" name="Text 2"/>
          <p:cNvSpPr txBox="1"/>
          <p:nvPr/>
        </p:nvSpPr>
        <p:spPr>
          <a:xfrm>
            <a:off x="971950" y="2156605"/>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7: Guião comercial.</a:t>
            </a:r>
            <a:r>
              <a:rPr lang="en-US" sz="1000" dirty="0">
                <a:solidFill>
                  <a:srgbClr val="2C332E"/>
                </a:solidFill>
                <a:latin typeface="Google Sans" pitchFamily="34" charset="0"/>
                <a:ea typeface="Google Sans" pitchFamily="34" charset="-122"/>
                <a:cs typeface="Google Sans" pitchFamily="34" charset="-120"/>
              </a:rPr>
              <a:t> Usa o Diamante do Marketing (Capítulo 3) e o funil (Capítulo 6).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taxa de fecho por atendente. </a:t>
            </a:r>
            <a:r>
              <a:rPr lang="en-US" sz="1000" b="1" dirty="0">
                <a:solidFill>
                  <a:srgbClr val="21703A"/>
                </a:solidFill>
                <a:latin typeface="Google Sans" pitchFamily="34" charset="0"/>
                <a:ea typeface="Google Sans" pitchFamily="34" charset="-122"/>
                <a:cs typeface="Google Sans" pitchFamily="34" charset="-120"/>
              </a:rPr>
              <a:t>Segue para o Capítulo 8:</a:t>
            </a:r>
            <a:r>
              <a:rPr lang="en-US" sz="1000" dirty="0">
                <a:solidFill>
                  <a:srgbClr val="2C332E"/>
                </a:solidFill>
                <a:latin typeface="Google Sans" pitchFamily="34" charset="0"/>
                <a:ea typeface="Google Sans" pitchFamily="34" charset="-122"/>
                <a:cs typeface="Google Sans" pitchFamily="34" charset="-120"/>
              </a:rPr>
              <a:t> quem comprou e quem ainda não comprou continuam a valer dinheiro. O guião volta no Capítulo 10, quando se transforma em processo e em BOT.</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756000" y="792000"/>
            <a:ext cx="6084505" cy="2335310"/>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8</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Estruturar pós-venda, recompra e vendas complementares</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Aqui a Cauda Longa mostra a sua força. Quando já estávamos a captar leads no WhatsApp, oferecíamos aos clientes produtos complementares. Mesmo que cada produto complementar vendesse apenas uma unidade por dia, no fim do dia tínhamos 20 vendas extra — sem investir um único metical adicional em tráfego pago. E, como muitas vezes vendíamos dois ou três produtos ao mesmo cliente, o custo logístico por cliente baixou de 120 MT para 80 MT. A margem extra era reinvestida no dia seguinte em novos anúncios.</a:t>
            </a:r>
            <a:endParaRPr lang="en-US" sz="1020" dirty="0"/>
          </a:p>
        </p:txBody>
      </p:sp>
      <p:pic>
        <p:nvPicPr>
          <p:cNvPr id="3" name="Image 0" descr="Nenhum lead se perde: quem não compra entra nas listas">    </p:cNvPr>
          <p:cNvPicPr>
            <a:picLocks noChangeAspect="1"/>
          </p:cNvPicPr>
          <p:nvPr/>
        </p:nvPicPr>
        <p:blipFill>
          <a:blip r:embed="rId1"/>
          <a:stretch>
            <a:fillRect/>
          </a:stretch>
        </p:blipFill>
        <p:spPr>
          <a:xfrm>
            <a:off x="1035350" y="3351844"/>
            <a:ext cx="5489228" cy="4031903"/>
          </a:xfrm>
          <a:prstGeom prst="rect">
            <a:avLst/>
          </a:prstGeom>
        </p:spPr>
      </p:pic>
      <p:sp>
        <p:nvSpPr>
          <p:cNvPr id="4" name="Shape 1"/>
          <p:cNvSpPr/>
          <p:nvPr/>
        </p:nvSpPr>
        <p:spPr>
          <a:xfrm>
            <a:off x="756000" y="7509655"/>
            <a:ext cx="6047929" cy="0"/>
          </a:xfrm>
          <a:prstGeom prst="line">
            <a:avLst/>
          </a:prstGeom>
          <a:noFill/>
          <a:ln w="9525">
            <a:solidFill>
              <a:srgbClr val="E2E8DF"/>
            </a:solidFill>
            <a:prstDash val="solid"/>
          </a:ln>
        </p:spPr>
      </p:sp>
      <p:sp>
        <p:nvSpPr>
          <p:cNvPr id="5" name="Text 2"/>
          <p:cNvSpPr txBox="1"/>
          <p:nvPr/>
        </p:nvSpPr>
        <p:spPr>
          <a:xfrm>
            <a:off x="756000" y="7627080"/>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Nenhum lead se perde: quem não compra entra nas listas</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13</a:t>
            </a:r>
            <a:r>
              <a:rPr lang="en-US" sz="830" dirty="0">
                <a:solidFill>
                  <a:srgbClr val="7E8780"/>
                </a:solidFill>
                <a:latin typeface="Google Sans" pitchFamily="34" charset="0"/>
                <a:ea typeface="Google Sans" pitchFamily="34" charset="-122"/>
                <a:cs typeface="Google Sans" pitchFamily="34" charset="-120"/>
              </a:rPr>
              <a:t> · Estrutura de Escala em Cauda Longa</a:t>
            </a:r>
            <a:endParaRPr lang="en-US" sz="1020" dirty="0"/>
          </a:p>
        </p:txBody>
      </p:sp>
      <p:sp>
        <p:nvSpPr>
          <p:cNvPr id="6" name="Text 3"/>
          <p:cNvSpPr txBox="1"/>
          <p:nvPr/>
        </p:nvSpPr>
        <p:spPr>
          <a:xfrm>
            <a:off x="756000" y="8253498"/>
            <a:ext cx="6084505" cy="85372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De cada 100 leads que os anúncios trazem para o WhatsApp, uma parte compra logo. Os outros não estão perdidos: entram nas listas do WhatsApp Business, alimentadas também pelo feed do Instagram, e recebem o catálogo de produtos promocionais e ofertas mais acessíveis. Os clientes pagantes recebem o mesmo catálogo para voltarem a comprar.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756000" y="792000"/>
            <a:ext cx="6084505" cy="44057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Foi este o efeito da estrutura na nossa operação, quando passámos de um produto principal para uma Cauda Longa de 20 produtos:</a:t>
            </a:r>
            <a:endParaRPr lang="en-US" sz="1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56000" y="1329865"/>
          <a:ext cx="6047929" cy="914400"/>
        </p:xfrm>
        <a:graphic>
          <a:graphicData uri="http://schemas.openxmlformats.org/drawingml/2006/table">
            <a:tbl>
              <a:tblPr/>
              <a:tblGrid>
                <a:gridCol w="1568500"/>
                <a:gridCol w="1431727"/>
                <a:gridCol w="1439614"/>
                <a:gridCol w="1589038"/>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Indicador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Antes (1 produto principal)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Depois (Cauda Longa, 20 produtos)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Impacto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Produtos activos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+1.900%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Faturação média diária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6.000 a 8.000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+400% a +560%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CAC médio por cliente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 USD</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 USD</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 complementares por 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 vendas sem tráfego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Receita de vendas complementares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Custo logístico por cliente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120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80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−33% (venda conjunta)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Economia diária (CAC + logística)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50 USD (≈ 3.000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+3.000 MT/dia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Estabilidade da operação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Baixa (dependência de 1 produto)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Alta (mix de produtos)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Mais resiliência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Risco operacional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Elevado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Menor impacto quando um produto esgota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5621919"/>
            <a:ext cx="6084505" cy="1608582"/>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Três formas de aumentar o valor de cada cliente:</a:t>
            </a:r>
            <a:endParaRPr lang="en-US" sz="1000" dirty="0"/>
          </a:p>
          <a:p>
            <a:pPr algn="l" marL="215900" indent="-215900">
              <a:lnSpc>
                <a:spcPts val="1627"/>
              </a:lnSpc>
              <a:spcBef>
                <a:spcPts val="907"/>
              </a:spcBef>
              <a:buSzPct val="100000"/>
              <a:buChar char="•"/>
            </a:pPr>
            <a:r>
              <a:rPr lang="en-US" sz="1000" b="1" dirty="0">
                <a:solidFill>
                  <a:srgbClr val="14181A"/>
                </a:solidFill>
                <a:latin typeface="Google Sans" pitchFamily="34" charset="0"/>
                <a:ea typeface="Google Sans" pitchFamily="34" charset="-122"/>
                <a:cs typeface="Google Sans" pitchFamily="34" charset="-120"/>
              </a:rPr>
              <a:t>Venda superior (upsell):</a:t>
            </a:r>
            <a:r>
              <a:rPr lang="en-US" sz="1000" dirty="0">
                <a:solidFill>
                  <a:srgbClr val="2C332E"/>
                </a:solidFill>
                <a:latin typeface="Google Sans" pitchFamily="34" charset="0"/>
                <a:ea typeface="Google Sans" pitchFamily="34" charset="-122"/>
                <a:cs typeface="Google Sans" pitchFamily="34" charset="-120"/>
              </a:rPr>
              <a:t> uma versão maior ou melhor do mesmo produto.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Venda complementar (cross-sell):</a:t>
            </a:r>
            <a:r>
              <a:rPr lang="en-US" sz="1000" dirty="0">
                <a:solidFill>
                  <a:srgbClr val="2C332E"/>
                </a:solidFill>
                <a:latin typeface="Google Sans" pitchFamily="34" charset="0"/>
                <a:ea typeface="Google Sans" pitchFamily="34" charset="-122"/>
                <a:cs typeface="Google Sans" pitchFamily="34" charset="-120"/>
              </a:rPr>
              <a:t> um produto da cauda que acompanha o que foi comprado.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Venda inferior (downsell):</a:t>
            </a:r>
            <a:r>
              <a:rPr lang="en-US" sz="1000" dirty="0">
                <a:solidFill>
                  <a:srgbClr val="2C332E"/>
                </a:solidFill>
                <a:latin typeface="Google Sans" pitchFamily="34" charset="0"/>
                <a:ea typeface="Google Sans" pitchFamily="34" charset="-122"/>
                <a:cs typeface="Google Sans" pitchFamily="34" charset="-120"/>
              </a:rPr>
              <a:t> uma alternativa mais acessível para quem não comprou a oferta principal.</a:t>
            </a:r>
            <a:endParaRPr lang="en-US" sz="1000" dirty="0"/>
          </a:p>
          <a:p>
            <a:pPr algn="l" indent="0" marL="0">
              <a:lnSpc>
                <a:spcPts val="1627"/>
              </a:lnSpc>
              <a:spcBef>
                <a:spcPts val="991"/>
              </a:spcBef>
              <a:buNone/>
            </a:pPr>
            <a:r>
              <a:rPr lang="en-US" sz="1000" b="1" dirty="0">
                <a:solidFill>
                  <a:srgbClr val="14181A"/>
                </a:solidFill>
                <a:latin typeface="Google Sans" pitchFamily="34" charset="0"/>
                <a:ea typeface="Google Sans" pitchFamily="34" charset="-122"/>
                <a:cs typeface="Google Sans" pitchFamily="34" charset="-120"/>
              </a:rPr>
              <a:t>Ferramenta — Sequência de pós-venda.</a:t>
            </a:r>
            <a:endParaRPr lang="en-US" sz="1000" dirty="0"/>
          </a:p>
        </p:txBody>
      </p:sp>
      <p:graphicFrame>
        <p:nvGraphicFramePr>
          <p:cNvPr id="101" name="Table 1"/>
          <p:cNvGraphicFramePr>
            <a:graphicFrameLocks noGrp="1"/>
          </p:cNvGraphicFramePr>
          <p:nvPr>
            <p:extLst>
              <p:ext uri="{D42A27DB-BD31-4B8C-83A1-F6EECF244321}">
                <p14:modId xmlns:p14="http://schemas.microsoft.com/office/powerpoint/2010/main" val="1579011935"/>
              </p:ext>
            </p:extLst>
          </p:nvPr>
        </p:nvGraphicFramePr>
        <p:xfrm>
          <a:off x="756000" y="7327787"/>
          <a:ext cx="6047929" cy="914400"/>
        </p:xfrm>
        <a:graphic>
          <a:graphicData uri="http://schemas.openxmlformats.org/drawingml/2006/table">
            <a:tbl>
              <a:tblPr/>
              <a:tblGrid>
                <a:gridCol w="1192411"/>
                <a:gridCol w="1522214"/>
                <a:gridCol w="3314254"/>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Momento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Objectivo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Mensagem ou acção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Na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Confirmar a decisão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Agradecer e explicar como usar o produto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Vender o complementar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Oferecer um produto da cauda que acompanha a compra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Mostrar resultado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Perguntar o que já mudou e pedir foto ou testemunho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15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Pedir indicações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Oferecer um benefício por cada amigo indicado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Todas as semanas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Vender de novo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Enviar às listas o catálogo de produtos promocionais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756000" y="792000"/>
            <a:ext cx="6084505" cy="6026247"/>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fazer o cliente voltar</a:t>
            </a:r>
            <a:endParaRPr lang="en-US" sz="112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Doces da Yara — o aniversário do ano seguinte.</a:t>
            </a:r>
            <a:r>
              <a:rPr lang="en-US" sz="1000" dirty="0">
                <a:solidFill>
                  <a:srgbClr val="2C332E"/>
                </a:solidFill>
                <a:latin typeface="Google Sans" pitchFamily="34" charset="0"/>
                <a:ea typeface="Google Sans" pitchFamily="34" charset="-122"/>
                <a:cs typeface="Google Sans" pitchFamily="34" charset="-120"/>
              </a:rPr>
              <a:t> Em cada encomenda, a Yara regista o nome do aniversariante e a data. Duas semanas antes do aniversário do ano seguinte, envia: “O aniversário do Kiara está a chegar! Queres repetir o bolo do ano passado ou experimentar um tema novo?” Na encomenda, oferece também um kit de 12 cupcakes com o mesmo tema — a venda complementar mais fácil do negócio.</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Célia Makeup — uma noiva traz cinco clientes.</a:t>
            </a:r>
            <a:r>
              <a:rPr lang="en-US" sz="1000" dirty="0">
                <a:solidFill>
                  <a:srgbClr val="2C332E"/>
                </a:solidFill>
                <a:latin typeface="Google Sans" pitchFamily="34" charset="0"/>
                <a:ea typeface="Google Sans" pitchFamily="34" charset="-122"/>
                <a:cs typeface="Google Sans" pitchFamily="34" charset="-120"/>
              </a:rPr>
              <a:t> Quando fecha uma noiva, a Célia propõe logo um pacote para as madrinhas e para a mãe da noiva. A quem faz maquilhagem para eventos, oferece cílios e, um mês depois, o seu curso online de automaquilhagem.</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Excel em 7 Dias — upsell e downsell.</a:t>
            </a:r>
            <a:r>
              <a:rPr lang="en-US" sz="1000" dirty="0">
                <a:solidFill>
                  <a:srgbClr val="2C332E"/>
                </a:solidFill>
                <a:latin typeface="Google Sans" pitchFamily="34" charset="0"/>
                <a:ea typeface="Google Sans" pitchFamily="34" charset="-122"/>
                <a:cs typeface="Google Sans" pitchFamily="34" charset="-120"/>
              </a:rPr>
              <a:t> Quem não compra o curso recebe, uma semana depois, um ebook de fórmulas essenciais por 150 MT. Quem termina o curso recebe a oferta de revisão de CV por 1.000 MT. Os antigos alunos ficam num grupo onde se partilham vagas de emprego — e trazem amigos.</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TS Design — manter o cliente.</a:t>
            </a:r>
            <a:r>
              <a:rPr lang="en-US" sz="1000" dirty="0">
                <a:solidFill>
                  <a:srgbClr val="2C332E"/>
                </a:solidFill>
                <a:latin typeface="Google Sans" pitchFamily="34" charset="0"/>
                <a:ea typeface="Google Sans" pitchFamily="34" charset="-122"/>
                <a:cs typeface="Google Sans" pitchFamily="34" charset="-120"/>
              </a:rPr>
              <a:t> Todos os meses, o cliente recebe um relatório de uma página com os resultados da página. Depois de três meses, o Tiago propõe serviços da cauda, como gestão de anúncios. Por cada cliente indicado, oferece 50% de desconto num mês.</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As listas do WhatsApp Business.</a:t>
            </a:r>
            <a:r>
              <a:rPr lang="en-US" sz="1000" dirty="0">
                <a:solidFill>
                  <a:srgbClr val="2C332E"/>
                </a:solidFill>
                <a:latin typeface="Google Sans" pitchFamily="34" charset="0"/>
                <a:ea typeface="Google Sans" pitchFamily="34" charset="-122"/>
                <a:cs typeface="Google Sans" pitchFamily="34" charset="-120"/>
              </a:rPr>
              <a:t> As listas de transmissão só chegam a quem guardou o teu número. No fecho de cada venda, pede: “Guarda o nosso contacto para receberes as novidades.” Envia uma a duas promoções por semana, não mais: quem recebe mensagens todos os dias bloqueia.</a:t>
            </a:r>
            <a:endParaRPr lang="en-US" sz="112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12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Só falar com o cliente para vender.</a:t>
            </a:r>
            <a:r>
              <a:rPr lang="en-US" sz="1000" dirty="0">
                <a:solidFill>
                  <a:srgbClr val="2C332E"/>
                </a:solidFill>
                <a:latin typeface="Google Sans" pitchFamily="34" charset="0"/>
                <a:ea typeface="Google Sans" pitchFamily="34" charset="-122"/>
                <a:cs typeface="Google Sans" pitchFamily="34" charset="-120"/>
              </a:rPr>
              <a:t> Uma dica de uso ou um “correu tudo bem?” também vendem.</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Oferecer mais antes de entregar bem.</a:t>
            </a:r>
            <a:r>
              <a:rPr lang="en-US" sz="1000" dirty="0">
                <a:solidFill>
                  <a:srgbClr val="2C332E"/>
                </a:solidFill>
                <a:latin typeface="Google Sans" pitchFamily="34" charset="0"/>
                <a:ea typeface="Google Sans" pitchFamily="34" charset="-122"/>
                <a:cs typeface="Google Sans" pitchFamily="34" charset="-120"/>
              </a:rPr>
              <a:t> O upsell só funciona depois de uma primeira compra satisfatória.</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Perder quem não comprou.</a:t>
            </a:r>
            <a:r>
              <a:rPr lang="en-US" sz="1000" dirty="0">
                <a:solidFill>
                  <a:srgbClr val="2C332E"/>
                </a:solidFill>
                <a:latin typeface="Google Sans" pitchFamily="34" charset="0"/>
                <a:ea typeface="Google Sans" pitchFamily="34" charset="-122"/>
                <a:cs typeface="Google Sans" pitchFamily="34" charset="-120"/>
              </a:rPr>
              <a:t> Os 85 leads da figura acima valem tanto como os 15 clientes.</a:t>
            </a:r>
            <a:endParaRPr lang="en-US" sz="1120" dirty="0"/>
          </a:p>
        </p:txBody>
      </p:sp>
      <p:sp>
        <p:nvSpPr>
          <p:cNvPr id="3" name="Shape 1"/>
          <p:cNvSpPr/>
          <p:nvPr/>
        </p:nvSpPr>
        <p:spPr>
          <a:xfrm>
            <a:off x="756000" y="6934732"/>
            <a:ext cx="6047929" cy="1392734"/>
          </a:xfrm>
          <a:prstGeom prst="roundRect">
            <a:avLst>
              <a:gd name="adj" fmla="val 10505"/>
            </a:avLst>
          </a:prstGeom>
          <a:solidFill>
            <a:srgbClr val="E8F4E0"/>
          </a:solidFill>
          <a:ln/>
          <a:effectLst>
            <a:outerShdw sx="100000" sy="100000" kx="0" ky="0" algn="bl" rotWithShape="0" blurRad="127000" dist="38100" dir="5400000">
              <a:srgbClr val="1E501E">
                <a:alpha val="18000"/>
              </a:srgbClr>
            </a:outerShdw>
          </a:effectLst>
        </p:spPr>
      </p:sp>
      <p:sp>
        <p:nvSpPr>
          <p:cNvPr id="4" name="Text 2"/>
          <p:cNvSpPr txBox="1"/>
          <p:nvPr/>
        </p:nvSpPr>
        <p:spPr>
          <a:xfrm>
            <a:off x="971950" y="7114665"/>
            <a:ext cx="5652605" cy="1051155"/>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8: Estrutura de Cauda Longa e pós-venda.</a:t>
            </a:r>
            <a:r>
              <a:rPr lang="en-US" sz="1000" dirty="0">
                <a:solidFill>
                  <a:srgbClr val="2C332E"/>
                </a:solidFill>
                <a:latin typeface="Google Sans" pitchFamily="34" charset="0"/>
                <a:ea typeface="Google Sans" pitchFamily="34" charset="-122"/>
                <a:cs typeface="Google Sans" pitchFamily="34" charset="-120"/>
              </a:rPr>
              <a:t> Usa a cauda (Capítulo 2) e o guião (Capítulo 7).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vendas complementares por dia e CAC real (anúncios ÷ todas as vendas, incluindo as complementares). </a:t>
            </a:r>
            <a:r>
              <a:rPr lang="en-US" sz="1000" b="1" dirty="0">
                <a:solidFill>
                  <a:srgbClr val="21703A"/>
                </a:solidFill>
                <a:latin typeface="Google Sans" pitchFamily="34" charset="0"/>
                <a:ea typeface="Google Sans" pitchFamily="34" charset="-122"/>
                <a:cs typeface="Google Sans" pitchFamily="34" charset="-120"/>
              </a:rPr>
              <a:t>Segue para o Capítulo 9:</a:t>
            </a:r>
            <a:r>
              <a:rPr lang="en-US" sz="1000" dirty="0">
                <a:solidFill>
                  <a:srgbClr val="2C332E"/>
                </a:solidFill>
                <a:latin typeface="Google Sans" pitchFamily="34" charset="0"/>
                <a:ea typeface="Google Sans" pitchFamily="34" charset="-122"/>
                <a:cs typeface="Google Sans" pitchFamily="34" charset="-120"/>
              </a:rPr>
              <a:t> mais vendas por cliente significam mais pedidos para entregar. O factor vendas está construído; agora é a operação que tem de aguentar.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756000" y="792000"/>
            <a:ext cx="6047929" cy="2741116"/>
          </a:xfrm>
          <a:prstGeom prst="roundRect">
            <a:avLst>
              <a:gd name="adj" fmla="val 8006"/>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93980"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4</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Operação e processos</a:t>
            </a:r>
            <a:endParaRPr lang="en-US" sz="2520" dirty="0"/>
          </a:p>
        </p:txBody>
      </p:sp>
      <p:sp>
        <p:nvSpPr>
          <p:cNvPr id="5" name="Shape 3"/>
          <p:cNvSpPr/>
          <p:nvPr/>
        </p:nvSpPr>
        <p:spPr>
          <a:xfrm>
            <a:off x="1079999" y="2687195"/>
            <a:ext cx="5399931" cy="0"/>
          </a:xfrm>
          <a:prstGeom prst="line">
            <a:avLst/>
          </a:prstGeom>
          <a:noFill/>
          <a:ln w="9525">
            <a:solidFill>
              <a:srgbClr val="CFE3C3"/>
            </a:solidFill>
            <a:prstDash val="solid"/>
          </a:ln>
        </p:spPr>
      </p:sp>
      <p:sp>
        <p:nvSpPr>
          <p:cNvPr id="6" name="Text 4"/>
          <p:cNvSpPr txBox="1"/>
          <p:nvPr/>
        </p:nvSpPr>
        <p:spPr>
          <a:xfrm>
            <a:off x="1079999" y="1977863"/>
            <a:ext cx="5436507" cy="121367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Vender mais do que consegues entregar destrói a reputação mais depressa do que os anúncios a constroem. Nesta parte preparas a operação para receber o crescimento sem perder qualidade.</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Nível 3 — Previsibilidade · Peças 9 e 10 · Recebes da Parte 3: o volume de pedidos e o guião · Entregas à Parte 5: processos escritos, prontos a delegar.</a:t>
            </a:r>
            <a:endParaRPr lang="en-US" sz="1000" dirty="0"/>
          </a:p>
        </p:txBody>
      </p:sp>
      <p:sp>
        <p:nvSpPr>
          <p:cNvPr id="7" name="Text 5"/>
          <p:cNvSpPr txBox="1"/>
          <p:nvPr/>
        </p:nvSpPr>
        <p:spPr>
          <a:xfrm>
            <a:off x="756000" y="3857115"/>
            <a:ext cx="6084505" cy="2775543"/>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9</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Preparar capacidade, stock e padrão de entrega</a:t>
            </a:r>
            <a:endParaRPr lang="en-US" sz="1020" dirty="0"/>
          </a:p>
          <a:p>
            <a:pPr algn="l" indent="0" marL="0">
              <a:lnSpc>
                <a:spcPts val="1627"/>
              </a:lnSpc>
              <a:spcBef>
                <a:spcPts val="1984"/>
              </a:spcBef>
              <a:buNone/>
            </a:pPr>
            <a:r>
              <a:rPr lang="en-US" sz="1000" b="1" dirty="0">
                <a:solidFill>
                  <a:srgbClr val="14181A"/>
                </a:solidFill>
                <a:latin typeface="Google Sans" pitchFamily="34" charset="0"/>
                <a:ea typeface="Google Sans" pitchFamily="34" charset="-122"/>
                <a:cs typeface="Google Sans" pitchFamily="34" charset="-120"/>
              </a:rPr>
              <a:t>O modelo de entrega do Drop Nacional.</a:t>
            </a:r>
            <a:r>
              <a:rPr lang="en-US" sz="1000" dirty="0">
                <a:solidFill>
                  <a:srgbClr val="2C332E"/>
                </a:solidFill>
                <a:latin typeface="Google Sans" pitchFamily="34" charset="0"/>
                <a:ea typeface="Google Sans" pitchFamily="34" charset="-122"/>
                <a:cs typeface="Google Sans" pitchFamily="34" charset="-120"/>
              </a:rPr>
              <a:t> Depois de estruturarmos a Oferta 10X, o passo seguinte foi criar um modelo de vendas e entrega simples, escalável e eficiente, adaptando a arbitragem à nossa realidade. No dropshipping internacional tradicional, o vendedor nunca toca no produto: o cliente compra na loja online e paga, o vendedor encomenda ao fornecedor pelo preço de atacado e o fornecedor envia o produto directamente ao cliente.</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Esse modelo dependia de plataformas como AliExpress, Stripe e Shopify, muitas delas inacessíveis no nosso contexto. Em vez de focarmos nas barreiras, concentrámo-nos nas soluções. Assim nasceu o </a:t>
            </a:r>
            <a:r>
              <a:rPr lang="en-US" sz="1000" b="1" dirty="0">
                <a:solidFill>
                  <a:srgbClr val="14181A"/>
                </a:solidFill>
                <a:latin typeface="Google Sans" pitchFamily="34" charset="0"/>
                <a:ea typeface="Google Sans" pitchFamily="34" charset="-122"/>
                <a:cs typeface="Google Sans" pitchFamily="34" charset="-120"/>
              </a:rPr>
              <a:t>Drop Nacional</a:t>
            </a:r>
            <a:r>
              <a:rPr lang="en-US" sz="1000" dirty="0">
                <a:solidFill>
                  <a:srgbClr val="2C332E"/>
                </a:solidFill>
                <a:latin typeface="Google Sans" pitchFamily="34" charset="0"/>
                <a:ea typeface="Google Sans" pitchFamily="34" charset="-122"/>
                <a:cs typeface="Google Sans" pitchFamily="34" charset="-120"/>
              </a:rPr>
              <a:t>: a loja compra o produto vencedor ao fornecedor e assume toda a logística e a entrega, com controlo total sobre a experiência do cliente.</a:t>
            </a:r>
            <a:endParaRPr lang="en-US" sz="102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No Drop Nacional, a loja controla a entrega">    </p:cNvPr>
          <p:cNvPicPr>
            <a:picLocks noChangeAspect="1"/>
          </p:cNvPicPr>
          <p:nvPr/>
        </p:nvPicPr>
        <p:blipFill>
          <a:blip r:embed="rId1"/>
          <a:stretch>
            <a:fillRect/>
          </a:stretch>
        </p:blipFill>
        <p:spPr>
          <a:xfrm>
            <a:off x="756149" y="792000"/>
            <a:ext cx="6047631" cy="2845445"/>
          </a:xfrm>
          <a:prstGeom prst="rect">
            <a:avLst/>
          </a:prstGeom>
        </p:spPr>
      </p:pic>
      <p:sp>
        <p:nvSpPr>
          <p:cNvPr id="3" name="Shape 0"/>
          <p:cNvSpPr/>
          <p:nvPr/>
        </p:nvSpPr>
        <p:spPr>
          <a:xfrm>
            <a:off x="756000" y="3763354"/>
            <a:ext cx="6047929" cy="0"/>
          </a:xfrm>
          <a:prstGeom prst="line">
            <a:avLst/>
          </a:prstGeom>
          <a:noFill/>
          <a:ln w="9525">
            <a:solidFill>
              <a:srgbClr val="E2E8DF"/>
            </a:solidFill>
            <a:prstDash val="solid"/>
          </a:ln>
        </p:spPr>
      </p:sp>
      <p:sp>
        <p:nvSpPr>
          <p:cNvPr id="4" name="Text 1"/>
          <p:cNvSpPr txBox="1"/>
          <p:nvPr/>
        </p:nvSpPr>
        <p:spPr>
          <a:xfrm>
            <a:off x="756000" y="3880779"/>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No Drop Nacional, a loja controla a entrega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14</a:t>
            </a:r>
            <a:r>
              <a:rPr lang="en-US" sz="830" dirty="0">
                <a:solidFill>
                  <a:srgbClr val="7E8780"/>
                </a:solidFill>
                <a:latin typeface="Google Sans" pitchFamily="34" charset="0"/>
                <a:ea typeface="Google Sans" pitchFamily="34" charset="-122"/>
                <a:cs typeface="Google Sans" pitchFamily="34" charset="-120"/>
              </a:rPr>
              <a:t> · Dropshipping tradicional vs Drop Nacional</a:t>
            </a:r>
            <a:endParaRPr lang="en-US" sz="1020" dirty="0"/>
          </a:p>
        </p:txBody>
      </p:sp>
      <p:sp>
        <p:nvSpPr>
          <p:cNvPr id="5" name="Text 2"/>
          <p:cNvSpPr txBox="1"/>
          <p:nvPr/>
        </p:nvSpPr>
        <p:spPr>
          <a:xfrm>
            <a:off x="756000" y="4507196"/>
            <a:ext cx="6084505" cy="96891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Controlar a entrega trouxe uma responsabilidade nova: capacidade e stock passaram a ser problema nosso.</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Stock.</a:t>
            </a:r>
            <a:r>
              <a:rPr lang="en-US" sz="1000" dirty="0">
                <a:solidFill>
                  <a:srgbClr val="2C332E"/>
                </a:solidFill>
                <a:latin typeface="Google Sans" pitchFamily="34" charset="0"/>
                <a:ea typeface="Google Sans" pitchFamily="34" charset="-122"/>
                <a:cs typeface="Google Sans" pitchFamily="34" charset="-120"/>
              </a:rPr>
              <a:t> O Green Mask ensinou-nos da forma mais cara: o stock esgotou e não havia fornecedores locais. Encomenda antes de faltar. O ponto de encomenda diz quando:</a:t>
            </a:r>
            <a:endParaRPr lang="en-US" sz="1000" dirty="0"/>
          </a:p>
        </p:txBody>
      </p:sp>
      <p:sp>
        <p:nvSpPr>
          <p:cNvPr id="6" name="Shape 3"/>
          <p:cNvSpPr/>
          <p:nvPr/>
        </p:nvSpPr>
        <p:spPr>
          <a:xfrm>
            <a:off x="756000" y="5563876"/>
            <a:ext cx="6047929" cy="853976"/>
          </a:xfrm>
          <a:prstGeom prst="roundRect">
            <a:avLst>
              <a:gd name="adj" fmla="val 17132"/>
            </a:avLst>
          </a:prstGeom>
          <a:solidFill>
            <a:srgbClr val="FFFFFF"/>
          </a:solidFill>
          <a:ln w="9525">
            <a:solidFill>
              <a:srgbClr val="DCE8D4"/>
            </a:solidFill>
            <a:prstDash val="solid"/>
          </a:ln>
          <a:effectLst>
            <a:outerShdw sx="100000" sy="100000" kx="0" ky="0" algn="bl" rotWithShape="0" blurRad="101600" dist="25400" dir="5400000">
              <a:srgbClr val="1E501E">
                <a:alpha val="15000"/>
              </a:srgbClr>
            </a:outerShdw>
          </a:effectLst>
        </p:spPr>
      </p:sp>
      <p:sp>
        <p:nvSpPr>
          <p:cNvPr id="7" name="Text 4"/>
          <p:cNvSpPr txBox="1"/>
          <p:nvPr/>
        </p:nvSpPr>
        <p:spPr>
          <a:xfrm>
            <a:off x="975456" y="5563876"/>
            <a:ext cx="5609017" cy="853976"/>
          </a:xfrm>
          <a:prstGeom prst="rect">
            <a:avLst/>
          </a:prstGeom>
          <a:noFill/>
          <a:ln/>
        </p:spPr>
        <p:txBody>
          <a:bodyPr wrap="square" lIns="0" tIns="0" rIns="0" bIns="0" rtlCol="0" anchor="ctr"/>
          <a:lstStyle/>
          <a:p>
            <a:pPr indent="0" marL="0">
              <a:buNone/>
            </a:pPr>
            <a:r>
              <a:rPr lang="en-US" sz="1050" b="1" dirty="0">
                <a:solidFill>
                  <a:srgbClr val="21703A"/>
                </a:solidFill>
                <a:latin typeface="Google Sans" pitchFamily="34" charset="0"/>
                <a:ea typeface="Google Sans" pitchFamily="34" charset="-122"/>
                <a:cs typeface="Google Sans" pitchFamily="34" charset="-120"/>
              </a:rPr>
              <a:t>Ponto de encomenda</a:t>
            </a:r>
            <a:r>
              <a:rPr lang="en-US" sz="1050" b="1" dirty="0">
                <a:solidFill>
                  <a:srgbClr val="3E9A45"/>
                </a:solidFill>
                <a:latin typeface="Google Sans" pitchFamily="34" charset="0"/>
                <a:ea typeface="Google Sans" pitchFamily="34" charset="-122"/>
                <a:cs typeface="Google Sans" pitchFamily="34" charset="-120"/>
              </a:rPr>
              <a:t>  =  </a:t>
            </a:r>
            <a:r>
              <a:rPr lang="en-US" sz="1050" dirty="0">
                <a:solidFill>
                  <a:srgbClr val="14181A"/>
                </a:solidFill>
                <a:latin typeface="Google Sans" pitchFamily="34" charset="0"/>
                <a:ea typeface="Google Sans" pitchFamily="34" charset="-122"/>
                <a:cs typeface="Google Sans" pitchFamily="34" charset="-120"/>
              </a:rPr>
              <a:t>Vendas médias por dia × Prazo do fornecedor (dias) + Stock de segurança</a:t>
            </a:r>
            <a:endParaRPr lang="en-US" sz="1050" dirty="0"/>
          </a:p>
        </p:txBody>
      </p:sp>
      <p:sp>
        <p:nvSpPr>
          <p:cNvPr id="8" name="Text 5"/>
          <p:cNvSpPr txBox="1"/>
          <p:nvPr/>
        </p:nvSpPr>
        <p:spPr>
          <a:xfrm>
            <a:off x="756000" y="6597785"/>
            <a:ext cx="6084505" cy="138206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Para os produtos da cabeça, tem sempre um segundo fornecedor identificado.</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Capacidade de entrega.</a:t>
            </a:r>
            <a:r>
              <a:rPr lang="en-US" sz="1000" dirty="0">
                <a:solidFill>
                  <a:srgbClr val="2C332E"/>
                </a:solidFill>
                <a:latin typeface="Google Sans" pitchFamily="34" charset="0"/>
                <a:ea typeface="Google Sans" pitchFamily="34" charset="-122"/>
                <a:cs typeface="Google Sans" pitchFamily="34" charset="-120"/>
              </a:rPr>
              <a:t> Dependermos de transportadoras externas aumentava custos, atrasava entregas e limitava a escala. Comprámos as nossas próprias motas e contratámos entregadores internos, com bónus por meta de 10 entregas por dia. O impacto foi imediato: menos custos logísticos, mais autonomia e entregas mesmo depois das 17h. Calcula a capacidade antes de aumentar os anúncios:</a:t>
            </a:r>
            <a:endParaRPr lang="en-US" sz="1000" dirty="0"/>
          </a:p>
        </p:txBody>
      </p:sp>
      <p:sp>
        <p:nvSpPr>
          <p:cNvPr id="9" name="Shape 6"/>
          <p:cNvSpPr/>
          <p:nvPr/>
        </p:nvSpPr>
        <p:spPr>
          <a:xfrm>
            <a:off x="756000" y="8067612"/>
            <a:ext cx="6047929" cy="553492"/>
          </a:xfrm>
          <a:prstGeom prst="roundRect">
            <a:avLst>
              <a:gd name="adj" fmla="val 26433"/>
            </a:avLst>
          </a:prstGeom>
          <a:solidFill>
            <a:srgbClr val="FFFFFF"/>
          </a:solidFill>
          <a:ln w="9525">
            <a:solidFill>
              <a:srgbClr val="DCE8D4"/>
            </a:solidFill>
            <a:prstDash val="solid"/>
          </a:ln>
          <a:effectLst>
            <a:outerShdw sx="100000" sy="100000" kx="0" ky="0" algn="bl" rotWithShape="0" blurRad="101600" dist="25400" dir="5400000">
              <a:srgbClr val="1E501E">
                <a:alpha val="15000"/>
              </a:srgbClr>
            </a:outerShdw>
          </a:effectLst>
        </p:spPr>
      </p:sp>
      <p:sp>
        <p:nvSpPr>
          <p:cNvPr id="10" name="Text 7"/>
          <p:cNvSpPr txBox="1"/>
          <p:nvPr/>
        </p:nvSpPr>
        <p:spPr>
          <a:xfrm>
            <a:off x="975456" y="8067612"/>
            <a:ext cx="5609017" cy="553492"/>
          </a:xfrm>
          <a:prstGeom prst="rect">
            <a:avLst/>
          </a:prstGeom>
          <a:noFill/>
          <a:ln/>
        </p:spPr>
        <p:txBody>
          <a:bodyPr wrap="square" lIns="0" tIns="0" rIns="0" bIns="0" rtlCol="0" anchor="ctr"/>
          <a:lstStyle/>
          <a:p>
            <a:pPr indent="0" marL="0">
              <a:buNone/>
            </a:pPr>
            <a:r>
              <a:rPr lang="en-US" sz="1050" b="1" dirty="0">
                <a:solidFill>
                  <a:srgbClr val="21703A"/>
                </a:solidFill>
                <a:latin typeface="Google Sans" pitchFamily="34" charset="0"/>
                <a:ea typeface="Google Sans" pitchFamily="34" charset="-122"/>
                <a:cs typeface="Google Sans" pitchFamily="34" charset="-120"/>
              </a:rPr>
              <a:t>Entregas possíveis por dia</a:t>
            </a:r>
            <a:r>
              <a:rPr lang="en-US" sz="1050" b="1" dirty="0">
                <a:solidFill>
                  <a:srgbClr val="3E9A45"/>
                </a:solidFill>
                <a:latin typeface="Google Sans" pitchFamily="34" charset="0"/>
                <a:ea typeface="Google Sans" pitchFamily="34" charset="-122"/>
                <a:cs typeface="Google Sans" pitchFamily="34" charset="-120"/>
              </a:rPr>
              <a:t>  =  </a:t>
            </a:r>
            <a:r>
              <a:rPr lang="en-US" sz="1050" dirty="0">
                <a:solidFill>
                  <a:srgbClr val="14181A"/>
                </a:solidFill>
                <a:latin typeface="Google Sans" pitchFamily="34" charset="0"/>
                <a:ea typeface="Google Sans" pitchFamily="34" charset="-122"/>
                <a:cs typeface="Google Sans" pitchFamily="34" charset="-120"/>
              </a:rPr>
              <a:t>N.º de entregadores × Entregas por entregador por dia</a:t>
            </a:r>
            <a:endParaRPr lang="en-US" sz="1050" dirty="0"/>
          </a:p>
        </p:txBody>
      </p:sp>
      <p:sp>
        <p:nvSpPr>
          <p:cNvPr id="11" name="Text 8"/>
          <p:cNvSpPr txBox="1"/>
          <p:nvPr/>
        </p:nvSpPr>
        <p:spPr>
          <a:xfrm>
            <a:off x="756000" y="8801037"/>
            <a:ext cx="6084505" cy="647152"/>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Se um motoqueiro faz 10 entregas por dia e esperas 25 pedidos, precisas de três — ou de combinar com motoqueiros independentes pagos por entrega. Senão, os pedidos acumulam e os clientes desistem.</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756000" y="792000"/>
            <a:ext cx="6084505" cy="1175492"/>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Padrão de entrega.</a:t>
            </a:r>
            <a:r>
              <a:rPr lang="en-US" sz="1000" dirty="0">
                <a:solidFill>
                  <a:srgbClr val="2C332E"/>
                </a:solidFill>
                <a:latin typeface="Google Sans" pitchFamily="34" charset="0"/>
                <a:ea typeface="Google Sans" pitchFamily="34" charset="-122"/>
                <a:cs typeface="Google Sans" pitchFamily="34" charset="-120"/>
              </a:rPr>
              <a:t> Escreve o que significa “entregue” para cada produto: prazo, estado da embalagem, forma de pagamento, mensagem ao cliente. Sem padrão escrito, cada pessoa entrega à sua maneira.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Fluxo operacional.</a:t>
            </a:r>
            <a:r>
              <a:rPr lang="en-US" sz="1000" dirty="0">
                <a:solidFill>
                  <a:srgbClr val="2C332E"/>
                </a:solidFill>
                <a:latin typeface="Google Sans" pitchFamily="34" charset="0"/>
                <a:ea typeface="Google Sans" pitchFamily="34" charset="-122"/>
                <a:cs typeface="Google Sans" pitchFamily="34" charset="-120"/>
              </a:rPr>
              <a:t> Regista as etapas desde a venda fechada até à entrega confirmada. Para cada uma, regista quem faz, quanto tempo demora e onde costuma falhar.</a:t>
            </a:r>
            <a:endParaRPr lang="en-US" sz="10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56000" y="2064778"/>
          <a:ext cx="6047929" cy="914400"/>
        </p:xfrm>
        <a:graphic>
          <a:graphicData uri="http://schemas.openxmlformats.org/drawingml/2006/table">
            <a:tbl>
              <a:tblPr/>
              <a:tblGrid>
                <a:gridCol w="2916138"/>
                <a:gridCol w="883890"/>
                <a:gridCol w="922883"/>
                <a:gridCol w="1305967"/>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Etapa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Responsável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Tempo médio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Onde costuma falhar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Pedido fechado no WhatsApp e dados recolhidos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Produto separado e embalado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 atribuída a um entregador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 e pagamento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Confirmação com o cliente e mensagem de pós-venda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4533390"/>
            <a:ext cx="6084505" cy="257967"/>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o que limita cada negócio</a:t>
            </a:r>
            <a:endParaRPr lang="en-US" sz="1120" dirty="0"/>
          </a:p>
        </p:txBody>
      </p:sp>
      <p:graphicFrame>
        <p:nvGraphicFramePr>
          <p:cNvPr id="109" name="Table 1"/>
          <p:cNvGraphicFramePr>
            <a:graphicFrameLocks noGrp="1"/>
          </p:cNvGraphicFramePr>
          <p:nvPr>
            <p:extLst>
              <p:ext uri="{D42A27DB-BD31-4B8C-83A1-F6EECF244321}">
                <p14:modId xmlns:p14="http://schemas.microsoft.com/office/powerpoint/2010/main" val="1579011935"/>
              </p:ext>
            </p:extLst>
          </p:nvPr>
        </p:nvGraphicFramePr>
        <p:xfrm>
          <a:off x="756000" y="4881350"/>
          <a:ext cx="6047929" cy="914400"/>
        </p:xfrm>
        <a:graphic>
          <a:graphicData uri="http://schemas.openxmlformats.org/drawingml/2006/table">
            <a:tbl>
              <a:tblPr/>
              <a:tblGrid>
                <a:gridCol w="782836"/>
                <a:gridCol w="1110258"/>
                <a:gridCol w="1935510"/>
                <a:gridCol w="2200275"/>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limita a capacidade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Capacidade máxima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aumentá-la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Neyma Store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Entregas e stock</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motoqueiros independentes × 10 entregas = 20 por 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Agrupar entregas por zona; um terceiro motoqueiro pago por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Forno e horas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 bolos por dia, 15 por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Encomendas com 3 dias de antecedência; sábado mais caro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 Makeup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As horas da Célia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 maquilhagens num sábado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Uma assistente para tranças e cílios; noivas marcadas com meses de antecedência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Excel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Suporte aos alunos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Cerca de 150 alunos por mês com resposta em menos de 24 horas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Vídeos de perguntas frequentes; um monitor ex-aluno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TS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Horas de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40 horas por semana ÷ 4 horas por cliente = 10 clientes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 designer freelancer; modelos reutilizáveis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756000" y="8239657"/>
            <a:ext cx="6084505" cy="1382066"/>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O stock da Neyma.</a:t>
            </a:r>
            <a:r>
              <a:rPr lang="en-US" sz="1000" dirty="0">
                <a:solidFill>
                  <a:srgbClr val="2C332E"/>
                </a:solidFill>
                <a:latin typeface="Google Sans" pitchFamily="34" charset="0"/>
                <a:ea typeface="Google Sans" pitchFamily="34" charset="-122"/>
                <a:cs typeface="Google Sans" pitchFamily="34" charset="-120"/>
              </a:rPr>
              <a:t> O modelo de ténis da cabeça vende 2 pares por dia; o fornecedor em Joanesburgo demora 10 dias a entregar; e a Neyma quer 10 pares de segurança. Ponto de encomenda: 2 × 10 + 10 = </a:t>
            </a:r>
            <a:r>
              <a:rPr lang="en-US" sz="1000" b="1" dirty="0">
                <a:solidFill>
                  <a:srgbClr val="14181A"/>
                </a:solidFill>
                <a:latin typeface="Google Sans" pitchFamily="34" charset="0"/>
                <a:ea typeface="Google Sans" pitchFamily="34" charset="-122"/>
                <a:cs typeface="Google Sans" pitchFamily="34" charset="-120"/>
              </a:rPr>
              <a:t>30 pares</a:t>
            </a:r>
            <a:r>
              <a:rPr lang="en-US" sz="1000" dirty="0">
                <a:solidFill>
                  <a:srgbClr val="2C332E"/>
                </a:solidFill>
                <a:latin typeface="Google Sans" pitchFamily="34" charset="0"/>
                <a:ea typeface="Google Sans" pitchFamily="34" charset="-122"/>
                <a:cs typeface="Google Sans" pitchFamily="34" charset="-120"/>
              </a:rPr>
              <a:t>. Quando o stock chega a 30, encomenda. Nunca mais ficou sem o produto que paga as contas.</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Rotas.</a:t>
            </a:r>
            <a:r>
              <a:rPr lang="en-US" sz="1000" dirty="0">
                <a:solidFill>
                  <a:srgbClr val="2C332E"/>
                </a:solidFill>
                <a:latin typeface="Google Sans" pitchFamily="34" charset="0"/>
                <a:ea typeface="Google Sans" pitchFamily="34" charset="-122"/>
                <a:cs typeface="Google Sans" pitchFamily="34" charset="-120"/>
              </a:rPr>
              <a:t> A Neyma agrupa as entregas: Baixa, Polana e Sommerschield de manhã; Matola à tarde. Para as províncias, envia por transportadora, só com pagamento antecipado.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756000" y="792000"/>
            <a:ext cx="6084505" cy="2353020"/>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O padrão de entrega escrito.</a:t>
            </a:r>
            <a:r>
              <a:rPr lang="en-US" sz="1000" dirty="0">
                <a:solidFill>
                  <a:srgbClr val="2C332E"/>
                </a:solidFill>
                <a:latin typeface="Google Sans" pitchFamily="34" charset="0"/>
                <a:ea typeface="Google Sans" pitchFamily="34" charset="-122"/>
                <a:cs typeface="Google Sans" pitchFamily="34" charset="-120"/>
              </a:rPr>
              <a:t> Na Yara: bolo entregue duas horas antes da festa, em caixa fechada, com uma foto enviada ao cliente antes de sair. No Tiago: posts entregues à sexta-feira, em PNG e PDF, com duas revisões incluídas.</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Aceitar encomendas sem capacidade.</a:t>
            </a:r>
            <a:r>
              <a:rPr lang="en-US" sz="1000" dirty="0">
                <a:solidFill>
                  <a:srgbClr val="2C332E"/>
                </a:solidFill>
                <a:latin typeface="Google Sans" pitchFamily="34" charset="0"/>
                <a:ea typeface="Google Sans" pitchFamily="34" charset="-122"/>
                <a:cs typeface="Google Sans" pitchFamily="34" charset="-120"/>
              </a:rPr>
              <a:t> A Yara aceitou seis bolos para o mesmo sábado e entregou dois atrasados.</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Ter o produto da cabeça num só fornecedor.</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Prazos vagos.</a:t>
            </a:r>
            <a:r>
              <a:rPr lang="en-US" sz="1000" dirty="0">
                <a:solidFill>
                  <a:srgbClr val="2C332E"/>
                </a:solidFill>
                <a:latin typeface="Google Sans" pitchFamily="34" charset="0"/>
                <a:ea typeface="Google Sans" pitchFamily="34" charset="-122"/>
                <a:cs typeface="Google Sans" pitchFamily="34" charset="-120"/>
              </a:rPr>
              <a:t> “Entregamos esta semana” gera mais mensagens do que “entregamos quinta, entre as 14h e as 17h”.</a:t>
            </a:r>
            <a:endParaRPr lang="en-US" sz="1000" dirty="0"/>
          </a:p>
        </p:txBody>
      </p:sp>
      <p:sp>
        <p:nvSpPr>
          <p:cNvPr id="3" name="Shape 1"/>
          <p:cNvSpPr/>
          <p:nvPr/>
        </p:nvSpPr>
        <p:spPr>
          <a:xfrm>
            <a:off x="756000" y="3261505"/>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4" name="Text 2"/>
          <p:cNvSpPr txBox="1"/>
          <p:nvPr/>
        </p:nvSpPr>
        <p:spPr>
          <a:xfrm>
            <a:off x="971950" y="3441438"/>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9: Fluxo operacional e capacidade.</a:t>
            </a:r>
            <a:r>
              <a:rPr lang="en-US" sz="1000" dirty="0">
                <a:solidFill>
                  <a:srgbClr val="2C332E"/>
                </a:solidFill>
                <a:latin typeface="Google Sans" pitchFamily="34" charset="0"/>
                <a:ea typeface="Google Sans" pitchFamily="34" charset="-122"/>
                <a:cs typeface="Google Sans" pitchFamily="34" charset="-120"/>
              </a:rPr>
              <a:t> Usa o volume de pedidos do funil (Capítulo 6) e da Cauda Longa (Capítulo 8).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entregas por dia e entregas no prazo (%). </a:t>
            </a:r>
            <a:r>
              <a:rPr lang="en-US" sz="1000" b="1" dirty="0">
                <a:solidFill>
                  <a:srgbClr val="21703A"/>
                </a:solidFill>
                <a:latin typeface="Google Sans" pitchFamily="34" charset="0"/>
                <a:ea typeface="Google Sans" pitchFamily="34" charset="-122"/>
                <a:cs typeface="Google Sans" pitchFamily="34" charset="-120"/>
              </a:rPr>
              <a:t>Segue para o Capítulo 10:</a:t>
            </a:r>
            <a:r>
              <a:rPr lang="en-US" sz="1000" dirty="0">
                <a:solidFill>
                  <a:srgbClr val="2C332E"/>
                </a:solidFill>
                <a:latin typeface="Google Sans" pitchFamily="34" charset="0"/>
                <a:ea typeface="Google Sans" pitchFamily="34" charset="-122"/>
                <a:cs typeface="Google Sans" pitchFamily="34" charset="-120"/>
              </a:rPr>
              <a:t> o fluxo que desenhaste só se repete sem ti se estiver escrito. A capacidade volta no Capítulo 16, para medir o teto do negócio.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756000" y="792000"/>
            <a:ext cx="6084505" cy="4746623"/>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10</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Documentar processos e aplicar a lógica pessoas–processos–automação</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Com a Cauda Longa a funcionar, crescíamos todos os dias mas não rompíamos a barreira dos 70.000 MT. Foi então que accionámos a terceira alavanca: </a:t>
            </a:r>
            <a:r>
              <a:rPr lang="en-US" sz="1000" b="1" dirty="0">
                <a:solidFill>
                  <a:srgbClr val="14181A"/>
                </a:solidFill>
                <a:latin typeface="Google Sans" pitchFamily="34" charset="0"/>
                <a:ea typeface="Google Sans" pitchFamily="34" charset="-122"/>
                <a:cs typeface="Google Sans" pitchFamily="34" charset="-120"/>
              </a:rPr>
              <a:t>delegação e automação</a:t>
            </a:r>
            <a:r>
              <a:rPr lang="en-US" sz="1000" dirty="0">
                <a:solidFill>
                  <a:srgbClr val="2C332E"/>
                </a:solidFill>
                <a:latin typeface="Google Sans" pitchFamily="34" charset="0"/>
                <a:ea typeface="Google Sans" pitchFamily="34" charset="-122"/>
                <a:cs typeface="Google Sans" pitchFamily="34" charset="-120"/>
              </a:rPr>
              <a:t>. A operação já tinha mais de cinco colaboradores, mas para escalar de forma sustentável precisávamos de reorganizar processos, automatizar tarefas repetitivas e aumentar a eficiência.</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Primeiro, reavaliámos a equipa. Dois colaboradores dedicavam-se apenas a responder a mensagens no WhatsApp. Apesar do esforço, a tarefa era repetitiva, limitada ao horário das 8h às 17h e incapaz de acompanhar o crescimento diário dos leads. Substituímo-los por um BOT de atendimento, que fazia o mesmo trabalho 24 horas por dia, sem pausas, com mais velocidade e precisão. Eliminámos dois salários de 20.000 MT cada e passámos a pagar um plano anual de BOT de 11.000 MT.</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Depois, criámos processos internos inteligentes. Cada atendente passou a funcionar como uma “caixa”, com uma mini-estrutura dedicada: um entregador fixo, métodos de pagamento próprios, uma folha de gestão individual e fluxos operacionais claros. Cada pessoa dominava totalmente o seu microciclo de trabalho, o que trouxe mais autonomia, mais velocidade e mais produtividade.</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Repara na ordem. As pessoas fizeram o atendimento primeiro e aprenderam o que funcionava. Esse conhecimento virou script e processo. Só depois o BOT o automatizou. Automatizar uma tarefa que ninguém sabe fazer bem apenas produz erros mais depressa.</a:t>
            </a:r>
            <a:endParaRPr lang="en-US" sz="1020" dirty="0"/>
          </a:p>
        </p:txBody>
      </p:sp>
      <p:pic>
        <p:nvPicPr>
          <p:cNvPr id="3" name="Image 0" descr="Automatize só o que já está escrito num processo">    </p:cNvPr>
          <p:cNvPicPr>
            <a:picLocks noChangeAspect="1"/>
          </p:cNvPicPr>
          <p:nvPr/>
        </p:nvPicPr>
        <p:blipFill>
          <a:blip r:embed="rId1"/>
          <a:stretch>
            <a:fillRect/>
          </a:stretch>
        </p:blipFill>
        <p:spPr>
          <a:xfrm>
            <a:off x="756149" y="5763157"/>
            <a:ext cx="6047631" cy="1790105"/>
          </a:xfrm>
          <a:prstGeom prst="rect">
            <a:avLst/>
          </a:prstGeom>
        </p:spPr>
      </p:pic>
      <p:sp>
        <p:nvSpPr>
          <p:cNvPr id="4" name="Shape 1"/>
          <p:cNvSpPr/>
          <p:nvPr/>
        </p:nvSpPr>
        <p:spPr>
          <a:xfrm>
            <a:off x="756000" y="7679170"/>
            <a:ext cx="6047929" cy="0"/>
          </a:xfrm>
          <a:prstGeom prst="line">
            <a:avLst/>
          </a:prstGeom>
          <a:noFill/>
          <a:ln w="9525">
            <a:solidFill>
              <a:srgbClr val="E2E8DF"/>
            </a:solidFill>
            <a:prstDash val="solid"/>
          </a:ln>
        </p:spPr>
      </p:sp>
      <p:sp>
        <p:nvSpPr>
          <p:cNvPr id="5" name="Text 2"/>
          <p:cNvSpPr txBox="1"/>
          <p:nvPr/>
        </p:nvSpPr>
        <p:spPr>
          <a:xfrm>
            <a:off x="756000" y="7796596"/>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Automatize só o que já está escrito num processo</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15</a:t>
            </a:r>
            <a:r>
              <a:rPr lang="en-US" sz="830" dirty="0">
                <a:solidFill>
                  <a:srgbClr val="7E8780"/>
                </a:solidFill>
                <a:latin typeface="Google Sans" pitchFamily="34" charset="0"/>
                <a:ea typeface="Google Sans" pitchFamily="34" charset="-122"/>
                <a:cs typeface="Google Sans" pitchFamily="34" charset="-120"/>
              </a:rPr>
              <a:t> · A ordem pessoas → processos → automação</a:t>
            </a:r>
            <a:endParaRPr lang="en-US" sz="1020" dirty="0"/>
          </a:p>
        </p:txBody>
      </p:sp>
      <p:sp>
        <p:nvSpPr>
          <p:cNvPr id="6" name="Text 3"/>
          <p:cNvSpPr txBox="1"/>
          <p:nvPr/>
        </p:nvSpPr>
        <p:spPr>
          <a:xfrm>
            <a:off x="756000" y="8423013"/>
            <a:ext cx="6084505" cy="234005"/>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Processo de uma página.</a:t>
            </a:r>
            <a:r>
              <a:rPr lang="en-US" sz="1000" dirty="0">
                <a:solidFill>
                  <a:srgbClr val="2C332E"/>
                </a:solidFill>
                <a:latin typeface="Google Sans" pitchFamily="34" charset="0"/>
                <a:ea typeface="Google Sans" pitchFamily="34" charset="-122"/>
                <a:cs typeface="Google Sans" pitchFamily="34" charset="-120"/>
              </a:rPr>
              <a:t> Se não cabe numa página, divide-o em dois processos.</a:t>
            </a:r>
            <a:endParaRPr lang="en-US" sz="1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756000" y="8754305"/>
          <a:ext cx="6047929" cy="914400"/>
        </p:xfrm>
        <a:graphic>
          <a:graphicData uri="http://schemas.openxmlformats.org/drawingml/2006/table">
            <a:tbl>
              <a:tblPr/>
              <a:tblGrid>
                <a:gridCol w="1776710"/>
                <a:gridCol w="4252168"/>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Campo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escrever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Nome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Verbo + objecto, por exemplo “Confirmar pedido no WhatsApp”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Objectivo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resultado que o processo garante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1776710"/>
                <a:gridCol w="4252168"/>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Campo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escrever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 pessoa responsável por manter o processo actualizado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Gatilho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que faz o processo começar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Passos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 5 a 10 passos, cada um começado por um verbo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Padrão de qualidade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Como se sabe que ficou bem feito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Indicador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número que mostra se o processo funciona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Pode ser automatizado?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Que passos um BOT ou sistema pode fazer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3" name="Text 0"/>
          <p:cNvSpPr txBox="1"/>
          <p:nvPr/>
        </p:nvSpPr>
        <p:spPr>
          <a:xfrm>
            <a:off x="756000" y="3181584"/>
            <a:ext cx="6084505" cy="2568821"/>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Lista de verificação.</a:t>
            </a:r>
            <a:r>
              <a:rPr lang="en-US" sz="1000" dirty="0">
                <a:solidFill>
                  <a:srgbClr val="2C332E"/>
                </a:solidFill>
                <a:latin typeface="Google Sans" pitchFamily="34" charset="0"/>
                <a:ea typeface="Google Sans" pitchFamily="34" charset="-122"/>
                <a:cs typeface="Google Sans" pitchFamily="34" charset="-120"/>
              </a:rPr>
              <a:t> Transforma os passos críticos numa lista que quem executa marca no momento. Exemplo para uma entrega:</a:t>
            </a:r>
            <a:endParaRPr lang="en-US" sz="1000" dirty="0"/>
          </a:p>
          <a:p>
            <a:pPr algn="l" marL="190500" indent="-190500">
              <a:lnSpc>
                <a:spcPts val="1627"/>
              </a:lnSpc>
              <a:spcBef>
                <a:spcPts val="907"/>
              </a:spcBef>
              <a:buSzPct val="100000"/>
              <a:buChar char="□"/>
            </a:pPr>
            <a:r>
              <a:rPr lang="en-US" sz="1000" dirty="0">
                <a:solidFill>
                  <a:srgbClr val="2C332E"/>
                </a:solidFill>
                <a:latin typeface="Google Sans" pitchFamily="34" charset="0"/>
                <a:ea typeface="Google Sans" pitchFamily="34" charset="-122"/>
                <a:cs typeface="Google Sans" pitchFamily="34" charset="-120"/>
              </a:rPr>
              <a:t>Pedido confere com o que foi combinado no WhatsApp</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Produto verificado e bem embalado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Cliente avisado da hora de entrega</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Pagamento recebido e registado na folha da “caixa”</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Mensagem de pós-venda enviada</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Na prática: um processo de uma página e automações baratas</a:t>
            </a:r>
            <a:endParaRPr lang="en-US" sz="100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O processo “Receber encomenda de bolo”, da Yara.</a:t>
            </a:r>
            <a:endParaRPr lang="en-US" sz="1000" dirty="0"/>
          </a:p>
        </p:txBody>
      </p:sp>
      <p:graphicFrame>
        <p:nvGraphicFramePr>
          <p:cNvPr id="115" name="Table 1"/>
          <p:cNvGraphicFramePr>
            <a:graphicFrameLocks noGrp="1"/>
          </p:cNvGraphicFramePr>
          <p:nvPr>
            <p:extLst>
              <p:ext uri="{D42A27DB-BD31-4B8C-83A1-F6EECF244321}">
                <p14:modId xmlns:p14="http://schemas.microsoft.com/office/powerpoint/2010/main" val="1579011935"/>
              </p:ext>
            </p:extLst>
          </p:nvPr>
        </p:nvGraphicFramePr>
        <p:xfrm>
          <a:off x="756000" y="5847691"/>
          <a:ext cx="6047929" cy="914400"/>
        </p:xfrm>
        <a:graphic>
          <a:graphicData uri="http://schemas.openxmlformats.org/drawingml/2006/table">
            <a:tbl>
              <a:tblPr/>
              <a:tblGrid>
                <a:gridCol w="1123652"/>
                <a:gridCol w="4905226"/>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Campo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Nome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Receber encomenda de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Objectivo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Encomenda confirmada, com sinal pago e sem erros no tema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Gatilho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Uma mensagem a pedir um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634157">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Passos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 Perguntar data, número de pessoas e tema. 2. Enviar o catálogo com três opções e preços. 3. Confirmar sabor, recheio e texto. 4. Pedir 50% de sinal por M-Pesa. 5. Registar na agenda e na folha de encomendas. 6. Enviar um resumo escrito ao cliente.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Padrão de qualidade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cliente confirma o resumo por escrito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Indicador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Encomendas com erro no tema: zero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Pode ser automatizado?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catálogo e o resumo, com respostas rápidas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756000" y="792000"/>
            <a:ext cx="6084505" cy="234005"/>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Automatizar sem gastar muito.</a:t>
            </a:r>
            <a:r>
              <a:rPr lang="en-US" sz="1000" dirty="0">
                <a:solidFill>
                  <a:srgbClr val="2C332E"/>
                </a:solidFill>
                <a:latin typeface="Google Sans" pitchFamily="34" charset="0"/>
                <a:ea typeface="Google Sans" pitchFamily="34" charset="-122"/>
                <a:cs typeface="Google Sans" pitchFamily="34" charset="-120"/>
              </a:rPr>
              <a:t> Não precisas de sistemas caros para dar o primeiro passo:</a:t>
            </a:r>
            <a:endParaRPr lang="en-US" sz="1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756000" y="1123291"/>
          <a:ext cx="6047929" cy="914400"/>
        </p:xfrm>
        <a:graphic>
          <a:graphicData uri="http://schemas.openxmlformats.org/drawingml/2006/table">
            <a:tbl>
              <a:tblPr/>
              <a:tblGrid>
                <a:gridCol w="3068836"/>
                <a:gridCol w="1873300"/>
                <a:gridCol w="1086743"/>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Ferramenta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Para quê</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Quem a usa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WhatsApp Business: catálogo, respostas rápidas, etiquetas, mensagem de ausência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Responder mais depressa e organizar clientes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Todos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Agenda online com lembretes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Marcações sem troca de mensagens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Plataforma de cursos ou link de acesso enviado após o pagamento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Entregar o curso sem intervenção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Hélder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Formulário online de briefing</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Recolher a informação antes da chamada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Tiago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Folha de encomendas no Google Sheets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Ver todos os pedidos num só sítio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Yara, Neyma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Modelos no Canva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Criar posts e catálogos em minutos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Tiago e todos os outros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4" name="Text 1"/>
          <p:cNvSpPr txBox="1"/>
          <p:nvPr/>
        </p:nvSpPr>
        <p:spPr>
          <a:xfrm>
            <a:off x="756000" y="4546636"/>
            <a:ext cx="6084505" cy="1274761"/>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12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Processo só na cabeça.</a:t>
            </a:r>
            <a:r>
              <a:rPr lang="en-US" sz="1000" dirty="0">
                <a:solidFill>
                  <a:srgbClr val="2C332E"/>
                </a:solidFill>
                <a:latin typeface="Google Sans" pitchFamily="34" charset="0"/>
                <a:ea typeface="Google Sans" pitchFamily="34" charset="-122"/>
                <a:cs typeface="Google Sans" pitchFamily="34" charset="-120"/>
              </a:rPr>
              <a:t> Se só tu sabes fazer, só tu podes fazer.</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Automatizar antes de ter o script.</a:t>
            </a:r>
            <a:r>
              <a:rPr lang="en-US" sz="1000" dirty="0">
                <a:solidFill>
                  <a:srgbClr val="2C332E"/>
                </a:solidFill>
                <a:latin typeface="Google Sans" pitchFamily="34" charset="0"/>
                <a:ea typeface="Google Sans" pitchFamily="34" charset="-122"/>
                <a:cs typeface="Google Sans" pitchFamily="34" charset="-120"/>
              </a:rPr>
              <a:t> Um BOT sem guião responde mal, mas mais depressa.</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Comprar ferramentas caras antes de precisar.</a:t>
            </a:r>
            <a:r>
              <a:rPr lang="en-US" sz="1000" dirty="0">
                <a:solidFill>
                  <a:srgbClr val="2C332E"/>
                </a:solidFill>
                <a:latin typeface="Google Sans" pitchFamily="34" charset="0"/>
                <a:ea typeface="Google Sans" pitchFamily="34" charset="-122"/>
                <a:cs typeface="Google Sans" pitchFamily="34" charset="-120"/>
              </a:rPr>
              <a:t> Começa com o WhatsApp Business e uma folha de cálculo.</a:t>
            </a:r>
            <a:endParaRPr lang="en-US" sz="1120" dirty="0"/>
          </a:p>
        </p:txBody>
      </p:sp>
      <p:sp>
        <p:nvSpPr>
          <p:cNvPr id="5" name="Shape 2"/>
          <p:cNvSpPr/>
          <p:nvPr/>
        </p:nvSpPr>
        <p:spPr>
          <a:xfrm>
            <a:off x="756000" y="5937881"/>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6" name="Text 3"/>
          <p:cNvSpPr txBox="1"/>
          <p:nvPr/>
        </p:nvSpPr>
        <p:spPr>
          <a:xfrm>
            <a:off x="971950" y="6117814"/>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10: Processos de uma página.</a:t>
            </a:r>
            <a:r>
              <a:rPr lang="en-US" sz="1000" dirty="0">
                <a:solidFill>
                  <a:srgbClr val="2C332E"/>
                </a:solidFill>
                <a:latin typeface="Google Sans" pitchFamily="34" charset="0"/>
                <a:ea typeface="Google Sans" pitchFamily="34" charset="-122"/>
                <a:cs typeface="Google Sans" pitchFamily="34" charset="-120"/>
              </a:rPr>
              <a:t> Usa o guião (Capítulo 7) e o fluxo operacional (Capítulo 9).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tempo médio de resposta no WhatsApp. </a:t>
            </a:r>
            <a:r>
              <a:rPr lang="en-US" sz="1000" b="1" dirty="0">
                <a:solidFill>
                  <a:srgbClr val="21703A"/>
                </a:solidFill>
                <a:latin typeface="Google Sans" pitchFamily="34" charset="0"/>
                <a:ea typeface="Google Sans" pitchFamily="34" charset="-122"/>
                <a:cs typeface="Google Sans" pitchFamily="34" charset="-120"/>
              </a:rPr>
              <a:t>Segue para o Capítulo 11:</a:t>
            </a:r>
            <a:r>
              <a:rPr lang="en-US" sz="1000" dirty="0">
                <a:solidFill>
                  <a:srgbClr val="2C332E"/>
                </a:solidFill>
                <a:latin typeface="Google Sans" pitchFamily="34" charset="0"/>
                <a:ea typeface="Google Sans" pitchFamily="34" charset="-122"/>
                <a:cs typeface="Google Sans" pitchFamily="34" charset="-120"/>
              </a:rPr>
              <a:t> com os processos escritos, já podes passar o trabalho a outras pessoas — e sair do operacional.</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756000" y="792000"/>
            <a:ext cx="6047929" cy="2947690"/>
          </a:xfrm>
          <a:prstGeom prst="roundRect">
            <a:avLst>
              <a:gd name="adj" fmla="val 7445"/>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87729"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5</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Pessoas e gestão</a:t>
            </a:r>
            <a:endParaRPr lang="en-US" sz="2520" dirty="0"/>
          </a:p>
        </p:txBody>
      </p:sp>
      <p:sp>
        <p:nvSpPr>
          <p:cNvPr id="5" name="Shape 3"/>
          <p:cNvSpPr/>
          <p:nvPr/>
        </p:nvSpPr>
        <p:spPr>
          <a:xfrm>
            <a:off x="1079999" y="2893769"/>
            <a:ext cx="5399931" cy="0"/>
          </a:xfrm>
          <a:prstGeom prst="line">
            <a:avLst/>
          </a:prstGeom>
          <a:noFill/>
          <a:ln w="9525">
            <a:solidFill>
              <a:srgbClr val="CFE3C3"/>
            </a:solidFill>
            <a:prstDash val="solid"/>
          </a:ln>
        </p:spPr>
      </p:sp>
      <p:sp>
        <p:nvSpPr>
          <p:cNvPr id="6" name="Text 4"/>
          <p:cNvSpPr txBox="1"/>
          <p:nvPr/>
        </p:nvSpPr>
        <p:spPr>
          <a:xfrm>
            <a:off x="1079999" y="1977863"/>
            <a:ext cx="5436507" cy="142024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Um negócio que depende do dono para tudo não escala: cresce até ao limite das horas do dono e pára. Foi isso que nos prendeu abaixo dos 70.000 MT diários. Nesta parte vais passar trabalho para a equipa, contratar bem, acompanhar o desempenho e usar as reuniões para decidir.</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Nível 3 — Previsibilidade · Peças 11 a 14 · Recebes da Parte 4: processos escritos · Entregas à Parte 6: uma equipa que funciona sem ti.</a:t>
            </a:r>
            <a:endParaRPr lang="en-US" sz="1000" dirty="0"/>
          </a:p>
        </p:txBody>
      </p:sp>
      <p:sp>
        <p:nvSpPr>
          <p:cNvPr id="7" name="Text 5"/>
          <p:cNvSpPr txBox="1"/>
          <p:nvPr/>
        </p:nvSpPr>
        <p:spPr>
          <a:xfrm>
            <a:off x="756000" y="4063689"/>
            <a:ext cx="6084505" cy="44057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 dono sai do operacional atravessando quatro zonas. A maioria fica presa na segunda: tenta delegar, mas não confia. Os quatro capítulos desta parte são os degraus para passar à terceira e à quarta.</a:t>
            </a:r>
            <a:endParaRPr lang="en-US" sz="1000" dirty="0"/>
          </a:p>
        </p:txBody>
      </p:sp>
      <p:pic>
        <p:nvPicPr>
          <p:cNvPr id="8" name="Image 0" descr="Quatro zonas para sair do operacional">    </p:cNvPr>
          <p:cNvPicPr>
            <a:picLocks noChangeAspect="1"/>
          </p:cNvPicPr>
          <p:nvPr/>
        </p:nvPicPr>
        <p:blipFill>
          <a:blip r:embed="rId1"/>
          <a:stretch>
            <a:fillRect/>
          </a:stretch>
        </p:blipFill>
        <p:spPr>
          <a:xfrm>
            <a:off x="1431680" y="4728802"/>
            <a:ext cx="4696420" cy="4031903"/>
          </a:xfrm>
          <a:prstGeom prst="rect">
            <a:avLst/>
          </a:prstGeom>
        </p:spPr>
      </p:pic>
      <p:sp>
        <p:nvSpPr>
          <p:cNvPr id="9" name="Shape 6"/>
          <p:cNvSpPr/>
          <p:nvPr/>
        </p:nvSpPr>
        <p:spPr>
          <a:xfrm>
            <a:off x="756000" y="8886613"/>
            <a:ext cx="6047929" cy="0"/>
          </a:xfrm>
          <a:prstGeom prst="line">
            <a:avLst/>
          </a:prstGeom>
          <a:noFill/>
          <a:ln w="9525">
            <a:solidFill>
              <a:srgbClr val="E2E8DF"/>
            </a:solidFill>
            <a:prstDash val="solid"/>
          </a:ln>
        </p:spPr>
      </p:sp>
      <p:sp>
        <p:nvSpPr>
          <p:cNvPr id="10" name="Text 7"/>
          <p:cNvSpPr txBox="1"/>
          <p:nvPr/>
        </p:nvSpPr>
        <p:spPr>
          <a:xfrm>
            <a:off x="756000" y="9004038"/>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Quatro zonas para sair do operacional</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16</a:t>
            </a:r>
            <a:r>
              <a:rPr lang="en-US" sz="830" dirty="0">
                <a:solidFill>
                  <a:srgbClr val="7E8780"/>
                </a:solidFill>
                <a:latin typeface="Google Sans" pitchFamily="34" charset="0"/>
                <a:ea typeface="Google Sans" pitchFamily="34" charset="-122"/>
                <a:cs typeface="Google Sans" pitchFamily="34" charset="-120"/>
              </a:rPr>
              <a:t> · As quatro zonas para sair do operacional</a:t>
            </a:r>
            <a:endParaRPr lang="en-US" sz="102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756000" y="792000"/>
            <a:ext cx="6084505" cy="1420910"/>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11</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Delegar na ordem adequada</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Delegar tudo de uma vez cria caos; não delegar nada cria um teto. A ordem certa começa pelas áreas de menor risco, onde um erro custa pouco e se corrige depressa, e sobe até às de maior risco, onde um erro pode comprometer a empresa.</a:t>
            </a:r>
            <a:endParaRPr lang="en-US" sz="1020" dirty="0"/>
          </a:p>
        </p:txBody>
      </p:sp>
      <p:pic>
        <p:nvPicPr>
          <p:cNvPr id="3" name="Image 0" descr="Começa a delegar pelo que tem menos risco">    </p:cNvPr>
          <p:cNvPicPr>
            <a:picLocks noChangeAspect="1"/>
          </p:cNvPicPr>
          <p:nvPr/>
        </p:nvPicPr>
        <p:blipFill>
          <a:blip r:embed="rId1"/>
          <a:stretch>
            <a:fillRect/>
          </a:stretch>
        </p:blipFill>
        <p:spPr>
          <a:xfrm>
            <a:off x="756149" y="2437444"/>
            <a:ext cx="6047631" cy="3625602"/>
          </a:xfrm>
          <a:prstGeom prst="rect">
            <a:avLst/>
          </a:prstGeom>
        </p:spPr>
      </p:pic>
      <p:sp>
        <p:nvSpPr>
          <p:cNvPr id="4" name="Shape 1"/>
          <p:cNvSpPr/>
          <p:nvPr/>
        </p:nvSpPr>
        <p:spPr>
          <a:xfrm>
            <a:off x="756000" y="6188954"/>
            <a:ext cx="6047929" cy="0"/>
          </a:xfrm>
          <a:prstGeom prst="line">
            <a:avLst/>
          </a:prstGeom>
          <a:noFill/>
          <a:ln w="9525">
            <a:solidFill>
              <a:srgbClr val="E2E8DF"/>
            </a:solidFill>
            <a:prstDash val="solid"/>
          </a:ln>
        </p:spPr>
      </p:sp>
      <p:sp>
        <p:nvSpPr>
          <p:cNvPr id="5" name="Text 2"/>
          <p:cNvSpPr txBox="1"/>
          <p:nvPr/>
        </p:nvSpPr>
        <p:spPr>
          <a:xfrm>
            <a:off x="756000" y="6306380"/>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Começa a delegar pelo que tem menos risco</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17</a:t>
            </a:r>
            <a:r>
              <a:rPr lang="en-US" sz="830" dirty="0">
                <a:solidFill>
                  <a:srgbClr val="7E8780"/>
                </a:solidFill>
                <a:latin typeface="Google Sans" pitchFamily="34" charset="0"/>
                <a:ea typeface="Google Sans" pitchFamily="34" charset="-122"/>
                <a:cs typeface="Google Sans" pitchFamily="34" charset="-120"/>
              </a:rPr>
              <a:t> · Por onde começar a delegar</a:t>
            </a:r>
            <a:endParaRPr lang="en-US" sz="1020" dirty="0"/>
          </a:p>
        </p:txBody>
      </p:sp>
      <p:sp>
        <p:nvSpPr>
          <p:cNvPr id="6" name="Text 3"/>
          <p:cNvSpPr txBox="1"/>
          <p:nvPr/>
        </p:nvSpPr>
        <p:spPr>
          <a:xfrm>
            <a:off x="756000" y="6932797"/>
            <a:ext cx="6084505" cy="2600373"/>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Foi exactamente assim que fizemos: primeiro as entregas, com motas e entregadores internos; depois o atendimento, com as “caixas” e o BOT. As áreas acima da linha — financeiro e administração — delegam-se por último, com controlos claros e acompanhamento do dono.</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Delegar também tem níveis. Sobe um nível de cada vez, à medida que a confiança cresce:</a:t>
            </a:r>
            <a:endParaRPr lang="en-US" sz="1000" dirty="0"/>
          </a:p>
          <a:p>
            <a:pPr algn="l" marL="215900" indent="-215900">
              <a:lnSpc>
                <a:spcPts val="1627"/>
              </a:lnSpc>
              <a:spcBef>
                <a:spcPts val="907"/>
              </a:spcBef>
              <a:buSzPct val="100000"/>
              <a:buFont typeface="+mj-lt"/>
              <a:buAutoNum type="arabicPeriod" startAt="1"/>
            </a:pPr>
            <a:r>
              <a:rPr lang="en-US" sz="1000" dirty="0">
                <a:solidFill>
                  <a:srgbClr val="2C332E"/>
                </a:solidFill>
                <a:latin typeface="Google Sans" pitchFamily="34" charset="0"/>
                <a:ea typeface="Google Sans" pitchFamily="34" charset="-122"/>
                <a:cs typeface="Google Sans" pitchFamily="34" charset="-120"/>
              </a:rPr>
              <a:t>Faz e eu reviso tudo antes de seguir.</a:t>
            </a:r>
            <a:endParaRPr lang="en-US" sz="1000" dirty="0"/>
          </a:p>
          <a:p>
            <a:pPr algn="l" marL="215900" indent="-215900">
              <a:lnSpc>
                <a:spcPts val="1627"/>
              </a:lnSpc>
              <a:spcBef>
                <a:spcPts val="396"/>
              </a:spcBef>
              <a:buSzPct val="100000"/>
              <a:buFont typeface="+mj-lt"/>
              <a:buAutoNum type="arabicPeriod" startAt="2"/>
            </a:pPr>
            <a:r>
              <a:rPr lang="en-US" sz="1000" dirty="0">
                <a:solidFill>
                  <a:srgbClr val="2C332E"/>
                </a:solidFill>
                <a:latin typeface="Google Sans" pitchFamily="34" charset="0"/>
                <a:ea typeface="Google Sans" pitchFamily="34" charset="-122"/>
                <a:cs typeface="Google Sans" pitchFamily="34" charset="-120"/>
              </a:rPr>
              <a:t>Faz e mostra-me o resultado no fim do dia.</a:t>
            </a:r>
            <a:endParaRPr lang="en-US" sz="1000" dirty="0"/>
          </a:p>
          <a:p>
            <a:pPr algn="l" marL="215900" indent="-215900">
              <a:lnSpc>
                <a:spcPts val="1627"/>
              </a:lnSpc>
              <a:spcBef>
                <a:spcPts val="396"/>
              </a:spcBef>
              <a:buSzPct val="100000"/>
              <a:buFont typeface="+mj-lt"/>
              <a:buAutoNum type="arabicPeriod" startAt="3"/>
            </a:pPr>
            <a:r>
              <a:rPr lang="en-US" sz="1000" dirty="0">
                <a:solidFill>
                  <a:srgbClr val="2C332E"/>
                </a:solidFill>
                <a:latin typeface="Google Sans" pitchFamily="34" charset="0"/>
                <a:ea typeface="Google Sans" pitchFamily="34" charset="-122"/>
                <a:cs typeface="Google Sans" pitchFamily="34" charset="-120"/>
              </a:rPr>
              <a:t>Faz e avisa-me só se houver problema.</a:t>
            </a:r>
            <a:endParaRPr lang="en-US" sz="1000" dirty="0"/>
          </a:p>
          <a:p>
            <a:pPr algn="l" marL="215900" indent="-215900">
              <a:lnSpc>
                <a:spcPts val="1627"/>
              </a:lnSpc>
              <a:spcBef>
                <a:spcPts val="396"/>
              </a:spcBef>
              <a:buSzPct val="100000"/>
              <a:buFont typeface="+mj-lt"/>
              <a:buAutoNum type="arabicPeriod" startAt="4"/>
            </a:pPr>
            <a:r>
              <a:rPr lang="en-US" sz="1000" dirty="0">
                <a:solidFill>
                  <a:srgbClr val="2C332E"/>
                </a:solidFill>
                <a:latin typeface="Google Sans" pitchFamily="34" charset="0"/>
                <a:ea typeface="Google Sans" pitchFamily="34" charset="-122"/>
                <a:cs typeface="Google Sans" pitchFamily="34" charset="-120"/>
              </a:rPr>
              <a:t>Decide e informa-me na reunião semanal.</a:t>
            </a:r>
            <a:endParaRPr lang="en-US" sz="1000" dirty="0"/>
          </a:p>
          <a:p>
            <a:pPr algn="l" indent="0" marL="0">
              <a:lnSpc>
                <a:spcPts val="1627"/>
              </a:lnSpc>
              <a:spcBef>
                <a:spcPts val="991"/>
              </a:spcBef>
              <a:buNone/>
            </a:pPr>
            <a:r>
              <a:rPr lang="en-US" sz="1000" dirty="0">
                <a:solidFill>
                  <a:srgbClr val="2C332E"/>
                </a:solidFill>
                <a:latin typeface="Google Sans" pitchFamily="34" charset="0"/>
                <a:ea typeface="Google Sans" pitchFamily="34" charset="-122"/>
                <a:cs typeface="Google Sans" pitchFamily="34" charset="-120"/>
              </a:rPr>
              <a:t>Qualquer tarefa delegada assenta em seis camadas, construídas de baixo para cima. Quando a delegação falha, a causa está quase sempre numa camada da base.</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Delegar bem assenta em seis camadas, da base para o topo">    </p:cNvPr>
          <p:cNvPicPr>
            <a:picLocks noChangeAspect="1"/>
          </p:cNvPicPr>
          <p:nvPr/>
        </p:nvPicPr>
        <p:blipFill>
          <a:blip r:embed="rId1"/>
          <a:stretch>
            <a:fillRect/>
          </a:stretch>
        </p:blipFill>
        <p:spPr>
          <a:xfrm>
            <a:off x="756000" y="792000"/>
            <a:ext cx="6047780" cy="3716387"/>
          </a:xfrm>
          <a:prstGeom prst="rect">
            <a:avLst/>
          </a:prstGeom>
        </p:spPr>
      </p:pic>
      <p:sp>
        <p:nvSpPr>
          <p:cNvPr id="3" name="Shape 0"/>
          <p:cNvSpPr/>
          <p:nvPr/>
        </p:nvSpPr>
        <p:spPr>
          <a:xfrm>
            <a:off x="756000" y="4634296"/>
            <a:ext cx="6047929" cy="0"/>
          </a:xfrm>
          <a:prstGeom prst="line">
            <a:avLst/>
          </a:prstGeom>
          <a:noFill/>
          <a:ln w="9525">
            <a:solidFill>
              <a:srgbClr val="E2E8DF"/>
            </a:solidFill>
            <a:prstDash val="solid"/>
          </a:ln>
        </p:spPr>
      </p:sp>
      <p:sp>
        <p:nvSpPr>
          <p:cNvPr id="4" name="Text 1"/>
          <p:cNvSpPr txBox="1"/>
          <p:nvPr/>
        </p:nvSpPr>
        <p:spPr>
          <a:xfrm>
            <a:off x="756000" y="4751721"/>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Delegar bem assenta em seis camadas, da base para o topo</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18</a:t>
            </a:r>
            <a:r>
              <a:rPr lang="en-US" sz="830" dirty="0">
                <a:solidFill>
                  <a:srgbClr val="7E8780"/>
                </a:solidFill>
                <a:latin typeface="Google Sans" pitchFamily="34" charset="0"/>
                <a:ea typeface="Google Sans" pitchFamily="34" charset="-122"/>
                <a:cs typeface="Google Sans" pitchFamily="34" charset="-120"/>
              </a:rPr>
              <a:t> · A pirâmide da delegação</a:t>
            </a:r>
            <a:endParaRPr lang="en-US" sz="1020" dirty="0"/>
          </a:p>
        </p:txBody>
      </p:sp>
      <p:sp>
        <p:nvSpPr>
          <p:cNvPr id="5" name="Text 2"/>
          <p:cNvSpPr txBox="1"/>
          <p:nvPr/>
        </p:nvSpPr>
        <p:spPr>
          <a:xfrm>
            <a:off x="756000" y="5378139"/>
            <a:ext cx="6084505" cy="440579"/>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Plano de delegação.</a:t>
            </a:r>
            <a:r>
              <a:rPr lang="en-US" sz="1000" dirty="0">
                <a:solidFill>
                  <a:srgbClr val="2C332E"/>
                </a:solidFill>
                <a:latin typeface="Google Sans" pitchFamily="34" charset="0"/>
                <a:ea typeface="Google Sans" pitchFamily="34" charset="-122"/>
                <a:cs typeface="Google Sans" pitchFamily="34" charset="-120"/>
              </a:rPr>
              <a:t> Durante uma semana, anota todas as tarefas que fazes e quanto tempo levam. Coloca cada uma no degrau de risco certo e começa pelo degrau mais baixo.</a:t>
            </a:r>
            <a:endParaRPr lang="en-US" sz="1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756000" y="5916004"/>
          <a:ext cx="6047929" cy="914400"/>
        </p:xfrm>
        <a:graphic>
          <a:graphicData uri="http://schemas.openxmlformats.org/drawingml/2006/table">
            <a:tbl>
              <a:tblPr/>
              <a:tblGrid>
                <a:gridCol w="543818"/>
                <a:gridCol w="1118890"/>
                <a:gridCol w="1320254"/>
                <a:gridCol w="750838"/>
                <a:gridCol w="1052513"/>
                <a:gridCol w="776436"/>
                <a:gridCol w="466130"/>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Tarefa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Horas por semana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Área e degrau de risco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Para quem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Processo existe?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Nível inicial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Data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143768">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7" name="Text 3"/>
          <p:cNvSpPr txBox="1"/>
          <p:nvPr/>
        </p:nvSpPr>
        <p:spPr>
          <a:xfrm>
            <a:off x="756000" y="6809716"/>
            <a:ext cx="6084505" cy="967579"/>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a primeira delegação</a:t>
            </a:r>
            <a:endParaRPr lang="en-US" sz="1120" dirty="0"/>
          </a:p>
          <a:p>
            <a:pPr algn="l" indent="0" marL="0">
              <a:lnSpc>
                <a:spcPts val="1627"/>
              </a:lnSpc>
              <a:spcBef>
                <a:spcPts val="708"/>
              </a:spcBef>
              <a:buNone/>
            </a:pPr>
            <a:r>
              <a:rPr lang="en-US" sz="1000" dirty="0">
                <a:solidFill>
                  <a:srgbClr val="2C332E"/>
                </a:solidFill>
                <a:latin typeface="Google Sans" pitchFamily="34" charset="0"/>
                <a:ea typeface="Google Sans" pitchFamily="34" charset="-122"/>
                <a:cs typeface="Google Sans" pitchFamily="34" charset="-120"/>
              </a:rPr>
              <a:t>Nestes negócios, a primeira pessoa raramente é um funcionário a tempo inteiro. É um freelancer pago à tarefa, uma assistente em part-time ou um motoqueiro pago por entrega. Começa assim, e passa a contrato fixo quando o volume o justificar.</a:t>
            </a:r>
            <a:endParaRPr lang="en-US" sz="1120" dirty="0"/>
          </a:p>
        </p:txBody>
      </p:sp>
      <p:graphicFrame>
        <p:nvGraphicFramePr>
          <p:cNvPr id="123" name="Table 1"/>
          <p:cNvGraphicFramePr>
            <a:graphicFrameLocks noGrp="1"/>
          </p:cNvGraphicFramePr>
          <p:nvPr>
            <p:extLst>
              <p:ext uri="{D42A27DB-BD31-4B8C-83A1-F6EECF244321}">
                <p14:modId xmlns:p14="http://schemas.microsoft.com/office/powerpoint/2010/main" val="1579011935"/>
              </p:ext>
            </p:extLst>
          </p:nvPr>
        </p:nvGraphicFramePr>
        <p:xfrm>
          <a:off x="756000" y="7874582"/>
          <a:ext cx="6047929" cy="914400"/>
        </p:xfrm>
        <a:graphic>
          <a:graphicData uri="http://schemas.openxmlformats.org/drawingml/2006/table">
            <a:tbl>
              <a:tblPr/>
              <a:tblGrid>
                <a:gridCol w="809774"/>
                <a:gridCol w="1715393"/>
                <a:gridCol w="2085082"/>
                <a:gridCol w="1418630"/>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1.ª delegação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2.ª delegação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o dono mantém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Neyma Store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Entregas, a motoqueiros pagos por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Atendimento à noite, a uma assistente em part-time com o guião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Compras ao fornecedor e dinheiro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Doces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Decorações simples, a uma ajudante aos sábados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Receitas, preços e bolos de casamento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Célia Makeup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Tranças e cílios, a uma assistente que ela formou</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Respostas às marcações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Noivas e conteúdo das redes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809774"/>
                <a:gridCol w="1715393"/>
                <a:gridCol w="2085082"/>
                <a:gridCol w="1418630"/>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Negócio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1.ª delegação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2.ª delegação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o dono mantém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Excel em 7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Suporte aos alunos, a um ex-aluno monitor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Edição dos vídeos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Conteúdo do curso e anúncios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TS Design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Posts de rotina, a um designer júnior com modelos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Agendamento das publicações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Relação com os clientes e propostas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2247837"/>
            <a:ext cx="6084505" cy="1733300"/>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Família e amigos.</a:t>
            </a:r>
            <a:r>
              <a:rPr lang="en-US" sz="1000" dirty="0">
                <a:solidFill>
                  <a:srgbClr val="2C332E"/>
                </a:solidFill>
                <a:latin typeface="Google Sans" pitchFamily="34" charset="0"/>
                <a:ea typeface="Google Sans" pitchFamily="34" charset="-122"/>
                <a:cs typeface="Google Sans" pitchFamily="34" charset="-120"/>
              </a:rPr>
              <a:t> Contratar a prima ou o amigo é comum e pode funcionar — desde que haja ficha de função, pagamento combinado e as mesmas regras que terias com qualquer outra pessoa.</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Delegar sem processo</a:t>
            </a:r>
            <a:r>
              <a:rPr lang="en-US" sz="1000" dirty="0">
                <a:solidFill>
                  <a:srgbClr val="2C332E"/>
                </a:solidFill>
                <a:latin typeface="Google Sans" pitchFamily="34" charset="0"/>
                <a:ea typeface="Google Sans" pitchFamily="34" charset="-122"/>
                <a:cs typeface="Google Sans" pitchFamily="34" charset="-120"/>
              </a:rPr>
              <a:t> e culpar a pessoa pelo resultado.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Retomar a tarefa ao primeiro erro.</a:t>
            </a:r>
            <a:r>
              <a:rPr lang="en-US" sz="1000" dirty="0">
                <a:solidFill>
                  <a:srgbClr val="2C332E"/>
                </a:solidFill>
                <a:latin typeface="Google Sans" pitchFamily="34" charset="0"/>
                <a:ea typeface="Google Sans" pitchFamily="34" charset="-122"/>
                <a:cs typeface="Google Sans" pitchFamily="34" charset="-120"/>
              </a:rPr>
              <a:t> Volta um nível de delegação atrás, mas não desistas.</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Delegar o dinheiro cedo demais.</a:t>
            </a:r>
            <a:r>
              <a:rPr lang="en-US" sz="1000" dirty="0">
                <a:solidFill>
                  <a:srgbClr val="2C332E"/>
                </a:solidFill>
                <a:latin typeface="Google Sans" pitchFamily="34" charset="0"/>
                <a:ea typeface="Google Sans" pitchFamily="34" charset="-122"/>
                <a:cs typeface="Google Sans" pitchFamily="34" charset="-120"/>
              </a:rPr>
              <a:t> O financeiro está acima da linha vermelha por uma razão.</a:t>
            </a:r>
            <a:endParaRPr lang="en-US" sz="1000" dirty="0"/>
          </a:p>
        </p:txBody>
      </p:sp>
      <p:sp>
        <p:nvSpPr>
          <p:cNvPr id="4" name="Shape 1"/>
          <p:cNvSpPr/>
          <p:nvPr/>
        </p:nvSpPr>
        <p:spPr>
          <a:xfrm>
            <a:off x="756000" y="4097621"/>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5" name="Text 2"/>
          <p:cNvSpPr txBox="1"/>
          <p:nvPr/>
        </p:nvSpPr>
        <p:spPr>
          <a:xfrm>
            <a:off x="971950" y="4277555"/>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11: Plano de delegação.</a:t>
            </a:r>
            <a:r>
              <a:rPr lang="en-US" sz="1000" dirty="0">
                <a:solidFill>
                  <a:srgbClr val="2C332E"/>
                </a:solidFill>
                <a:latin typeface="Google Sans" pitchFamily="34" charset="0"/>
                <a:ea typeface="Google Sans" pitchFamily="34" charset="-122"/>
                <a:cs typeface="Google Sans" pitchFamily="34" charset="-120"/>
              </a:rPr>
              <a:t> Usa os processos (Capítulo 10): só delegas o que está escrito.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horas por semana do dono no operacional. Antes de delegar uma área acima da linha vermelha, passa a decisão pela Tríade da Confiança. </a:t>
            </a:r>
            <a:r>
              <a:rPr lang="en-US" sz="1000" b="1" dirty="0">
                <a:solidFill>
                  <a:srgbClr val="21703A"/>
                </a:solidFill>
                <a:latin typeface="Google Sans" pitchFamily="34" charset="0"/>
                <a:ea typeface="Google Sans" pitchFamily="34" charset="-122"/>
                <a:cs typeface="Google Sans" pitchFamily="34" charset="-120"/>
              </a:rPr>
              <a:t>Segue para o Capítulo 12:</a:t>
            </a:r>
            <a:r>
              <a:rPr lang="en-US" sz="1000" dirty="0">
                <a:solidFill>
                  <a:srgbClr val="2C332E"/>
                </a:solidFill>
                <a:latin typeface="Google Sans" pitchFamily="34" charset="0"/>
                <a:ea typeface="Google Sans" pitchFamily="34" charset="-122"/>
                <a:cs typeface="Google Sans" pitchFamily="34" charset="-120"/>
              </a:rPr>
              <a:t> as tarefas que ninguém na equipa pode assumir dizem-te quem tens de contratar.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756000" y="792000"/>
            <a:ext cx="6084505" cy="3616422"/>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12</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Construir o funil de contratação</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Contratar também é um funil: muitos candidatos entram e poucos chegam ao fim. Quem contrata com pressa e com um só candidato aceita o primeiro que aparece.</a:t>
            </a:r>
            <a:endParaRPr lang="en-US" sz="1020" dirty="0"/>
          </a:p>
          <a:p>
            <a:pPr algn="l" marL="215900" indent="-215900">
              <a:lnSpc>
                <a:spcPts val="1627"/>
              </a:lnSpc>
              <a:spcBef>
                <a:spcPts val="907"/>
              </a:spcBef>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Ficha de função:</a:t>
            </a:r>
            <a:r>
              <a:rPr lang="en-US" sz="1000" dirty="0">
                <a:solidFill>
                  <a:srgbClr val="2C332E"/>
                </a:solidFill>
                <a:latin typeface="Google Sans" pitchFamily="34" charset="0"/>
                <a:ea typeface="Google Sans" pitchFamily="34" charset="-122"/>
                <a:cs typeface="Google Sans" pitchFamily="34" charset="-120"/>
              </a:rPr>
              <a:t> o que a pessoa vai entregar e como será medida.</a:t>
            </a:r>
            <a:endParaRPr lang="en-US" sz="102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Divulgação:</a:t>
            </a:r>
            <a:r>
              <a:rPr lang="en-US" sz="1000" dirty="0">
                <a:solidFill>
                  <a:srgbClr val="2C332E"/>
                </a:solidFill>
                <a:latin typeface="Google Sans" pitchFamily="34" charset="0"/>
                <a:ea typeface="Google Sans" pitchFamily="34" charset="-122"/>
                <a:cs typeface="Google Sans" pitchFamily="34" charset="-120"/>
              </a:rPr>
              <a:t> anúncio claro, com salário ou intervalo salarial e bónus por metas.</a:t>
            </a:r>
            <a:endParaRPr lang="en-US" sz="1020" dirty="0"/>
          </a:p>
          <a:p>
            <a:pPr algn="l" marL="215900" indent="-215900">
              <a:lnSpc>
                <a:spcPts val="1627"/>
              </a:lnSpc>
              <a:spcBef>
                <a:spcPts val="396"/>
              </a:spcBef>
              <a:buSzPct val="100000"/>
              <a:buFont typeface="+mj-lt"/>
              <a:buAutoNum type="arabicPeriod" startAt="3"/>
            </a:pPr>
            <a:r>
              <a:rPr lang="en-US" sz="1000" b="1" dirty="0">
                <a:solidFill>
                  <a:srgbClr val="14181A"/>
                </a:solidFill>
                <a:latin typeface="Google Sans" pitchFamily="34" charset="0"/>
                <a:ea typeface="Google Sans" pitchFamily="34" charset="-122"/>
                <a:cs typeface="Google Sans" pitchFamily="34" charset="-120"/>
              </a:rPr>
              <a:t>Triagem:</a:t>
            </a:r>
            <a:r>
              <a:rPr lang="en-US" sz="1000" dirty="0">
                <a:solidFill>
                  <a:srgbClr val="2C332E"/>
                </a:solidFill>
                <a:latin typeface="Google Sans" pitchFamily="34" charset="0"/>
                <a:ea typeface="Google Sans" pitchFamily="34" charset="-122"/>
                <a:cs typeface="Google Sans" pitchFamily="34" charset="-120"/>
              </a:rPr>
              <a:t> filtro rápido pelos requisitos obrigatórios.</a:t>
            </a:r>
            <a:endParaRPr lang="en-US" sz="1020" dirty="0"/>
          </a:p>
          <a:p>
            <a:pPr algn="l" marL="215900" indent="-215900">
              <a:lnSpc>
                <a:spcPts val="1627"/>
              </a:lnSpc>
              <a:spcBef>
                <a:spcPts val="396"/>
              </a:spcBef>
              <a:buSzPct val="100000"/>
              <a:buFont typeface="+mj-lt"/>
              <a:buAutoNum type="arabicPeriod" startAt="4"/>
            </a:pPr>
            <a:r>
              <a:rPr lang="en-US" sz="1000" b="1" dirty="0">
                <a:solidFill>
                  <a:srgbClr val="14181A"/>
                </a:solidFill>
                <a:latin typeface="Google Sans" pitchFamily="34" charset="0"/>
                <a:ea typeface="Google Sans" pitchFamily="34" charset="-122"/>
                <a:cs typeface="Google Sans" pitchFamily="34" charset="-120"/>
              </a:rPr>
              <a:t>Entrevista:</a:t>
            </a:r>
            <a:r>
              <a:rPr lang="en-US" sz="1000" dirty="0">
                <a:solidFill>
                  <a:srgbClr val="2C332E"/>
                </a:solidFill>
                <a:latin typeface="Google Sans" pitchFamily="34" charset="0"/>
                <a:ea typeface="Google Sans" pitchFamily="34" charset="-122"/>
                <a:cs typeface="Google Sans" pitchFamily="34" charset="-120"/>
              </a:rPr>
              <a:t> perguntas sobre situações reais que o candidato já viveu.</a:t>
            </a:r>
            <a:endParaRPr lang="en-US" sz="1020" dirty="0"/>
          </a:p>
          <a:p>
            <a:pPr algn="l" marL="215900" indent="-215900">
              <a:lnSpc>
                <a:spcPts val="1627"/>
              </a:lnSpc>
              <a:spcBef>
                <a:spcPts val="396"/>
              </a:spcBef>
              <a:buSzPct val="100000"/>
              <a:buFont typeface="+mj-lt"/>
              <a:buAutoNum type="arabicPeriod" startAt="5"/>
            </a:pPr>
            <a:r>
              <a:rPr lang="en-US" sz="1000" b="1" dirty="0">
                <a:solidFill>
                  <a:srgbClr val="14181A"/>
                </a:solidFill>
                <a:latin typeface="Google Sans" pitchFamily="34" charset="0"/>
                <a:ea typeface="Google Sans" pitchFamily="34" charset="-122"/>
                <a:cs typeface="Google Sans" pitchFamily="34" charset="-120"/>
              </a:rPr>
              <a:t>Teste prático:</a:t>
            </a:r>
            <a:r>
              <a:rPr lang="en-US" sz="1000" dirty="0">
                <a:solidFill>
                  <a:srgbClr val="2C332E"/>
                </a:solidFill>
                <a:latin typeface="Google Sans" pitchFamily="34" charset="0"/>
                <a:ea typeface="Google Sans" pitchFamily="34" charset="-122"/>
                <a:cs typeface="Google Sans" pitchFamily="34" charset="-120"/>
              </a:rPr>
              <a:t> uma tarefa curta, parecida com o trabalho real (por exemplo, responder a três conversas de clientes no WhatsApp).</a:t>
            </a:r>
            <a:endParaRPr lang="en-US" sz="1020" dirty="0"/>
          </a:p>
          <a:p>
            <a:pPr algn="l" marL="215900" indent="-215900">
              <a:lnSpc>
                <a:spcPts val="1627"/>
              </a:lnSpc>
              <a:spcBef>
                <a:spcPts val="396"/>
              </a:spcBef>
              <a:buSzPct val="100000"/>
              <a:buFont typeface="+mj-lt"/>
              <a:buAutoNum type="arabicPeriod" startAt="6"/>
            </a:pPr>
            <a:r>
              <a:rPr lang="en-US" sz="1000" b="1" dirty="0">
                <a:solidFill>
                  <a:srgbClr val="14181A"/>
                </a:solidFill>
                <a:latin typeface="Google Sans" pitchFamily="34" charset="0"/>
                <a:ea typeface="Google Sans" pitchFamily="34" charset="-122"/>
                <a:cs typeface="Google Sans" pitchFamily="34" charset="-120"/>
              </a:rPr>
              <a:t>Referências:</a:t>
            </a:r>
            <a:r>
              <a:rPr lang="en-US" sz="1000" dirty="0">
                <a:solidFill>
                  <a:srgbClr val="2C332E"/>
                </a:solidFill>
                <a:latin typeface="Google Sans" pitchFamily="34" charset="0"/>
                <a:ea typeface="Google Sans" pitchFamily="34" charset="-122"/>
                <a:cs typeface="Google Sans" pitchFamily="34" charset="-120"/>
              </a:rPr>
              <a:t> conversa com antigos chefes.</a:t>
            </a:r>
            <a:endParaRPr lang="en-US" sz="1020" dirty="0"/>
          </a:p>
          <a:p>
            <a:pPr algn="l" marL="215900" indent="-215900">
              <a:lnSpc>
                <a:spcPts val="1627"/>
              </a:lnSpc>
              <a:spcBef>
                <a:spcPts val="396"/>
              </a:spcBef>
              <a:buSzPct val="100000"/>
              <a:buFont typeface="+mj-lt"/>
              <a:buAutoNum type="arabicPeriod" startAt="7"/>
            </a:pPr>
            <a:r>
              <a:rPr lang="en-US" sz="1000" b="1" dirty="0">
                <a:solidFill>
                  <a:srgbClr val="14181A"/>
                </a:solidFill>
                <a:latin typeface="Google Sans" pitchFamily="34" charset="0"/>
                <a:ea typeface="Google Sans" pitchFamily="34" charset="-122"/>
                <a:cs typeface="Google Sans" pitchFamily="34" charset="-120"/>
              </a:rPr>
              <a:t>Integração:</a:t>
            </a:r>
            <a:r>
              <a:rPr lang="en-US" sz="1000" dirty="0">
                <a:solidFill>
                  <a:srgbClr val="2C332E"/>
                </a:solidFill>
                <a:latin typeface="Google Sans" pitchFamily="34" charset="0"/>
                <a:ea typeface="Google Sans" pitchFamily="34" charset="-122"/>
                <a:cs typeface="Google Sans" pitchFamily="34" charset="-120"/>
              </a:rPr>
              <a:t> plano para os primeiros 30, 60 e 90 dias, com os processos de uma página da Parte 4.</a:t>
            </a:r>
            <a:endParaRPr lang="en-US" sz="1020" dirty="0"/>
          </a:p>
          <a:p>
            <a:pPr algn="l" indent="0" marL="0">
              <a:lnSpc>
                <a:spcPts val="1627"/>
              </a:lnSpc>
              <a:spcBef>
                <a:spcPts val="991"/>
              </a:spcBef>
              <a:buNone/>
            </a:pPr>
            <a:r>
              <a:rPr lang="en-US" sz="1000" b="1" dirty="0">
                <a:solidFill>
                  <a:srgbClr val="14181A"/>
                </a:solidFill>
                <a:latin typeface="Google Sans" pitchFamily="34" charset="0"/>
                <a:ea typeface="Google Sans" pitchFamily="34" charset="-122"/>
                <a:cs typeface="Google Sans" pitchFamily="34" charset="-120"/>
              </a:rPr>
              <a:t>Ferramenta — Ficha de função.</a:t>
            </a:r>
            <a:endParaRPr lang="en-US" sz="102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756000" y="4505708"/>
          <a:ext cx="6047929" cy="914400"/>
        </p:xfrm>
        <a:graphic>
          <a:graphicData uri="http://schemas.openxmlformats.org/drawingml/2006/table">
            <a:tbl>
              <a:tblPr/>
              <a:tblGrid>
                <a:gridCol w="1618208"/>
                <a:gridCol w="4410670"/>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Campo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Conteúdo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Função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Nome do cargo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Missão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Uma frase sobre o resultado que a função garante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Responsabilidades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 3 a 7 entregas principais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Indicadores e metas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Os números pelos quais será avaliada (ex.: 10 entregas por 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Competências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que precisa de saber fazer no primeiro 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Cultura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Os comportamentos inegociáveis na empresa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Responde 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Nome da chefia directa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7280906"/>
            <a:ext cx="6084505" cy="1289346"/>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contratar sem errar</a:t>
            </a:r>
            <a:endParaRPr lang="en-US" sz="112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Onde encontrar candidatos.</a:t>
            </a:r>
            <a:r>
              <a:rPr lang="en-US" sz="1000" dirty="0">
                <a:solidFill>
                  <a:srgbClr val="2C332E"/>
                </a:solidFill>
                <a:latin typeface="Google Sans" pitchFamily="34" charset="0"/>
                <a:ea typeface="Google Sans" pitchFamily="34" charset="-122"/>
                <a:cs typeface="Google Sans" pitchFamily="34" charset="-120"/>
              </a:rPr>
              <a:t> Grupos de Facebook de emprego, o teu status do WhatsApp, indicações de clientes e ex-alunos. Os melhores candidatos são muitas vezes clientes que já conhecem e gostam do teu negócio.</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Um teste prático para cada função:</a:t>
            </a:r>
            <a:endParaRPr lang="en-US" sz="1120" dirty="0"/>
          </a:p>
        </p:txBody>
      </p:sp>
      <p:graphicFrame>
        <p:nvGraphicFramePr>
          <p:cNvPr id="127" name="Table 1"/>
          <p:cNvGraphicFramePr>
            <a:graphicFrameLocks noGrp="1"/>
          </p:cNvGraphicFramePr>
          <p:nvPr>
            <p:extLst>
              <p:ext uri="{D42A27DB-BD31-4B8C-83A1-F6EECF244321}">
                <p14:modId xmlns:p14="http://schemas.microsoft.com/office/powerpoint/2010/main" val="1579011935"/>
              </p:ext>
            </p:extLst>
          </p:nvPr>
        </p:nvGraphicFramePr>
        <p:xfrm>
          <a:off x="756000" y="8667538"/>
          <a:ext cx="6047929" cy="914400"/>
        </p:xfrm>
        <a:graphic>
          <a:graphicData uri="http://schemas.openxmlformats.org/drawingml/2006/table">
            <a:tbl>
              <a:tblPr/>
              <a:tblGrid>
                <a:gridCol w="2373511"/>
                <a:gridCol w="3655368"/>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Função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Teste prático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Assistente de vendas (Neyma)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Responder a três conversas reais usando o guião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Ajudante de pastelaria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Decorar seis cupcakes com um tema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2373511"/>
                <a:gridCol w="3655368"/>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Função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Teste prático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Assistente de beleza (Célia)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Fazer uma trança ou aplicar cílios numa modelo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Monitor (Hélder)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Responder a cinco perguntas reais de alunos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Designer júnior (Tiago)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Criar três posts a partir de um briefing</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2240842"/>
            <a:ext cx="6084505" cy="2146447"/>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Começa com um período de experiência</a:t>
            </a:r>
            <a:r>
              <a:rPr lang="en-US" sz="1000" dirty="0">
                <a:solidFill>
                  <a:srgbClr val="2C332E"/>
                </a:solidFill>
                <a:latin typeface="Google Sans" pitchFamily="34" charset="0"/>
                <a:ea typeface="Google Sans" pitchFamily="34" charset="-122"/>
                <a:cs typeface="Google Sans" pitchFamily="34" charset="-120"/>
              </a:rPr>
              <a:t> de 30 dias e um acordo escrito simples, mesmo que seja numa mensagem: tarefas, horário, valor a pagar e quando se paga. Evita mal-entendidos com toda a gente, incluindo família e amigos.</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Contratar por pena</a:t>
            </a:r>
            <a:r>
              <a:rPr lang="en-US" sz="1000" dirty="0">
                <a:solidFill>
                  <a:srgbClr val="2C332E"/>
                </a:solidFill>
                <a:latin typeface="Google Sans" pitchFamily="34" charset="0"/>
                <a:ea typeface="Google Sans" pitchFamily="34" charset="-122"/>
                <a:cs typeface="Google Sans" pitchFamily="34" charset="-120"/>
              </a:rPr>
              <a:t> ou por favor.</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Contratar sem teste prático.</a:t>
            </a:r>
            <a:r>
              <a:rPr lang="en-US" sz="1000" dirty="0">
                <a:solidFill>
                  <a:srgbClr val="2C332E"/>
                </a:solidFill>
                <a:latin typeface="Google Sans" pitchFamily="34" charset="0"/>
                <a:ea typeface="Google Sans" pitchFamily="34" charset="-122"/>
                <a:cs typeface="Google Sans" pitchFamily="34" charset="-120"/>
              </a:rPr>
              <a:t> A entrevista mostra como a pessoa fala; o teste mostra como trabalha.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Não combinar nada por escrito.</a:t>
            </a:r>
            <a:endParaRPr lang="en-US" sz="1000" dirty="0"/>
          </a:p>
        </p:txBody>
      </p:sp>
      <p:sp>
        <p:nvSpPr>
          <p:cNvPr id="4" name="Shape 1"/>
          <p:cNvSpPr/>
          <p:nvPr/>
        </p:nvSpPr>
        <p:spPr>
          <a:xfrm>
            <a:off x="756000" y="4503773"/>
            <a:ext cx="6047929" cy="979587"/>
          </a:xfrm>
          <a:prstGeom prst="roundRect">
            <a:avLst>
              <a:gd name="adj" fmla="val 14935"/>
            </a:avLst>
          </a:prstGeom>
          <a:solidFill>
            <a:srgbClr val="E8F4E0"/>
          </a:solidFill>
          <a:ln/>
          <a:effectLst>
            <a:outerShdw sx="100000" sy="100000" kx="0" ky="0" algn="bl" rotWithShape="0" blurRad="127000" dist="38100" dir="5400000">
              <a:srgbClr val="1E501E">
                <a:alpha val="18000"/>
              </a:srgbClr>
            </a:outerShdw>
          </a:effectLst>
        </p:spPr>
      </p:sp>
      <p:sp>
        <p:nvSpPr>
          <p:cNvPr id="5" name="Text 2"/>
          <p:cNvSpPr txBox="1"/>
          <p:nvPr/>
        </p:nvSpPr>
        <p:spPr>
          <a:xfrm>
            <a:off x="971950" y="4683707"/>
            <a:ext cx="5652605" cy="638008"/>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12: Ficha de função.</a:t>
            </a:r>
            <a:r>
              <a:rPr lang="en-US" sz="1000" dirty="0">
                <a:solidFill>
                  <a:srgbClr val="2C332E"/>
                </a:solidFill>
                <a:latin typeface="Google Sans" pitchFamily="34" charset="0"/>
                <a:ea typeface="Google Sans" pitchFamily="34" charset="-122"/>
                <a:cs typeface="Google Sans" pitchFamily="34" charset="-120"/>
              </a:rPr>
              <a:t> Usa os processos (Capítulo 10) e o plano de delegação (Capítulo 11). </a:t>
            </a:r>
            <a:r>
              <a:rPr lang="en-US" sz="1000" b="1" dirty="0">
                <a:solidFill>
                  <a:srgbClr val="21703A"/>
                </a:solidFill>
                <a:latin typeface="Google Sans" pitchFamily="34" charset="0"/>
                <a:ea typeface="Google Sans" pitchFamily="34" charset="-122"/>
                <a:cs typeface="Google Sans" pitchFamily="34" charset="-120"/>
              </a:rPr>
              <a:t>Segue para o Capítulo 13:</a:t>
            </a:r>
            <a:r>
              <a:rPr lang="en-US" sz="1000" dirty="0">
                <a:solidFill>
                  <a:srgbClr val="2C332E"/>
                </a:solidFill>
                <a:latin typeface="Google Sans" pitchFamily="34" charset="0"/>
                <a:ea typeface="Google Sans" pitchFamily="34" charset="-122"/>
                <a:cs typeface="Google Sans" pitchFamily="34" charset="-120"/>
              </a:rPr>
              <a:t> os indicadores e a cultura escritos na ficha são a base da avaliação.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756000" y="792000"/>
            <a:ext cx="6084505" cy="1949250"/>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13</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Medir desempenho e desenvolver a equipa</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Quando criámos a equipa de entregas, demos a cada entregador uma meta clara — 10 entregas por dia — e um bónus por a atingir. Isso criou um ambiente de alta performance, porque cada pessoa sabia exactamente o que era um bom dia de trabalho.</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Mas avaliar só resultados premeia quem entrega a qualquer custo, e avaliar só atitude mantém quem é simpático mas não entrega. Olha para os dois eixos ao mesmo tempo: performance e cultura.</a:t>
            </a:r>
            <a:endParaRPr lang="en-US" sz="1020" dirty="0"/>
          </a:p>
        </p:txBody>
      </p:sp>
      <p:pic>
        <p:nvPicPr>
          <p:cNvPr id="3" name="Image 0" descr="Performance e cultura juntas dizem o que fazer com cada pessoa">    </p:cNvPr>
          <p:cNvPicPr>
            <a:picLocks noChangeAspect="1"/>
          </p:cNvPicPr>
          <p:nvPr/>
        </p:nvPicPr>
        <p:blipFill>
          <a:blip r:embed="rId1"/>
          <a:stretch>
            <a:fillRect/>
          </a:stretch>
        </p:blipFill>
        <p:spPr>
          <a:xfrm>
            <a:off x="786659" y="2965784"/>
            <a:ext cx="5986463" cy="4031903"/>
          </a:xfrm>
          <a:prstGeom prst="rect">
            <a:avLst/>
          </a:prstGeom>
        </p:spPr>
      </p:pic>
      <p:sp>
        <p:nvSpPr>
          <p:cNvPr id="4" name="Shape 1"/>
          <p:cNvSpPr/>
          <p:nvPr/>
        </p:nvSpPr>
        <p:spPr>
          <a:xfrm>
            <a:off x="756000" y="7123595"/>
            <a:ext cx="6047929" cy="0"/>
          </a:xfrm>
          <a:prstGeom prst="line">
            <a:avLst/>
          </a:prstGeom>
          <a:noFill/>
          <a:ln w="9525">
            <a:solidFill>
              <a:srgbClr val="E2E8DF"/>
            </a:solidFill>
            <a:prstDash val="solid"/>
          </a:ln>
        </p:spPr>
      </p:sp>
      <p:sp>
        <p:nvSpPr>
          <p:cNvPr id="5" name="Text 2"/>
          <p:cNvSpPr txBox="1"/>
          <p:nvPr/>
        </p:nvSpPr>
        <p:spPr>
          <a:xfrm>
            <a:off x="756000" y="7241020"/>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Performance e cultura juntas dizem o que fazer com cada pessoa</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19</a:t>
            </a:r>
            <a:r>
              <a:rPr lang="en-US" sz="830" dirty="0">
                <a:solidFill>
                  <a:srgbClr val="7E8780"/>
                </a:solidFill>
                <a:latin typeface="Google Sans" pitchFamily="34" charset="0"/>
                <a:ea typeface="Google Sans" pitchFamily="34" charset="-122"/>
                <a:cs typeface="Google Sans" pitchFamily="34" charset="-120"/>
              </a:rPr>
              <a:t> · Matriz Performance × Cultura</a:t>
            </a:r>
            <a:endParaRPr lang="en-US" sz="1020" dirty="0"/>
          </a:p>
        </p:txBody>
      </p:sp>
      <p:sp>
        <p:nvSpPr>
          <p:cNvPr id="6" name="Text 3"/>
          <p:cNvSpPr txBox="1"/>
          <p:nvPr/>
        </p:nvSpPr>
        <p:spPr>
          <a:xfrm>
            <a:off x="756000" y="7867438"/>
            <a:ext cx="6084505" cy="762345"/>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Quem entrega mas fere a cultura contamina a equipa: alinha com prazo, ou decide a saída. Quem vive a cultura mas ainda não entrega merece treino e acompanhamento antes de qualquer decisão.</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Avaliação.</a:t>
            </a:r>
            <a:r>
              <a:rPr lang="en-US" sz="1000" dirty="0">
                <a:solidFill>
                  <a:srgbClr val="2C332E"/>
                </a:solidFill>
                <a:latin typeface="Google Sans" pitchFamily="34" charset="0"/>
                <a:ea typeface="Google Sans" pitchFamily="34" charset="-122"/>
                <a:cs typeface="Google Sans" pitchFamily="34" charset="-120"/>
              </a:rPr>
              <a:t> Uma vez por trimestre, para cada pessoa:</a:t>
            </a:r>
            <a:endParaRPr lang="en-US" sz="10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756000" y="8727069"/>
          <a:ext cx="6047929" cy="914400"/>
        </p:xfrm>
        <a:graphic>
          <a:graphicData uri="http://schemas.openxmlformats.org/drawingml/2006/table">
            <a:tbl>
              <a:tblPr/>
              <a:tblGrid>
                <a:gridCol w="887909"/>
                <a:gridCol w="1968996"/>
                <a:gridCol w="811560"/>
                <a:gridCol w="788343"/>
                <a:gridCol w="1058466"/>
                <a:gridCol w="513606"/>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Colaborador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Performance: indicadores da função (1–5)</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Cultura (1–5)</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Quadrante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Acção combinada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Prazo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143768">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756000" y="792000"/>
            <a:ext cx="6084505" cy="1175492"/>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avaliação termina sempre numa conversa individual, com uma acção de desenvolvimento e uma data para rever.</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Ao desenvolver alguém, espera uma curva de confiança. No início, a pessoa acha que já sabe tudo; depois descobre a dificuldade e desanima; só com prática a confiança volta, agora apoiada em competência real.</a:t>
            </a:r>
            <a:endParaRPr lang="en-US" sz="1000" dirty="0"/>
          </a:p>
        </p:txBody>
      </p:sp>
      <p:pic>
        <p:nvPicPr>
          <p:cNvPr id="3" name="Image 0" descr="A confiança cai antes de a competência subir">    </p:cNvPr>
          <p:cNvPicPr>
            <a:picLocks noChangeAspect="1"/>
          </p:cNvPicPr>
          <p:nvPr/>
        </p:nvPicPr>
        <p:blipFill>
          <a:blip r:embed="rId1"/>
          <a:stretch>
            <a:fillRect/>
          </a:stretch>
        </p:blipFill>
        <p:spPr>
          <a:xfrm>
            <a:off x="756000" y="2192026"/>
            <a:ext cx="6047780" cy="3704332"/>
          </a:xfrm>
          <a:prstGeom prst="rect">
            <a:avLst/>
          </a:prstGeom>
        </p:spPr>
      </p:pic>
      <p:sp>
        <p:nvSpPr>
          <p:cNvPr id="4" name="Shape 1"/>
          <p:cNvSpPr/>
          <p:nvPr/>
        </p:nvSpPr>
        <p:spPr>
          <a:xfrm>
            <a:off x="756000" y="6022267"/>
            <a:ext cx="6047929" cy="0"/>
          </a:xfrm>
          <a:prstGeom prst="line">
            <a:avLst/>
          </a:prstGeom>
          <a:noFill/>
          <a:ln w="9525">
            <a:solidFill>
              <a:srgbClr val="E2E8DF"/>
            </a:solidFill>
            <a:prstDash val="solid"/>
          </a:ln>
        </p:spPr>
      </p:sp>
      <p:sp>
        <p:nvSpPr>
          <p:cNvPr id="5" name="Text 2"/>
          <p:cNvSpPr txBox="1"/>
          <p:nvPr/>
        </p:nvSpPr>
        <p:spPr>
          <a:xfrm>
            <a:off x="756000" y="6139692"/>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A confiança cai antes de a competência subir</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20</a:t>
            </a:r>
            <a:r>
              <a:rPr lang="en-US" sz="830" dirty="0">
                <a:solidFill>
                  <a:srgbClr val="7E8780"/>
                </a:solidFill>
                <a:latin typeface="Google Sans" pitchFamily="34" charset="0"/>
                <a:ea typeface="Google Sans" pitchFamily="34" charset="-122"/>
                <a:cs typeface="Google Sans" pitchFamily="34" charset="-120"/>
              </a:rPr>
              <a:t> · A curva de confiança × competência (efeito Dunning-Kruger)</a:t>
            </a:r>
            <a:endParaRPr lang="en-US" sz="1020" dirty="0"/>
          </a:p>
        </p:txBody>
      </p:sp>
      <p:sp>
        <p:nvSpPr>
          <p:cNvPr id="6" name="Text 3"/>
          <p:cNvSpPr txBox="1"/>
          <p:nvPr/>
        </p:nvSpPr>
        <p:spPr>
          <a:xfrm>
            <a:off x="756000" y="6766110"/>
            <a:ext cx="6084505" cy="1129653"/>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curva popular simplifica o estudo de David Dunning e Justin Kruger, de 1999, mas a lição para o gestor mantém-se: acompanha mais de perto no início e não confundas o vale do desânimo com falta de capacidade.</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Na prática: metas claras para equipas pequenas</a:t>
            </a:r>
            <a:endParaRPr lang="en-US" sz="1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756000" y="7985756"/>
          <a:ext cx="6047929" cy="914400"/>
        </p:xfrm>
        <a:graphic>
          <a:graphicData uri="http://schemas.openxmlformats.org/drawingml/2006/table">
            <a:tbl>
              <a:tblPr/>
              <a:tblGrid>
                <a:gridCol w="1390501"/>
                <a:gridCol w="2779216"/>
                <a:gridCol w="1859161"/>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Função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Meta de performance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Sinal de cultura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Assistente de vendas (Neyma)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Responde em menos de 5 minutos; fecha pelo menos 25% das conversas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Nunca promete o que a loja não cumpre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Motoqueiro (Neyma)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 entregas por dia, sem reclamações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Avisa o cliente antes de chegar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Ajudante de pastelaria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Encomendas prontas à hora combinada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Mantém a cozinha limpa sem que lho peçam</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1390501"/>
                <a:gridCol w="2779216"/>
                <a:gridCol w="1859161"/>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Função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Meta de performance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Sinal de cultura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Assistente de beleza (Célia)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Clientes que voltam a marcar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Pontualidade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Designer júnior (Tiago)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Posts entregues no prazo, com no máximo duas revisões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Pergunta antes de adivinhar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2247837"/>
            <a:ext cx="6084505" cy="3294507"/>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A matriz aplicada.</a:t>
            </a:r>
            <a:r>
              <a:rPr lang="en-US" sz="1000" dirty="0">
                <a:solidFill>
                  <a:srgbClr val="2C332E"/>
                </a:solidFill>
                <a:latin typeface="Google Sans" pitchFamily="34" charset="0"/>
                <a:ea typeface="Google Sans" pitchFamily="34" charset="-122"/>
                <a:cs typeface="Google Sans" pitchFamily="34" charset="-120"/>
              </a:rPr>
              <a:t> A assistente da Neyma fechava muitas vendas, mas prometia entregas para o próprio dia que os motoqueiros não conseguiam fazer: alta performance, baixa cultura — </a:t>
            </a:r>
            <a:r>
              <a:rPr lang="en-US" sz="1000" b="1" dirty="0">
                <a:solidFill>
                  <a:srgbClr val="14181A"/>
                </a:solidFill>
                <a:latin typeface="Google Sans" pitchFamily="34" charset="0"/>
                <a:ea typeface="Google Sans" pitchFamily="34" charset="-122"/>
                <a:cs typeface="Google Sans" pitchFamily="34" charset="-120"/>
              </a:rPr>
              <a:t>alinhar</a:t>
            </a:r>
            <a:r>
              <a:rPr lang="en-US" sz="1000" dirty="0">
                <a:solidFill>
                  <a:srgbClr val="2C332E"/>
                </a:solidFill>
                <a:latin typeface="Google Sans" pitchFamily="34" charset="0"/>
                <a:ea typeface="Google Sans" pitchFamily="34" charset="-122"/>
                <a:cs typeface="Google Sans" pitchFamily="34" charset="-120"/>
              </a:rPr>
              <a:t>. A Neyma teve uma conversa clara e deu-lhe duas semanas. O designer júnior do Tiago era lento, mas cuidadoso e honesto: baixa performance, alta cultura — </a:t>
            </a:r>
            <a:r>
              <a:rPr lang="en-US" sz="1000" b="1" dirty="0">
                <a:solidFill>
                  <a:srgbClr val="14181A"/>
                </a:solidFill>
                <a:latin typeface="Google Sans" pitchFamily="34" charset="0"/>
                <a:ea typeface="Google Sans" pitchFamily="34" charset="-122"/>
                <a:cs typeface="Google Sans" pitchFamily="34" charset="-120"/>
              </a:rPr>
              <a:t>treinar</a:t>
            </a:r>
            <a:r>
              <a:rPr lang="en-US" sz="1000" dirty="0">
                <a:solidFill>
                  <a:srgbClr val="2C332E"/>
                </a:solidFill>
                <a:latin typeface="Google Sans" pitchFamily="34" charset="0"/>
                <a:ea typeface="Google Sans" pitchFamily="34" charset="-122"/>
                <a:cs typeface="Google Sans" pitchFamily="34" charset="-120"/>
              </a:rPr>
              <a:t>. O Tiago passou a rever com ele os modelos à segunda-feira.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Bónus simples.</a:t>
            </a:r>
            <a:r>
              <a:rPr lang="en-US" sz="1000" dirty="0">
                <a:solidFill>
                  <a:srgbClr val="2C332E"/>
                </a:solidFill>
                <a:latin typeface="Google Sans" pitchFamily="34" charset="0"/>
                <a:ea typeface="Google Sans" pitchFamily="34" charset="-122"/>
                <a:cs typeface="Google Sans" pitchFamily="34" charset="-120"/>
              </a:rPr>
              <a:t> A Neyma paga 50 MT por cada venda acima de 20 por semana. Uma meta clara e um prémio pequeno, pago todas as semanas, motivam mais do que um bónus grande e incerto no fim do ano.</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Avaliar só quando algo corre mal.</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Bónus sem meta clara.</a:t>
            </a:r>
            <a:r>
              <a:rPr lang="en-US" sz="1000" dirty="0">
                <a:solidFill>
                  <a:srgbClr val="2C332E"/>
                </a:solidFill>
                <a:latin typeface="Google Sans" pitchFamily="34" charset="0"/>
                <a:ea typeface="Google Sans" pitchFamily="34" charset="-122"/>
                <a:cs typeface="Google Sans" pitchFamily="34" charset="-120"/>
              </a:rPr>
              <a:t> Se a pessoa não sabe o que tem de fazer para o ganhar, não motiva.</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Não dar feedback por medo de perder a pessoa.</a:t>
            </a:r>
            <a:r>
              <a:rPr lang="en-US" sz="1000" dirty="0">
                <a:solidFill>
                  <a:srgbClr val="2C332E"/>
                </a:solidFill>
                <a:latin typeface="Google Sans" pitchFamily="34" charset="0"/>
                <a:ea typeface="Google Sans" pitchFamily="34" charset="-122"/>
                <a:cs typeface="Google Sans" pitchFamily="34" charset="-120"/>
              </a:rPr>
              <a:t> Numa equipa pequena, um problema por resolver contamina todos.</a:t>
            </a:r>
            <a:endParaRPr lang="en-US" sz="1000" dirty="0"/>
          </a:p>
        </p:txBody>
      </p:sp>
      <p:sp>
        <p:nvSpPr>
          <p:cNvPr id="4" name="Shape 1"/>
          <p:cNvSpPr/>
          <p:nvPr/>
        </p:nvSpPr>
        <p:spPr>
          <a:xfrm>
            <a:off x="756000" y="5658829"/>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5" name="Text 2"/>
          <p:cNvSpPr txBox="1"/>
          <p:nvPr/>
        </p:nvSpPr>
        <p:spPr>
          <a:xfrm>
            <a:off x="971950" y="5838762"/>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13: Avaliação Performance × Cultura.</a:t>
            </a:r>
            <a:r>
              <a:rPr lang="en-US" sz="1000" dirty="0">
                <a:solidFill>
                  <a:srgbClr val="2C332E"/>
                </a:solidFill>
                <a:latin typeface="Google Sans" pitchFamily="34" charset="0"/>
                <a:ea typeface="Google Sans" pitchFamily="34" charset="-122"/>
                <a:cs typeface="Google Sans" pitchFamily="34" charset="-120"/>
              </a:rPr>
              <a:t> Usa os indicadores da ficha de função (Capítulo 12).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metas individuais cumpridas (%). Para decisões difíceis, como uma demissão, usa a Tríade da Confiança. </a:t>
            </a:r>
            <a:r>
              <a:rPr lang="en-US" sz="1000" b="1" dirty="0">
                <a:solidFill>
                  <a:srgbClr val="21703A"/>
                </a:solidFill>
                <a:latin typeface="Google Sans" pitchFamily="34" charset="0"/>
                <a:ea typeface="Google Sans" pitchFamily="34" charset="-122"/>
                <a:cs typeface="Google Sans" pitchFamily="34" charset="-120"/>
              </a:rPr>
              <a:t>Segue para o Capítulo 14:</a:t>
            </a:r>
            <a:r>
              <a:rPr lang="en-US" sz="1000" dirty="0">
                <a:solidFill>
                  <a:srgbClr val="2C332E"/>
                </a:solidFill>
                <a:latin typeface="Google Sans" pitchFamily="34" charset="0"/>
                <a:ea typeface="Google Sans" pitchFamily="34" charset="-122"/>
                <a:cs typeface="Google Sans" pitchFamily="34" charset="-120"/>
              </a:rPr>
              <a:t> uma avaliação só muda comportamentos se for acompanhada todas as semanas.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756000" y="792000"/>
            <a:ext cx="6084505" cy="1536103"/>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14</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Organizar reuniões úteis</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Uma reunião útil termina com decisões, responsáveis e prazos. Se ninguém sai com uma tarefa, a reunião podia ter sido uma mensagem.</a:t>
            </a:r>
            <a:endParaRPr lang="en-US" sz="10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Agendas de reunião.</a:t>
            </a:r>
            <a:endParaRPr lang="en-US" sz="102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756000" y="2425389"/>
          <a:ext cx="6047929" cy="914400"/>
        </p:xfrm>
        <a:graphic>
          <a:graphicData uri="http://schemas.openxmlformats.org/drawingml/2006/table">
            <a:tbl>
              <a:tblPr/>
              <a:tblGrid>
                <a:gridCol w="1210419"/>
                <a:gridCol w="1042243"/>
                <a:gridCol w="665559"/>
                <a:gridCol w="805011"/>
                <a:gridCol w="2305645"/>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Reunião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Frequência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Duração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Quem</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Agenda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Alinhamento diário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Todos os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 min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Cada equipa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Faturação de ontem, entregas pendentes, o que bloqueia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Revisão semanal PERA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À segunda-feira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60 min</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Liderança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Painel semanal, prioridades do plano de 90 dias, ajustes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Fecho mensal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1.ª semana do mês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h</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Liderança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Resultados, margem, caixa, pessoas, ajustes ao plano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Planeamento trimestral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 cada 90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Meio dia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Liderança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Diagnóstico, avaliações e novo plano de 90 dias (Parte 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4" name="Text 1"/>
          <p:cNvSpPr txBox="1"/>
          <p:nvPr/>
        </p:nvSpPr>
        <p:spPr>
          <a:xfrm>
            <a:off x="756000" y="4900996"/>
            <a:ext cx="6084505" cy="4258467"/>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reuniões para equipas pequenas</a:t>
            </a:r>
            <a:endParaRPr lang="en-US" sz="112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Se trabalhas sozinho,</a:t>
            </a:r>
            <a:r>
              <a:rPr lang="en-US" sz="1000" dirty="0">
                <a:solidFill>
                  <a:srgbClr val="2C332E"/>
                </a:solidFill>
                <a:latin typeface="Google Sans" pitchFamily="34" charset="0"/>
                <a:ea typeface="Google Sans" pitchFamily="34" charset="-122"/>
                <a:cs typeface="Google Sans" pitchFamily="34" charset="-120"/>
              </a:rPr>
              <a:t> faz a revisão semanal contigo próprio: 30 minutos ao domingo à noite, com o painel aberto, a responder a três perguntas — o que correu bem, o que não correu e o que vou mudar esta semana. O Hélder faz isto desde o primeiro mês.</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Se tens uma equipa dispersa,</a:t>
            </a:r>
            <a:r>
              <a:rPr lang="en-US" sz="1000" dirty="0">
                <a:solidFill>
                  <a:srgbClr val="2C332E"/>
                </a:solidFill>
                <a:latin typeface="Google Sans" pitchFamily="34" charset="0"/>
                <a:ea typeface="Google Sans" pitchFamily="34" charset="-122"/>
                <a:cs typeface="Google Sans" pitchFamily="34" charset="-120"/>
              </a:rPr>
              <a:t> a reunião diária pode ser uma chamada de 10 minutos pelo WhatsApp. A Neyma liga às 9h à assistente e aos motoqueiros: entregas do dia, pedidos pendentes e problemas de ontem.</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Se trabalhas com freelancers,</a:t>
            </a:r>
            <a:r>
              <a:rPr lang="en-US" sz="1000" dirty="0">
                <a:solidFill>
                  <a:srgbClr val="2C332E"/>
                </a:solidFill>
                <a:latin typeface="Google Sans" pitchFamily="34" charset="0"/>
                <a:ea typeface="Google Sans" pitchFamily="34" charset="-122"/>
                <a:cs typeface="Google Sans" pitchFamily="34" charset="-120"/>
              </a:rPr>
              <a:t> basta uma reunião semanal. O Tiago fala 30 minutos com o designer júnior à segunda-feira: entregas da semana, revisões pendentes e prioridades por cliente.</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O grupo de WhatsApp da equipa tem regras.</a:t>
            </a:r>
            <a:r>
              <a:rPr lang="en-US" sz="1000" dirty="0">
                <a:solidFill>
                  <a:srgbClr val="2C332E"/>
                </a:solidFill>
                <a:latin typeface="Google Sans" pitchFamily="34" charset="0"/>
                <a:ea typeface="Google Sans" pitchFamily="34" charset="-122"/>
                <a:cs typeface="Google Sans" pitchFamily="34" charset="-120"/>
              </a:rPr>
              <a:t> Serve para avisos e tarefas, não para conversa; as decisões ficam escritas numa mensagem fixada; e ninguém responde a trabalho depois das 21h, salvo emergências.</a:t>
            </a:r>
            <a:endParaRPr lang="en-US" sz="112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12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Reuniões sem números.</a:t>
            </a:r>
            <a:r>
              <a:rPr lang="en-US" sz="1000" dirty="0">
                <a:solidFill>
                  <a:srgbClr val="2C332E"/>
                </a:solidFill>
                <a:latin typeface="Google Sans" pitchFamily="34" charset="0"/>
                <a:ea typeface="Google Sans" pitchFamily="34" charset="-122"/>
                <a:cs typeface="Google Sans" pitchFamily="34" charset="-120"/>
              </a:rPr>
              <a:t> Sem o painel, a reunião vira opinião.</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Um grupo de WhatsApp aberto 24 horas</a:t>
            </a:r>
            <a:r>
              <a:rPr lang="en-US" sz="1000" dirty="0">
                <a:solidFill>
                  <a:srgbClr val="2C332E"/>
                </a:solidFill>
                <a:latin typeface="Google Sans" pitchFamily="34" charset="0"/>
                <a:ea typeface="Google Sans" pitchFamily="34" charset="-122"/>
                <a:cs typeface="Google Sans" pitchFamily="34" charset="-120"/>
              </a:rPr>
              <a:t> que substitui as reuniões e esgota toda a gente.</a:t>
            </a:r>
            <a:endParaRPr lang="en-US" sz="112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Sair sem tarefas registadas.</a:t>
            </a:r>
            <a:endParaRPr lang="en-US" sz="112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756000" y="792000"/>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3" name="Text 1"/>
          <p:cNvSpPr txBox="1"/>
          <p:nvPr/>
        </p:nvSpPr>
        <p:spPr>
          <a:xfrm>
            <a:off x="971950" y="971933"/>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14: Agendas de reunião.</a:t>
            </a:r>
            <a:r>
              <a:rPr lang="en-US" sz="1000" dirty="0">
                <a:solidFill>
                  <a:srgbClr val="2C332E"/>
                </a:solidFill>
                <a:latin typeface="Google Sans" pitchFamily="34" charset="0"/>
                <a:ea typeface="Google Sans" pitchFamily="34" charset="-122"/>
                <a:cs typeface="Google Sans" pitchFamily="34" charset="-120"/>
              </a:rPr>
              <a:t> Usa o painel (Capítulo 5) e as avaliações (Capítulo 13). Com esta peça concluis o nível da previsibilidade: vendas, operação e pessoas funcionam sem depender de ti. </a:t>
            </a:r>
            <a:r>
              <a:rPr lang="en-US" sz="1000" b="1" dirty="0">
                <a:solidFill>
                  <a:srgbClr val="21703A"/>
                </a:solidFill>
                <a:latin typeface="Google Sans" pitchFamily="34" charset="0"/>
                <a:ea typeface="Google Sans" pitchFamily="34" charset="-122"/>
                <a:cs typeface="Google Sans" pitchFamily="34" charset="-120"/>
              </a:rPr>
              <a:t>Segue para o Capítulo 15:</a:t>
            </a:r>
            <a:r>
              <a:rPr lang="en-US" sz="1000" dirty="0">
                <a:solidFill>
                  <a:srgbClr val="2C332E"/>
                </a:solidFill>
                <a:latin typeface="Google Sans" pitchFamily="34" charset="0"/>
                <a:ea typeface="Google Sans" pitchFamily="34" charset="-122"/>
                <a:cs typeface="Google Sans" pitchFamily="34" charset="-120"/>
              </a:rPr>
              <a:t> antes de acelerar, descobre quando o mercado compra mais.</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756000" y="792000"/>
            <a:ext cx="6047929" cy="2947690"/>
          </a:xfrm>
          <a:prstGeom prst="roundRect">
            <a:avLst>
              <a:gd name="adj" fmla="val 7445"/>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87729"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6</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Preparação para crescer</a:t>
            </a:r>
            <a:endParaRPr lang="en-US" sz="2520" dirty="0"/>
          </a:p>
        </p:txBody>
      </p:sp>
      <p:sp>
        <p:nvSpPr>
          <p:cNvPr id="5" name="Shape 3"/>
          <p:cNvSpPr/>
          <p:nvPr/>
        </p:nvSpPr>
        <p:spPr>
          <a:xfrm>
            <a:off x="1079999" y="2893769"/>
            <a:ext cx="5399931" cy="0"/>
          </a:xfrm>
          <a:prstGeom prst="line">
            <a:avLst/>
          </a:prstGeom>
          <a:noFill/>
          <a:ln w="9525">
            <a:solidFill>
              <a:srgbClr val="CFE3C3"/>
            </a:solidFill>
            <a:prstDash val="solid"/>
          </a:ln>
        </p:spPr>
      </p:sp>
      <p:sp>
        <p:nvSpPr>
          <p:cNvPr id="6" name="Text 4"/>
          <p:cNvSpPr txBox="1"/>
          <p:nvPr/>
        </p:nvSpPr>
        <p:spPr>
          <a:xfrm>
            <a:off x="1079999" y="1977863"/>
            <a:ext cx="5436507" cy="142024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 crescimento previsível prepara-se antes de chegar. Escala previsível é o encontro de duas coisas: saber quando e de onde virão os próximos clientes, e ter capacidade para os servir. Nesta parte vais antecipar os meses fortes e fracos e descobrir que recurso vai faltar primeiro.</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Nível 4 — Escala · Peças 15 e 16 · Recebes das Partes 3 a 5: procura previsível e capacidade de entrega · Entregas à Parte 7: quando e até onde podes acelerar.</a:t>
            </a:r>
            <a:endParaRPr lang="en-US" sz="1000" dirty="0"/>
          </a:p>
        </p:txBody>
      </p:sp>
      <p:pic>
        <p:nvPicPr>
          <p:cNvPr id="7" name="Image 0" descr="Escala previsível nasce de procura e capacidade">    </p:cNvPr>
          <p:cNvPicPr>
            <a:picLocks noChangeAspect="1"/>
          </p:cNvPicPr>
          <p:nvPr/>
        </p:nvPicPr>
        <p:blipFill>
          <a:blip r:embed="rId1"/>
          <a:stretch>
            <a:fillRect/>
          </a:stretch>
        </p:blipFill>
        <p:spPr>
          <a:xfrm>
            <a:off x="1622924" y="4063689"/>
            <a:ext cx="4313932" cy="4031903"/>
          </a:xfrm>
          <a:prstGeom prst="rect">
            <a:avLst/>
          </a:prstGeom>
        </p:spPr>
      </p:pic>
      <p:sp>
        <p:nvSpPr>
          <p:cNvPr id="8" name="Shape 5"/>
          <p:cNvSpPr/>
          <p:nvPr/>
        </p:nvSpPr>
        <p:spPr>
          <a:xfrm>
            <a:off x="756000" y="8221500"/>
            <a:ext cx="6047929" cy="0"/>
          </a:xfrm>
          <a:prstGeom prst="line">
            <a:avLst/>
          </a:prstGeom>
          <a:noFill/>
          <a:ln w="9525">
            <a:solidFill>
              <a:srgbClr val="E2E8DF"/>
            </a:solidFill>
            <a:prstDash val="solid"/>
          </a:ln>
        </p:spPr>
      </p:sp>
      <p:sp>
        <p:nvSpPr>
          <p:cNvPr id="9" name="Text 6"/>
          <p:cNvSpPr txBox="1"/>
          <p:nvPr/>
        </p:nvSpPr>
        <p:spPr>
          <a:xfrm>
            <a:off x="756000" y="8338925"/>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Escala previsível nasce de procura e capacidade</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21</a:t>
            </a:r>
            <a:r>
              <a:rPr lang="en-US" sz="830" dirty="0">
                <a:solidFill>
                  <a:srgbClr val="7E8780"/>
                </a:solidFill>
                <a:latin typeface="Google Sans" pitchFamily="34" charset="0"/>
                <a:ea typeface="Google Sans" pitchFamily="34" charset="-122"/>
                <a:cs typeface="Google Sans" pitchFamily="34" charset="-120"/>
              </a:rPr>
              <a:t> · Procura previsível + capacidade de entrega = escala previsível</a:t>
            </a:r>
            <a:endParaRPr lang="en-US" sz="102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756000" y="792000"/>
            <a:ext cx="6084505" cy="1834057"/>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15</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Compreender sazonalidade e ciclos de vendas</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Outra técnica fundamental para a previsibilidade do nosso negócio foi entender as épocas sazonais. Cada estação do ano exige de nós novas abordagens de vendas: não existe uma única estratégia que funcione nos 12 meses. A economia tem altos e baixos em todo o mundo, e quando uma área está em baixo, outra está em alta. É como um barco no meio do mar, a balançar sobre as ondas: perceber para que lado o mercado está a pender é a chave para te manteres competitivo o ano inteiro.</a:t>
            </a:r>
            <a:endParaRPr lang="en-US" sz="1020" dirty="0"/>
          </a:p>
        </p:txBody>
      </p:sp>
      <p:pic>
        <p:nvPicPr>
          <p:cNvPr id="3" name="Image 0" descr="Cada época do ano pede uma estratégia de vendas diferente">    </p:cNvPr>
          <p:cNvPicPr>
            <a:picLocks noChangeAspect="1"/>
          </p:cNvPicPr>
          <p:nvPr/>
        </p:nvPicPr>
        <p:blipFill>
          <a:blip r:embed="rId1"/>
          <a:stretch>
            <a:fillRect/>
          </a:stretch>
        </p:blipFill>
        <p:spPr>
          <a:xfrm>
            <a:off x="756000" y="2850591"/>
            <a:ext cx="6047780" cy="3456384"/>
          </a:xfrm>
          <a:prstGeom prst="rect">
            <a:avLst/>
          </a:prstGeom>
        </p:spPr>
      </p:pic>
      <p:sp>
        <p:nvSpPr>
          <p:cNvPr id="4" name="Shape 1"/>
          <p:cNvSpPr/>
          <p:nvPr/>
        </p:nvSpPr>
        <p:spPr>
          <a:xfrm>
            <a:off x="756000" y="6432884"/>
            <a:ext cx="6047929" cy="0"/>
          </a:xfrm>
          <a:prstGeom prst="line">
            <a:avLst/>
          </a:prstGeom>
          <a:noFill/>
          <a:ln w="9525">
            <a:solidFill>
              <a:srgbClr val="E2E8DF"/>
            </a:solidFill>
            <a:prstDash val="solid"/>
          </a:ln>
        </p:spPr>
      </p:sp>
      <p:sp>
        <p:nvSpPr>
          <p:cNvPr id="5" name="Text 2"/>
          <p:cNvSpPr txBox="1"/>
          <p:nvPr/>
        </p:nvSpPr>
        <p:spPr>
          <a:xfrm>
            <a:off x="756000" y="6550309"/>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Cada época do ano pede uma estratégia de vendas diferente</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22</a:t>
            </a:r>
            <a:r>
              <a:rPr lang="en-US" sz="830" dirty="0">
                <a:solidFill>
                  <a:srgbClr val="7E8780"/>
                </a:solidFill>
                <a:latin typeface="Google Sans" pitchFamily="34" charset="0"/>
                <a:ea typeface="Google Sans" pitchFamily="34" charset="-122"/>
                <a:cs typeface="Google Sans" pitchFamily="34" charset="-120"/>
              </a:rPr>
              <a:t> · Épocas sazonais: períodos alto, médio e baixo</a:t>
            </a:r>
            <a:endParaRPr lang="en-US" sz="1020" dirty="0"/>
          </a:p>
        </p:txBody>
      </p:sp>
      <p:sp>
        <p:nvSpPr>
          <p:cNvPr id="6" name="Text 3"/>
          <p:cNvSpPr txBox="1"/>
          <p:nvPr/>
        </p:nvSpPr>
        <p:spPr>
          <a:xfrm>
            <a:off x="756000" y="7176727"/>
            <a:ext cx="6084505" cy="234005"/>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Cada período pede uma estratégia diferente:</a:t>
            </a:r>
            <a:endParaRPr lang="en-US" sz="1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756000" y="7508018"/>
          <a:ext cx="6047929" cy="914400"/>
        </p:xfrm>
        <a:graphic>
          <a:graphicData uri="http://schemas.openxmlformats.org/drawingml/2006/table">
            <a:tbl>
              <a:tblPr/>
              <a:tblGrid>
                <a:gridCol w="627311"/>
                <a:gridCol w="904726"/>
                <a:gridCol w="4496842"/>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Período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Estratégia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fazer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Alto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Promocionais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Aumentar orçamento nos produtos da cabeça, criar ofertas e kits, garantir stock e entregadores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Médio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Multichannel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Vender em vários canais: anúncios, feed do Instagram, listas do WhatsApp Business e clientes antigos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Baixo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Liquidação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Escoar stock parado com descontos, proteger o caixa e testar produtos novos com orçamento pequeno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756000" y="792000"/>
            <a:ext cx="6084505" cy="1175492"/>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Ciclo de vendas</a:t>
            </a:r>
            <a:r>
              <a:rPr lang="en-US" sz="1000" dirty="0">
                <a:solidFill>
                  <a:srgbClr val="2C332E"/>
                </a:solidFill>
                <a:latin typeface="Google Sans" pitchFamily="34" charset="0"/>
                <a:ea typeface="Google Sans" pitchFamily="34" charset="-122"/>
                <a:cs typeface="Google Sans" pitchFamily="34" charset="-120"/>
              </a:rPr>
              <a:t> é o tempo médio entre o primeiro contacto e a compra. Se o ciclo é de 7 dias, uma campanha para uma data forte tem de começar pelo menos uma semana antes, e o stock tem de chegar antes disso.</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Calendário comercial.</a:t>
            </a:r>
            <a:r>
              <a:rPr lang="en-US" sz="1000" dirty="0">
                <a:solidFill>
                  <a:srgbClr val="2C332E"/>
                </a:solidFill>
                <a:latin typeface="Google Sans" pitchFamily="34" charset="0"/>
                <a:ea typeface="Google Sans" pitchFamily="34" charset="-122"/>
                <a:cs typeface="Google Sans" pitchFamily="34" charset="-120"/>
              </a:rPr>
              <a:t> Usa as vendas dos últimos 12 a 24 meses para classificar cada mês. As datas abaixo são exemplos; substitui-as pelas que pesam no teu nicho.</a:t>
            </a:r>
            <a:endParaRPr lang="en-US" sz="10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756000" y="2064778"/>
          <a:ext cx="6047929" cy="914400"/>
        </p:xfrm>
        <a:graphic>
          <a:graphicData uri="http://schemas.openxmlformats.org/drawingml/2006/table">
            <a:tbl>
              <a:tblPr/>
              <a:tblGrid>
                <a:gridCol w="794891"/>
                <a:gridCol w="661095"/>
                <a:gridCol w="2456111"/>
                <a:gridCol w="794593"/>
                <a:gridCol w="1322189"/>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Mês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Período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Datas a considerar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Estratégia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Preparar a partir de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Janeiro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Regresso às aulas, contas de início de ano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Fevereiro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dos Namorados (14)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Março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Abril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da Mulher Moçambicana (7)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Maio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Junho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da Independência (25)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Julho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Agosto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Setembro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Outubro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Novembro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Black Friday</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Dezembro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Natal, 13.º salário, festas de fim de ano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4" name="Text 1"/>
          <p:cNvSpPr txBox="1"/>
          <p:nvPr/>
        </p:nvSpPr>
        <p:spPr>
          <a:xfrm>
            <a:off x="756000" y="6407880"/>
            <a:ext cx="6084505" cy="257967"/>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o calendário de quem vende online em Moçambique</a:t>
            </a:r>
            <a:endParaRPr lang="en-US" sz="1120" dirty="0"/>
          </a:p>
        </p:txBody>
      </p:sp>
      <p:graphicFrame>
        <p:nvGraphicFramePr>
          <p:cNvPr id="145" name="Table 1"/>
          <p:cNvGraphicFramePr>
            <a:graphicFrameLocks noGrp="1"/>
          </p:cNvGraphicFramePr>
          <p:nvPr>
            <p:extLst>
              <p:ext uri="{D42A27DB-BD31-4B8C-83A1-F6EECF244321}">
                <p14:modId xmlns:p14="http://schemas.microsoft.com/office/powerpoint/2010/main" val="1579011935"/>
              </p:ext>
            </p:extLst>
          </p:nvPr>
        </p:nvGraphicFramePr>
        <p:xfrm>
          <a:off x="756000" y="6755841"/>
          <a:ext cx="6047929" cy="914400"/>
        </p:xfrm>
        <a:graphic>
          <a:graphicData uri="http://schemas.openxmlformats.org/drawingml/2006/table">
            <a:tbl>
              <a:tblPr/>
              <a:tblGrid>
                <a:gridCol w="1082873"/>
                <a:gridCol w="2508945"/>
                <a:gridCol w="2437061"/>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Quando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Datas e épocas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Quem vende mais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Todos os meses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Do dia 25 ao dia 5, quando entram os salários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Quase todos: concentra aí as promoções e o orçamento de anúncios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Janeiro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Regresso às aulas; o “Janeiro longo”, com o dinheiro curto depois das festas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Low-ticket e produtos baratos; o Hélder, com candidaturas de emprego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Fevereiro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dos Namorados (14)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Floristas, boleiras, roupa, perfumes e presentes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Abril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Dia da Mulher Moçambicana (7)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Maquilhadoras, salões, roupa e floristas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Junho a Agosto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Estação fria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Roupa e calçados de inverno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Novembro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Black Friday</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Lojas de roupa, calçados e electrónicos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1082873"/>
                <a:gridCol w="2508945"/>
                <a:gridCol w="2437061"/>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Quando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Datas e épocas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Quem vende mais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Novembro e Dezembro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Fim do ano lectivo, finalistas e formaturas; Natal e festas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Maquilhadoras, boleiras, designers (convites e cartazes), lojistas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1773968"/>
            <a:ext cx="6084505" cy="2881360"/>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O ciclo de vendas em cada modelo.</a:t>
            </a:r>
            <a:r>
              <a:rPr lang="en-US" sz="1000" dirty="0">
                <a:solidFill>
                  <a:srgbClr val="2C332E"/>
                </a:solidFill>
                <a:latin typeface="Google Sans" pitchFamily="34" charset="0"/>
                <a:ea typeface="Google Sans" pitchFamily="34" charset="-122"/>
                <a:cs typeface="Google Sans" pitchFamily="34" charset="-120"/>
              </a:rPr>
              <a:t> Uma noiva marca a maquilhagem um a três meses antes. Um bolo de aniversário encomenda-se uma a duas semanas antes. Um curso low-ticket compra-se no próprio dia. Um pacote de design fecha-se em uma a três semanas. Por isso, a Célia começa a divulgar a época das formaturas em Setembro, e a Yara publica os temas de Natal no início de Novembro.</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Estas datas são um ponto de partida. Confirma as épocas fortes do teu nicho no teu próprio histórico de vendas.</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Lançar a campanha no próprio dia.</a:t>
            </a:r>
            <a:r>
              <a:rPr lang="en-US" sz="1000" dirty="0">
                <a:solidFill>
                  <a:srgbClr val="2C332E"/>
                </a:solidFill>
                <a:latin typeface="Google Sans" pitchFamily="34" charset="0"/>
                <a:ea typeface="Google Sans" pitchFamily="34" charset="-122"/>
                <a:cs typeface="Google Sans" pitchFamily="34" charset="-120"/>
              </a:rPr>
              <a:t> Quem compra para o Dia dos Namorados decide na semana anterior.</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Não preparar o stock e a capacidade</a:t>
            </a:r>
            <a:r>
              <a:rPr lang="en-US" sz="1000" dirty="0">
                <a:solidFill>
                  <a:srgbClr val="2C332E"/>
                </a:solidFill>
                <a:latin typeface="Google Sans" pitchFamily="34" charset="0"/>
                <a:ea typeface="Google Sans" pitchFamily="34" charset="-122"/>
                <a:cs typeface="Google Sans" pitchFamily="34" charset="-120"/>
              </a:rPr>
              <a:t> para o pico.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Fazer as mesmas promoções o ano inteiro</a:t>
            </a:r>
            <a:r>
              <a:rPr lang="en-US" sz="1000" dirty="0">
                <a:solidFill>
                  <a:srgbClr val="2C332E"/>
                </a:solidFill>
                <a:latin typeface="Google Sans" pitchFamily="34" charset="0"/>
                <a:ea typeface="Google Sans" pitchFamily="34" charset="-122"/>
                <a:cs typeface="Google Sans" pitchFamily="34" charset="-120"/>
              </a:rPr>
              <a:t>, sem olhar para o período em que estás.</a:t>
            </a:r>
            <a:endParaRPr lang="en-US" sz="1000" dirty="0"/>
          </a:p>
        </p:txBody>
      </p:sp>
      <p:sp>
        <p:nvSpPr>
          <p:cNvPr id="4" name="Shape 1"/>
          <p:cNvSpPr/>
          <p:nvPr/>
        </p:nvSpPr>
        <p:spPr>
          <a:xfrm>
            <a:off x="756000" y="4771813"/>
            <a:ext cx="6047929" cy="979587"/>
          </a:xfrm>
          <a:prstGeom prst="roundRect">
            <a:avLst>
              <a:gd name="adj" fmla="val 14935"/>
            </a:avLst>
          </a:prstGeom>
          <a:solidFill>
            <a:srgbClr val="E8F4E0"/>
          </a:solidFill>
          <a:ln/>
          <a:effectLst>
            <a:outerShdw sx="100000" sy="100000" kx="0" ky="0" algn="bl" rotWithShape="0" blurRad="127000" dist="38100" dir="5400000">
              <a:srgbClr val="1E501E">
                <a:alpha val="18000"/>
              </a:srgbClr>
            </a:outerShdw>
          </a:effectLst>
        </p:spPr>
      </p:sp>
      <p:sp>
        <p:nvSpPr>
          <p:cNvPr id="5" name="Text 2"/>
          <p:cNvSpPr txBox="1"/>
          <p:nvPr/>
        </p:nvSpPr>
        <p:spPr>
          <a:xfrm>
            <a:off x="971950" y="4951746"/>
            <a:ext cx="5652605" cy="638008"/>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15: Calendário comercial.</a:t>
            </a:r>
            <a:r>
              <a:rPr lang="en-US" sz="1000" dirty="0">
                <a:solidFill>
                  <a:srgbClr val="2C332E"/>
                </a:solidFill>
                <a:latin typeface="Google Sans" pitchFamily="34" charset="0"/>
                <a:ea typeface="Google Sans" pitchFamily="34" charset="-122"/>
                <a:cs typeface="Google Sans" pitchFamily="34" charset="-120"/>
              </a:rPr>
              <a:t> Usa o histórico do painel (Capítulo 5) e o ciclo de vida dos produtos (Capítulo 2). </a:t>
            </a:r>
            <a:r>
              <a:rPr lang="en-US" sz="1000" b="1" dirty="0">
                <a:solidFill>
                  <a:srgbClr val="21703A"/>
                </a:solidFill>
                <a:latin typeface="Google Sans" pitchFamily="34" charset="0"/>
                <a:ea typeface="Google Sans" pitchFamily="34" charset="-122"/>
                <a:cs typeface="Google Sans" pitchFamily="34" charset="-120"/>
              </a:rPr>
              <a:t>Segue para o Capítulo 16:</a:t>
            </a:r>
            <a:r>
              <a:rPr lang="en-US" sz="1000" dirty="0">
                <a:solidFill>
                  <a:srgbClr val="2C332E"/>
                </a:solidFill>
                <a:latin typeface="Google Sans" pitchFamily="34" charset="0"/>
                <a:ea typeface="Google Sans" pitchFamily="34" charset="-122"/>
                <a:cs typeface="Google Sans" pitchFamily="34" charset="-120"/>
              </a:rPr>
              <a:t> o pico de procura do calendário mostra-te que recurso vai faltar primeiro.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756000" y="792000"/>
            <a:ext cx="6084505" cy="3419076"/>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16</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Avaliar o </a:t>
            </a:r>
            <a:r>
              <a:rPr lang="en-US" sz="1940" i="1" dirty="0">
                <a:solidFill>
                  <a:srgbClr val="14181A"/>
                </a:solidFill>
                <a:latin typeface="Google Sans" pitchFamily="34" charset="0"/>
                <a:ea typeface="Google Sans" pitchFamily="34" charset="-122"/>
                <a:cs typeface="Google Sans" pitchFamily="34" charset="-120"/>
              </a:rPr>
              <a:t>headroom</a:t>
            </a:r>
            <a:r>
              <a:rPr lang="en-US" sz="1940" dirty="0">
                <a:solidFill>
                  <a:srgbClr val="14181A"/>
                </a:solidFill>
                <a:latin typeface="Google Sans" pitchFamily="34" charset="0"/>
                <a:ea typeface="Google Sans" pitchFamily="34" charset="-122"/>
                <a:cs typeface="Google Sans" pitchFamily="34" charset="-120"/>
              </a:rPr>
              <a:t>, ou espaço para crescer</a:t>
            </a:r>
            <a:endParaRPr lang="en-US" sz="1020" dirty="0"/>
          </a:p>
          <a:p>
            <a:pPr algn="l" indent="0" marL="0">
              <a:lnSpc>
                <a:spcPts val="1627"/>
              </a:lnSpc>
              <a:spcBef>
                <a:spcPts val="1984"/>
              </a:spcBef>
              <a:buNone/>
            </a:pPr>
            <a:r>
              <a:rPr lang="en-US" sz="1000" i="1" dirty="0">
                <a:solidFill>
                  <a:srgbClr val="2C332E"/>
                </a:solidFill>
                <a:latin typeface="Google Sans" pitchFamily="34" charset="0"/>
                <a:ea typeface="Google Sans" pitchFamily="34" charset="-122"/>
                <a:cs typeface="Google Sans" pitchFamily="34" charset="-120"/>
              </a:rPr>
              <a:t>Headroom</a:t>
            </a:r>
            <a:r>
              <a:rPr lang="en-US" sz="1000" dirty="0">
                <a:solidFill>
                  <a:srgbClr val="2C332E"/>
                </a:solidFill>
                <a:latin typeface="Google Sans" pitchFamily="34" charset="0"/>
                <a:ea typeface="Google Sans" pitchFamily="34" charset="-122"/>
                <a:cs typeface="Google Sans" pitchFamily="34" charset="-120"/>
              </a:rPr>
              <a:t> é a folga entre o que o negócio produz hoje e o máximo que aguenta. Cada recurso tem o seu teto, e o que se esgota primeiro define quanto podes crescer sem investir.</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 nossa meta sempre foi 100.000 MT de faturação diária, mas durante meses não passámos dos 70.000 MT. Mais anúncios não resolviam, porque o teto não estava na procura: estava no atendimento limitado ao horário de expediente e na dependência de transportadoras externas. Só depois de subirmos esses tetos — BOT, “caixas”, motas e entregadores internos — é que, num dia em que menos esperávamos, chegámos aos 100.000 MT.</a:t>
            </a:r>
            <a:endParaRPr lang="en-US" sz="102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Os recursos que mais vezes limitam o crescimento são: pessoas, atendimento, entregas, stock e fornecedores, dinheiro em caixa, tamanho do mercado e tempo do dono.</a:t>
            </a:r>
            <a:endParaRPr lang="en-US" sz="10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Quadro dos limites do negócio.</a:t>
            </a:r>
            <a:r>
              <a:rPr lang="en-US" sz="1000" dirty="0">
                <a:solidFill>
                  <a:srgbClr val="2C332E"/>
                </a:solidFill>
                <a:latin typeface="Google Sans" pitchFamily="34" charset="0"/>
                <a:ea typeface="Google Sans" pitchFamily="34" charset="-122"/>
                <a:cs typeface="Google Sans" pitchFamily="34" charset="-120"/>
              </a:rPr>
              <a:t> Para cada recurso, calcula a folga em vendas por dia. O menor valor da penúltima coluna é o teto actual do teu negócio.</a:t>
            </a:r>
            <a:endParaRPr lang="en-US" sz="102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756000" y="4308362"/>
          <a:ext cx="6047929" cy="914400"/>
        </p:xfrm>
        <a:graphic>
          <a:graphicData uri="http://schemas.openxmlformats.org/drawingml/2006/table">
            <a:tbl>
              <a:tblPr/>
              <a:tblGrid>
                <a:gridCol w="1183481"/>
                <a:gridCol w="1160115"/>
                <a:gridCol w="703213"/>
                <a:gridCol w="645616"/>
                <a:gridCol w="1355527"/>
                <a:gridCol w="980926"/>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Recurso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Capacidade máxima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Uso actual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Folga (%)</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Vendas por dia até ao limite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subir o teto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Atendimento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Stock e fornecedores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Dinheiro em caixa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Mercado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Tempo do dono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4" name="Text 1"/>
          <p:cNvSpPr txBox="1"/>
          <p:nvPr/>
        </p:nvSpPr>
        <p:spPr>
          <a:xfrm>
            <a:off x="756000" y="7018522"/>
            <a:ext cx="6084505" cy="923080"/>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Antes de aumentar os anúncios (Parte 7), sobe o teto do recurso mais apertado. Caso contrário, o dinheiro dos anúncios compra clientes que a empresa não consegue servir.</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Na prática: o quadro dos limites da Yara</a:t>
            </a:r>
            <a:endParaRPr lang="en-US" sz="1000" dirty="0"/>
          </a:p>
        </p:txBody>
      </p:sp>
      <p:graphicFrame>
        <p:nvGraphicFramePr>
          <p:cNvPr id="149" name="Table 1"/>
          <p:cNvGraphicFramePr>
            <a:graphicFrameLocks noGrp="1"/>
          </p:cNvGraphicFramePr>
          <p:nvPr>
            <p:extLst>
              <p:ext uri="{D42A27DB-BD31-4B8C-83A1-F6EECF244321}">
                <p14:modId xmlns:p14="http://schemas.microsoft.com/office/powerpoint/2010/main" val="1579011935"/>
              </p:ext>
            </p:extLst>
          </p:nvPr>
        </p:nvGraphicFramePr>
        <p:xfrm>
          <a:off x="756000" y="8031595"/>
          <a:ext cx="6047929" cy="914400"/>
        </p:xfrm>
        <a:graphic>
          <a:graphicData uri="http://schemas.openxmlformats.org/drawingml/2006/table">
            <a:tbl>
              <a:tblPr/>
              <a:tblGrid>
                <a:gridCol w="838646"/>
                <a:gridCol w="1176635"/>
                <a:gridCol w="629245"/>
                <a:gridCol w="602456"/>
                <a:gridCol w="1247031"/>
                <a:gridCol w="1534864"/>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Recurso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Capacidade máxima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Uso actual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Folga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Bolos por semana até ao limite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subir o teto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Forno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 bolos por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Segundo forno, ou mais encomendas à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15 por semana (feitas por ela)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Motoqueiro pago por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756000" y="792000"/>
          <a:ext cx="6047929" cy="914400"/>
        </p:xfrm>
        <a:graphic>
          <a:graphicData uri="http://schemas.openxmlformats.org/drawingml/2006/table">
            <a:tbl>
              <a:tblPr/>
              <a:tblGrid>
                <a:gridCol w="838646"/>
                <a:gridCol w="1176635"/>
                <a:gridCol w="629245"/>
                <a:gridCol w="602456"/>
                <a:gridCol w="1247031"/>
                <a:gridCol w="1534864"/>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Recurso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Capacidade máxima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Uso actual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Folga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Bolos por semana até ao limite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Como subir o teto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Dinheiro em caixa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Ingredientes para 15 bolos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Sinal de 50% em todas as encomendas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Mercado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Matola e Maputo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Grande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Tempo da Yara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60 horas por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58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Praticamente 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Delegar entregas e decorações simples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txBox="1"/>
          <p:nvPr/>
        </p:nvSpPr>
        <p:spPr>
          <a:xfrm>
            <a:off x="756000" y="2721705"/>
            <a:ext cx="6084505" cy="2881360"/>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 teto da Yara não é o forno, nem o mercado: é o tempo dela. Se aumentasse os anúncios agora, teria mais encomendas do que horas. Primeiro delega as entregas (Capítulo 11); só depois acelera.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Os tetos dos outros.</a:t>
            </a:r>
            <a:r>
              <a:rPr lang="en-US" sz="1000" dirty="0">
                <a:solidFill>
                  <a:srgbClr val="2C332E"/>
                </a:solidFill>
                <a:latin typeface="Google Sans" pitchFamily="34" charset="0"/>
                <a:ea typeface="Google Sans" pitchFamily="34" charset="-122"/>
                <a:cs typeface="Google Sans" pitchFamily="34" charset="-120"/>
              </a:rPr>
              <a:t> A Célia tem folga durante a semana e nenhuma ao sábado: cria uma promoção para terças e quartas, em vez de mais anúncios. O Hélder quase não tem teto de produção — o curso está gravado —, mas tem teto de suporte. O teto do Tiago são as horas: sobe o preço ou contrata um freelancer antes de procurar mais clientes.</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Aumentar os anúncios com o teto cheio.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Esquecer o teto do tempo do dono.</a:t>
            </a:r>
            <a:r>
              <a:rPr lang="en-US" sz="1000" dirty="0">
                <a:solidFill>
                  <a:srgbClr val="2C332E"/>
                </a:solidFill>
                <a:latin typeface="Google Sans" pitchFamily="34" charset="0"/>
                <a:ea typeface="Google Sans" pitchFamily="34" charset="-122"/>
                <a:cs typeface="Google Sans" pitchFamily="34" charset="-120"/>
              </a:rPr>
              <a:t> Nos negócios pequenos, é quase sempre o primeiro a rebentar.</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Investir no recurso errado.</a:t>
            </a:r>
            <a:r>
              <a:rPr lang="en-US" sz="1000" dirty="0">
                <a:solidFill>
                  <a:srgbClr val="2C332E"/>
                </a:solidFill>
                <a:latin typeface="Google Sans" pitchFamily="34" charset="0"/>
                <a:ea typeface="Google Sans" pitchFamily="34" charset="-122"/>
                <a:cs typeface="Google Sans" pitchFamily="34" charset="-120"/>
              </a:rPr>
              <a:t> Um segundo forno não resolve a falta de horas da Yara.</a:t>
            </a:r>
            <a:endParaRPr lang="en-US" sz="1000" dirty="0"/>
          </a:p>
        </p:txBody>
      </p:sp>
      <p:sp>
        <p:nvSpPr>
          <p:cNvPr id="4" name="Shape 1"/>
          <p:cNvSpPr/>
          <p:nvPr/>
        </p:nvSpPr>
        <p:spPr>
          <a:xfrm>
            <a:off x="756000" y="5719550"/>
            <a:ext cx="6047929" cy="979587"/>
          </a:xfrm>
          <a:prstGeom prst="roundRect">
            <a:avLst>
              <a:gd name="adj" fmla="val 14935"/>
            </a:avLst>
          </a:prstGeom>
          <a:solidFill>
            <a:srgbClr val="E8F4E0"/>
          </a:solidFill>
          <a:ln/>
          <a:effectLst>
            <a:outerShdw sx="100000" sy="100000" kx="0" ky="0" algn="bl" rotWithShape="0" blurRad="127000" dist="38100" dir="5400000">
              <a:srgbClr val="1E501E">
                <a:alpha val="18000"/>
              </a:srgbClr>
            </a:outerShdw>
          </a:effectLst>
        </p:spPr>
      </p:sp>
      <p:sp>
        <p:nvSpPr>
          <p:cNvPr id="5" name="Text 2"/>
          <p:cNvSpPr txBox="1"/>
          <p:nvPr/>
        </p:nvSpPr>
        <p:spPr>
          <a:xfrm>
            <a:off x="971950" y="5899484"/>
            <a:ext cx="5652605" cy="638008"/>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16: Quadro dos limites.</a:t>
            </a:r>
            <a:r>
              <a:rPr lang="en-US" sz="1000" dirty="0">
                <a:solidFill>
                  <a:srgbClr val="2C332E"/>
                </a:solidFill>
                <a:latin typeface="Google Sans" pitchFamily="34" charset="0"/>
                <a:ea typeface="Google Sans" pitchFamily="34" charset="-122"/>
                <a:cs typeface="Google Sans" pitchFamily="34" charset="-120"/>
              </a:rPr>
              <a:t> Usa o funil (Capítulo 6), a capacidade (Capítulo 9) e o calendário (Capítulo 15). </a:t>
            </a:r>
            <a:r>
              <a:rPr lang="en-US" sz="1000" b="1" dirty="0">
                <a:solidFill>
                  <a:srgbClr val="21703A"/>
                </a:solidFill>
                <a:latin typeface="Google Sans" pitchFamily="34" charset="0"/>
                <a:ea typeface="Google Sans" pitchFamily="34" charset="-122"/>
                <a:cs typeface="Google Sans" pitchFamily="34" charset="-120"/>
              </a:rPr>
              <a:t>Segue para o Capítulo 17:</a:t>
            </a:r>
            <a:r>
              <a:rPr lang="en-US" sz="1000" dirty="0">
                <a:solidFill>
                  <a:srgbClr val="2C332E"/>
                </a:solidFill>
                <a:latin typeface="Google Sans" pitchFamily="34" charset="0"/>
                <a:ea typeface="Google Sans" pitchFamily="34" charset="-122"/>
                <a:cs typeface="Google Sans" pitchFamily="34" charset="-120"/>
              </a:rPr>
              <a:t> só aceleras os anúncios até ao teto que acabaste de medir.</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756000" y="792000"/>
            <a:ext cx="6047929" cy="2741116"/>
          </a:xfrm>
          <a:prstGeom prst="roundRect">
            <a:avLst>
              <a:gd name="adj" fmla="val 8006"/>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84455"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7</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Escala em anúncios</a:t>
            </a:r>
            <a:endParaRPr lang="en-US" sz="2520" dirty="0"/>
          </a:p>
        </p:txBody>
      </p:sp>
      <p:sp>
        <p:nvSpPr>
          <p:cNvPr id="5" name="Shape 3"/>
          <p:cNvSpPr/>
          <p:nvPr/>
        </p:nvSpPr>
        <p:spPr>
          <a:xfrm>
            <a:off x="1079999" y="2687195"/>
            <a:ext cx="5399931" cy="0"/>
          </a:xfrm>
          <a:prstGeom prst="line">
            <a:avLst/>
          </a:prstGeom>
          <a:noFill/>
          <a:ln w="9525">
            <a:solidFill>
              <a:srgbClr val="CFE3C3"/>
            </a:solidFill>
            <a:prstDash val="solid"/>
          </a:ln>
        </p:spPr>
      </p:sp>
      <p:sp>
        <p:nvSpPr>
          <p:cNvPr id="6" name="Text 4"/>
          <p:cNvSpPr txBox="1"/>
          <p:nvPr/>
        </p:nvSpPr>
        <p:spPr>
          <a:xfrm>
            <a:off x="1079999" y="1977863"/>
            <a:ext cx="5436507" cy="1213676"/>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Anúncios são um acelerador: multiplicam o que já funciona e também o que não funciona. Aplica esta parte só depois de teres a Oferta 10X, a ficha de preço, o funil e a capacidade de entrega prontos.</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Nível 4 — Escala · Peça 17 · Recebes da Parte 6: o calendário e o teto do negócio · Entregas à Parte 8: um plano de testes com critérios de decisão.</a:t>
            </a:r>
            <a:endParaRPr lang="en-US" sz="1000" dirty="0"/>
          </a:p>
        </p:txBody>
      </p:sp>
      <p:sp>
        <p:nvSpPr>
          <p:cNvPr id="7" name="Text 5"/>
          <p:cNvSpPr txBox="1"/>
          <p:nvPr/>
        </p:nvSpPr>
        <p:spPr>
          <a:xfrm>
            <a:off x="756000" y="3857115"/>
            <a:ext cx="6084505" cy="1922163"/>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17</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Distinguir escala horizontal e vertical e decidir quando aumentar, manter, ajustar ou parar</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Quando testámos 20 produtos numa única semana, estávamos a escalar na horizontal: mais produtos, mais ofertas, mais públicos, cada um com um orçamento pequeno. Quando um desses produtos se revelava vencedor e passava para a cabeça da Cauda Longa, escalávamos na vertical: mais orçamento no mesmo anúncio e no mesmo público.</a:t>
            </a:r>
            <a:endParaRPr lang="en-US" sz="102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756000" y="5876564"/>
          <a:ext cx="6047929" cy="914400"/>
        </p:xfrm>
        <a:graphic>
          <a:graphicData uri="http://schemas.openxmlformats.org/drawingml/2006/table">
            <a:tbl>
              <a:tblPr/>
              <a:tblGrid>
                <a:gridCol w="792807"/>
                <a:gridCol w="2183904"/>
                <a:gridCol w="3052167"/>
              </a:tblGrid>
              <a:tr h="328166">
                <a:tc>
                  <a:txBody>
                    <a:bodyPr/>
                    <a:lstStyle/>
                    <a:p>
                      <a:pPr algn="l" indent="0" marL="0">
                        <a:buNone/>
                      </a:pP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Escala vertical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Escala horizontal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que é</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Mais orçamento no mesmo anúncio e público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mesmo orçamento de teste em novos produtos, públicos, criativos ou canais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Quando usar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anúncio está abaixo do CAC máximo e estável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público actual dá sinais de cansaço, ou precisas de novos produtos para a cauda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Risco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 CAC sobe quando o público se esgota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Dispersar o orçamento por demasiados testes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Regra prática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Aumentos graduais, com dias de observação entre eles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Testes com orçamento fixo e critério de paragem escrito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9" name="Text 6"/>
          <p:cNvSpPr txBox="1"/>
          <p:nvPr/>
        </p:nvSpPr>
        <p:spPr>
          <a:xfrm>
            <a:off x="756000" y="8280138"/>
            <a:ext cx="6084505" cy="44057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A decisão diária compara o CAC do anúncio com o CAC máximo da tua ficha de preço (Capítulo 4). No nosso exemplo, são 300 MT por cliente. Sem esse número não há critério: há palpite.</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O custo por cliente decide o próximo passo do anúncio">    </p:cNvPr>
          <p:cNvPicPr>
            <a:picLocks noChangeAspect="1"/>
          </p:cNvPicPr>
          <p:nvPr/>
        </p:nvPicPr>
        <p:blipFill>
          <a:blip r:embed="rId1"/>
          <a:stretch>
            <a:fillRect/>
          </a:stretch>
        </p:blipFill>
        <p:spPr>
          <a:xfrm>
            <a:off x="756000" y="792000"/>
            <a:ext cx="6047780" cy="3828306"/>
          </a:xfrm>
          <a:prstGeom prst="rect">
            <a:avLst/>
          </a:prstGeom>
        </p:spPr>
      </p:pic>
      <p:sp>
        <p:nvSpPr>
          <p:cNvPr id="3" name="Shape 0"/>
          <p:cNvSpPr/>
          <p:nvPr/>
        </p:nvSpPr>
        <p:spPr>
          <a:xfrm>
            <a:off x="756000" y="4746214"/>
            <a:ext cx="6047929" cy="0"/>
          </a:xfrm>
          <a:prstGeom prst="line">
            <a:avLst/>
          </a:prstGeom>
          <a:noFill/>
          <a:ln w="9525">
            <a:solidFill>
              <a:srgbClr val="E2E8DF"/>
            </a:solidFill>
            <a:prstDash val="solid"/>
          </a:ln>
        </p:spPr>
      </p:sp>
      <p:sp>
        <p:nvSpPr>
          <p:cNvPr id="4" name="Text 1"/>
          <p:cNvSpPr txBox="1"/>
          <p:nvPr/>
        </p:nvSpPr>
        <p:spPr>
          <a:xfrm>
            <a:off x="756000" y="4863640"/>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O custo por cliente decide o próximo passo do anúncio</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23</a:t>
            </a:r>
            <a:r>
              <a:rPr lang="en-US" sz="830" dirty="0">
                <a:solidFill>
                  <a:srgbClr val="7E8780"/>
                </a:solidFill>
                <a:latin typeface="Google Sans" pitchFamily="34" charset="0"/>
                <a:ea typeface="Google Sans" pitchFamily="34" charset="-122"/>
                <a:cs typeface="Google Sans" pitchFamily="34" charset="-120"/>
              </a:rPr>
              <a:t> · Decisão diária: aumentar, manter, ajustar ou parar</a:t>
            </a:r>
            <a:endParaRPr lang="en-US" sz="1020" dirty="0"/>
          </a:p>
        </p:txBody>
      </p:sp>
      <p:sp>
        <p:nvSpPr>
          <p:cNvPr id="5" name="Text 2"/>
          <p:cNvSpPr txBox="1"/>
          <p:nvPr/>
        </p:nvSpPr>
        <p:spPr>
          <a:xfrm>
            <a:off x="756000" y="5490057"/>
            <a:ext cx="6084505" cy="1175492"/>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Os limites da figura são um ponto de partida; ajusta-os ao teu ciclo de vendas. E lembra-te da Cauda Longa: as vendas complementares baixam o CAC real de cada cliente, e essa margem extra pode ser reinvestida no dia seguinte em novos anúncios.</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Plano de testes.</a:t>
            </a:r>
            <a:r>
              <a:rPr lang="en-US" sz="1000" dirty="0">
                <a:solidFill>
                  <a:srgbClr val="2C332E"/>
                </a:solidFill>
                <a:latin typeface="Google Sans" pitchFamily="34" charset="0"/>
                <a:ea typeface="Google Sans" pitchFamily="34" charset="-122"/>
                <a:cs typeface="Google Sans" pitchFamily="34" charset="-120"/>
              </a:rPr>
              <a:t> Um teste por linha, com orçamento e critério de decisão escritos antes de começar.</a:t>
            </a:r>
            <a:endParaRPr lang="en-US" sz="10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756000" y="6762836"/>
          <a:ext cx="6047929" cy="914400"/>
        </p:xfrm>
        <a:graphic>
          <a:graphicData uri="http://schemas.openxmlformats.org/drawingml/2006/table">
            <a:tbl>
              <a:tblPr/>
              <a:tblGrid>
                <a:gridCol w="500211"/>
                <a:gridCol w="913061"/>
                <a:gridCol w="893713"/>
                <a:gridCol w="908298"/>
                <a:gridCol w="711398"/>
                <a:gridCol w="712738"/>
                <a:gridCol w="747713"/>
                <a:gridCol w="641747"/>
              </a:tblGrid>
              <a:tr h="648742">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Teste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Tipo (horizontal ou vertical)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Variável testada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Orçamento diário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Duração (dias)</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CAC máximo (MT)</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Resultado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Decisão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Horizontal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Produto novo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Horizontal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Público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Vertical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Orçamento do vencedor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756000" y="792000"/>
            <a:ext cx="6084505" cy="1702493"/>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anúncios com orçamentos pequenos</a:t>
            </a:r>
            <a:endParaRPr lang="en-US" sz="1120" dirty="0"/>
          </a:p>
          <a:p>
            <a:pPr algn="l" indent="0" marL="0">
              <a:lnSpc>
                <a:spcPts val="1627"/>
              </a:lnSpc>
              <a:spcBef>
                <a:spcPts val="708"/>
              </a:spcBef>
              <a:buNone/>
            </a:pPr>
            <a:r>
              <a:rPr lang="en-US" sz="1000" b="1" dirty="0">
                <a:solidFill>
                  <a:srgbClr val="14181A"/>
                </a:solidFill>
                <a:latin typeface="Google Sans" pitchFamily="34" charset="0"/>
                <a:ea typeface="Google Sans" pitchFamily="34" charset="-122"/>
                <a:cs typeface="Google Sans" pitchFamily="34" charset="-120"/>
              </a:rPr>
              <a:t>A realidade de quem anuncia em Moçambique.</a:t>
            </a:r>
            <a:r>
              <a:rPr lang="en-US" sz="1000" dirty="0">
                <a:solidFill>
                  <a:srgbClr val="2C332E"/>
                </a:solidFill>
                <a:latin typeface="Google Sans" pitchFamily="34" charset="0"/>
                <a:ea typeface="Google Sans" pitchFamily="34" charset="-122"/>
                <a:cs typeface="Google Sans" pitchFamily="34" charset="-120"/>
              </a:rPr>
              <a:t> O Meta Ads e o TikTok Ads cobram em dólares, por isso precisas de um cartão que aceite pagamentos internacionais. Para começar, o botão “impulsionar” funciona, desde que escolhas como objectivo receber mensagens no WhatsApp. Usa um orçamento que possas perder sem pôr o negócio em risco, e só o aumentas quando o painel o justificar.</a:t>
            </a:r>
            <a:endParaRPr lang="en-US" sz="112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O teste da Neyma.</a:t>
            </a:r>
            <a:r>
              <a:rPr lang="en-US" sz="1000" dirty="0">
                <a:solidFill>
                  <a:srgbClr val="2C332E"/>
                </a:solidFill>
                <a:latin typeface="Google Sans" pitchFamily="34" charset="0"/>
                <a:ea typeface="Google Sans" pitchFamily="34" charset="-122"/>
                <a:cs typeface="Google Sans" pitchFamily="34" charset="-120"/>
              </a:rPr>
              <a:t> CAC máximo: 250 MT, cerca de 4 USD. Testou três criativos para os mesmos ténis, com 3 USD por dia cada, durante quatro dias:</a:t>
            </a:r>
            <a:endParaRPr lang="en-US" sz="112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756000" y="2591779"/>
          <a:ext cx="6047929" cy="914400"/>
        </p:xfrm>
        <a:graphic>
          <a:graphicData uri="http://schemas.openxmlformats.org/drawingml/2006/table">
            <a:tbl>
              <a:tblPr/>
              <a:tblGrid>
                <a:gridCol w="1828205"/>
                <a:gridCol w="578941"/>
                <a:gridCol w="883146"/>
                <a:gridCol w="2738586"/>
              </a:tblGrid>
              <a:tr h="488454">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Criativo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CAC</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 do máximo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Decisão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Vídeo de uma cliente a usar os ténis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180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72%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Aumentar</a:t>
                      </a:r>
                      <a:r>
                        <a:rPr lang="en-US" sz="860" dirty="0">
                          <a:solidFill>
                            <a:srgbClr val="2C332E"/>
                          </a:solidFill>
                          <a:latin typeface="Google Sans" pitchFamily="34" charset="0"/>
                          <a:ea typeface="Google Sans" pitchFamily="34" charset="-122"/>
                          <a:cs typeface="Google Sans" pitchFamily="34" charset="-120"/>
                        </a:rPr>
                        <a:t> 20% a cada 3 dias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Vídeo da Neyma a mostrar os ténis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260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104%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Ajustar:</a:t>
                      </a:r>
                      <a:r>
                        <a:rPr lang="en-US" sz="860" dirty="0">
                          <a:solidFill>
                            <a:srgbClr val="2C332E"/>
                          </a:solidFill>
                          <a:latin typeface="Google Sans" pitchFamily="34" charset="0"/>
                          <a:ea typeface="Google Sans" pitchFamily="34" charset="-122"/>
                          <a:cs typeface="Google Sans" pitchFamily="34" charset="-120"/>
                        </a:rPr>
                        <a:t> novo texto, com o preço e o “pagas na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Foto dos ténis em fundo branco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420 MT</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168%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Parar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4681772"/>
            <a:ext cx="6084505" cy="2996553"/>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O vídeo de cliente venceu por uma razão simples: responde à desconfiança antes de ela aparecer.</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O orgânico como teste grátis.</a:t>
            </a:r>
            <a:r>
              <a:rPr lang="en-US" sz="1000" dirty="0">
                <a:solidFill>
                  <a:srgbClr val="2C332E"/>
                </a:solidFill>
                <a:latin typeface="Google Sans" pitchFamily="34" charset="0"/>
                <a:ea typeface="Google Sans" pitchFamily="34" charset="-122"/>
                <a:cs typeface="Google Sans" pitchFamily="34" charset="-120"/>
              </a:rPr>
              <a:t> O Hélder publica três vídeos orgânicos por semana no TikTok. O que tiver mais visualizações e mais mensagens é o único que promove com dinheiro. Assim, só paga para amplificar o que já provou funcionar.</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Nos serviços para negócios, o anúncio vende uma conversa.</a:t>
            </a:r>
            <a:r>
              <a:rPr lang="en-US" sz="1000" dirty="0">
                <a:solidFill>
                  <a:srgbClr val="2C332E"/>
                </a:solidFill>
                <a:latin typeface="Google Sans" pitchFamily="34" charset="0"/>
                <a:ea typeface="Google Sans" pitchFamily="34" charset="-122"/>
                <a:cs typeface="Google Sans" pitchFamily="34" charset="-120"/>
              </a:rPr>
              <a:t> O anúncio do Tiago não vende o pacote: oferece “uma análise gratuita da tua página de Instagram”. A análise abre a conversa, e o guião do Capítulo 7 faz o resto.</a:t>
            </a:r>
            <a:endParaRPr lang="en-US" sz="1000" dirty="0"/>
          </a:p>
          <a:p>
            <a:pPr algn="l" indent="0" marL="0">
              <a:lnSpc>
                <a:spcPts val="1817"/>
              </a:lnSpc>
              <a:spcBef>
                <a:spcPts val="1984"/>
              </a:spcBef>
              <a:buNone/>
            </a:pPr>
            <a:r>
              <a:rPr lang="en-US" sz="1120" b="1" dirty="0">
                <a:solidFill>
                  <a:srgbClr val="21703A"/>
                </a:solidFill>
                <a:latin typeface="Google Sans" pitchFamily="34" charset="0"/>
                <a:ea typeface="Google Sans" pitchFamily="34" charset="-122"/>
                <a:cs typeface="Google Sans" pitchFamily="34" charset="-120"/>
              </a:rPr>
              <a:t>Erros comuns</a:t>
            </a:r>
            <a:endParaRPr lang="en-US" sz="1000" dirty="0"/>
          </a:p>
          <a:p>
            <a:pPr algn="l" marL="215900" indent="-215900">
              <a:lnSpc>
                <a:spcPts val="1627"/>
              </a:lnSpc>
              <a:spcBef>
                <a:spcPts val="708"/>
              </a:spcBef>
              <a:buSzPct val="100000"/>
              <a:buChar char="•"/>
            </a:pPr>
            <a:r>
              <a:rPr lang="en-US" sz="1000" b="1" dirty="0">
                <a:solidFill>
                  <a:srgbClr val="14181A"/>
                </a:solidFill>
                <a:latin typeface="Google Sans" pitchFamily="34" charset="0"/>
                <a:ea typeface="Google Sans" pitchFamily="34" charset="-122"/>
                <a:cs typeface="Google Sans" pitchFamily="34" charset="-120"/>
              </a:rPr>
              <a:t>Impulsionar publicações sem objectivo</a:t>
            </a:r>
            <a:r>
              <a:rPr lang="en-US" sz="1000" dirty="0">
                <a:solidFill>
                  <a:srgbClr val="2C332E"/>
                </a:solidFill>
                <a:latin typeface="Google Sans" pitchFamily="34" charset="0"/>
                <a:ea typeface="Google Sans" pitchFamily="34" charset="-122"/>
                <a:cs typeface="Google Sans" pitchFamily="34" charset="-120"/>
              </a:rPr>
              <a:t>, só para ter gostos.</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Mudar tudo todos os dias.</a:t>
            </a:r>
            <a:r>
              <a:rPr lang="en-US" sz="1000" dirty="0">
                <a:solidFill>
                  <a:srgbClr val="2C332E"/>
                </a:solidFill>
                <a:latin typeface="Google Sans" pitchFamily="34" charset="0"/>
                <a:ea typeface="Google Sans" pitchFamily="34" charset="-122"/>
                <a:cs typeface="Google Sans" pitchFamily="34" charset="-120"/>
              </a:rPr>
              <a:t> Um anúncio precisa de alguns dias de dados antes de ser julgado.</a:t>
            </a:r>
            <a:endParaRPr lang="en-US" sz="1000" dirty="0"/>
          </a:p>
          <a:p>
            <a:pPr algn="l" marL="215900" indent="-215900">
              <a:lnSpc>
                <a:spcPts val="1627"/>
              </a:lnSpc>
              <a:spcBef>
                <a:spcPts val="396"/>
              </a:spcBef>
              <a:buSzPct val="100000"/>
              <a:buChar char="•"/>
            </a:pPr>
            <a:r>
              <a:rPr lang="en-US" sz="1000" b="1" dirty="0">
                <a:solidFill>
                  <a:srgbClr val="14181A"/>
                </a:solidFill>
                <a:latin typeface="Google Sans" pitchFamily="34" charset="0"/>
                <a:ea typeface="Google Sans" pitchFamily="34" charset="-122"/>
                <a:cs typeface="Google Sans" pitchFamily="34" charset="-120"/>
              </a:rPr>
              <a:t>Aumentar os anúncios com o teto cheio.</a:t>
            </a:r>
            <a:r>
              <a:rPr lang="en-US" sz="1000" dirty="0">
                <a:solidFill>
                  <a:srgbClr val="2C332E"/>
                </a:solidFill>
                <a:latin typeface="Google Sans" pitchFamily="34" charset="0"/>
                <a:ea typeface="Google Sans" pitchFamily="34" charset="-122"/>
                <a:cs typeface="Google Sans" pitchFamily="34" charset="-120"/>
              </a:rPr>
              <a:t> Volta ao Capítulo 16 antes de carregar no botão.</a:t>
            </a:r>
            <a:endParaRPr lang="en-US" sz="1000" dirty="0"/>
          </a:p>
        </p:txBody>
      </p:sp>
      <p:sp>
        <p:nvSpPr>
          <p:cNvPr id="5" name="Shape 2"/>
          <p:cNvSpPr/>
          <p:nvPr/>
        </p:nvSpPr>
        <p:spPr>
          <a:xfrm>
            <a:off x="756000" y="7794810"/>
            <a:ext cx="6047929" cy="1186160"/>
          </a:xfrm>
          <a:prstGeom prst="roundRect">
            <a:avLst>
              <a:gd name="adj" fmla="val 12334"/>
            </a:avLst>
          </a:prstGeom>
          <a:solidFill>
            <a:srgbClr val="E8F4E0"/>
          </a:solidFill>
          <a:ln/>
          <a:effectLst>
            <a:outerShdw sx="100000" sy="100000" kx="0" ky="0" algn="bl" rotWithShape="0" blurRad="127000" dist="38100" dir="5400000">
              <a:srgbClr val="1E501E">
                <a:alpha val="18000"/>
              </a:srgbClr>
            </a:outerShdw>
          </a:effectLst>
        </p:spPr>
      </p:sp>
      <p:sp>
        <p:nvSpPr>
          <p:cNvPr id="6" name="Text 3"/>
          <p:cNvSpPr txBox="1"/>
          <p:nvPr/>
        </p:nvSpPr>
        <p:spPr>
          <a:xfrm>
            <a:off x="971950" y="7974743"/>
            <a:ext cx="5652605" cy="844582"/>
          </a:xfrm>
          <a:prstGeom prst="rect">
            <a:avLst/>
          </a:prstGeom>
          <a:noFill/>
          <a:ln/>
        </p:spPr>
        <p:txBody>
          <a:bodyPr wrap="square" lIns="0" tIns="0" rIns="0" bIns="0" rtlCol="0" anchor="t"/>
          <a:lstStyle/>
          <a:p>
            <a:pPr algn="l" indent="0" marL="0">
              <a:lnSpc>
                <a:spcPts val="1627"/>
              </a:lnSpc>
              <a:buNone/>
            </a:pPr>
            <a:r>
              <a:rPr lang="en-US" sz="1000" b="1" dirty="0">
                <a:solidFill>
                  <a:srgbClr val="21703A"/>
                </a:solidFill>
                <a:latin typeface="Google Sans" pitchFamily="34" charset="0"/>
                <a:ea typeface="Google Sans" pitchFamily="34" charset="-122"/>
                <a:cs typeface="Google Sans" pitchFamily="34" charset="-120"/>
              </a:rPr>
              <a:t>Fio condutor · Peça 17: Plano de testes.</a:t>
            </a:r>
            <a:r>
              <a:rPr lang="en-US" sz="1000" dirty="0">
                <a:solidFill>
                  <a:srgbClr val="2C332E"/>
                </a:solidFill>
                <a:latin typeface="Google Sans" pitchFamily="34" charset="0"/>
                <a:ea typeface="Google Sans" pitchFamily="34" charset="-122"/>
                <a:cs typeface="Google Sans" pitchFamily="34" charset="-120"/>
              </a:rPr>
              <a:t> Usa o CAC máximo (Capítulo 4), o funil (Capítulo 6), a cauda (Capítulos 2 e 8) e o teto do negócio (Capítulo 16). </a:t>
            </a:r>
            <a:r>
              <a:rPr lang="en-US" sz="1000" b="1" dirty="0">
                <a:solidFill>
                  <a:srgbClr val="21703A"/>
                </a:solidFill>
                <a:latin typeface="Google Sans" pitchFamily="34" charset="0"/>
                <a:ea typeface="Google Sans" pitchFamily="34" charset="-122"/>
                <a:cs typeface="Google Sans" pitchFamily="34" charset="-120"/>
              </a:rPr>
              <a:t>No painel:</a:t>
            </a:r>
            <a:r>
              <a:rPr lang="en-US" sz="1000" dirty="0">
                <a:solidFill>
                  <a:srgbClr val="2C332E"/>
                </a:solidFill>
                <a:latin typeface="Google Sans" pitchFamily="34" charset="0"/>
                <a:ea typeface="Google Sans" pitchFamily="34" charset="-122"/>
                <a:cs typeface="Google Sans" pitchFamily="34" charset="-120"/>
              </a:rPr>
              <a:t> CAC do anúncio em % do CAC máximo. Aumentar muito o orçamento é uma decisão grande: passa-a pela Tríade da Confiança. </a:t>
            </a:r>
            <a:r>
              <a:rPr lang="en-US" sz="1000" b="1" dirty="0">
                <a:solidFill>
                  <a:srgbClr val="21703A"/>
                </a:solidFill>
                <a:latin typeface="Google Sans" pitchFamily="34" charset="0"/>
                <a:ea typeface="Google Sans" pitchFamily="34" charset="-122"/>
                <a:cs typeface="Google Sans" pitchFamily="34" charset="-120"/>
              </a:rPr>
              <a:t>Segue para o Capítulo 18:</a:t>
            </a:r>
            <a:r>
              <a:rPr lang="en-US" sz="1000" dirty="0">
                <a:solidFill>
                  <a:srgbClr val="2C332E"/>
                </a:solidFill>
                <a:latin typeface="Google Sans" pitchFamily="34" charset="0"/>
                <a:ea typeface="Google Sans" pitchFamily="34" charset="-122"/>
                <a:cs typeface="Google Sans" pitchFamily="34" charset="-120"/>
              </a:rPr>
              <a:t> tens todas as peças; falta pô-las a funcionar em ciclo.</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756000" y="792000"/>
            <a:ext cx="6047929" cy="2947690"/>
          </a:xfrm>
          <a:prstGeom prst="roundRect">
            <a:avLst>
              <a:gd name="adj" fmla="val 7445"/>
            </a:avLst>
          </a:prstGeom>
          <a:solidFill>
            <a:srgbClr val="EAF4E3"/>
          </a:solidFill>
          <a:ln/>
          <a:effectLst>
            <a:outerShdw sx="100000" sy="100000" kx="0" ky="0" algn="bl" rotWithShape="0" blurRad="177800" dist="63500" dir="5400000">
              <a:srgbClr val="1E461E">
                <a:alpha val="20000"/>
              </a:srgbClr>
            </a:outerShdw>
          </a:effectLst>
        </p:spPr>
      </p:sp>
      <p:sp>
        <p:nvSpPr>
          <p:cNvPr id="3" name="Text 1"/>
          <p:cNvSpPr/>
          <p:nvPr/>
        </p:nvSpPr>
        <p:spPr>
          <a:xfrm>
            <a:off x="1079999" y="1115999"/>
            <a:ext cx="790408" cy="246906"/>
          </a:xfrm>
          <a:prstGeom prst="roundRect">
            <a:avLst>
              <a:gd name="adj" fmla="val 50000"/>
            </a:avLst>
          </a:prstGeom>
          <a:solidFill>
            <a:srgbClr val="2E8540"/>
          </a:solidFill>
          <a:ln/>
        </p:spPr>
        <p:txBody>
          <a:bodyPr wrap="square" lIns="0" tIns="0" rIns="0" bIns="0" rtlCol="0" anchor="ctr"/>
          <a:lstStyle/>
          <a:p>
            <a:pPr algn="ctr" indent="0" marL="0">
              <a:buNone/>
            </a:pPr>
            <a:r>
              <a:rPr lang="en-US" sz="1070" b="1" dirty="0">
                <a:solidFill>
                  <a:srgbClr val="FFFFFF"/>
                </a:solidFill>
                <a:latin typeface="Google Sans" pitchFamily="34" charset="0"/>
                <a:ea typeface="Google Sans" pitchFamily="34" charset="-122"/>
                <a:cs typeface="Google Sans" pitchFamily="34" charset="-120"/>
              </a:rPr>
              <a:t>Parte 8</a:t>
            </a:r>
            <a:endParaRPr lang="en-US" sz="1070" dirty="0"/>
          </a:p>
        </p:txBody>
      </p:sp>
      <p:sp>
        <p:nvSpPr>
          <p:cNvPr id="4" name="Text 2"/>
          <p:cNvSpPr txBox="1"/>
          <p:nvPr/>
        </p:nvSpPr>
        <p:spPr>
          <a:xfrm>
            <a:off x="1079999" y="1434789"/>
            <a:ext cx="5491371" cy="381429"/>
          </a:xfrm>
          <a:prstGeom prst="rect">
            <a:avLst/>
          </a:prstGeom>
          <a:noFill/>
          <a:ln/>
        </p:spPr>
        <p:txBody>
          <a:bodyPr wrap="square" lIns="0" tIns="0" rIns="0" bIns="0" rtlCol="0" anchor="t"/>
          <a:lstStyle/>
          <a:p>
            <a:pPr algn="l" indent="0" marL="0">
              <a:lnSpc>
                <a:spcPts val="2860"/>
              </a:lnSpc>
              <a:buNone/>
            </a:pPr>
            <a:r>
              <a:rPr lang="en-US" sz="2520" dirty="0">
                <a:solidFill>
                  <a:srgbClr val="14181A"/>
                </a:solidFill>
                <a:latin typeface="Google Sans" pitchFamily="34" charset="0"/>
                <a:ea typeface="Google Sans" pitchFamily="34" charset="-122"/>
                <a:cs typeface="Google Sans" pitchFamily="34" charset="-120"/>
              </a:rPr>
              <a:t>Execução</a:t>
            </a:r>
            <a:endParaRPr lang="en-US" sz="2520" dirty="0"/>
          </a:p>
        </p:txBody>
      </p:sp>
      <p:sp>
        <p:nvSpPr>
          <p:cNvPr id="5" name="Shape 3"/>
          <p:cNvSpPr/>
          <p:nvPr/>
        </p:nvSpPr>
        <p:spPr>
          <a:xfrm>
            <a:off x="1079999" y="2893769"/>
            <a:ext cx="5399931" cy="0"/>
          </a:xfrm>
          <a:prstGeom prst="line">
            <a:avLst/>
          </a:prstGeom>
          <a:noFill/>
          <a:ln w="9525">
            <a:solidFill>
              <a:srgbClr val="CFE3C3"/>
            </a:solidFill>
            <a:prstDash val="solid"/>
          </a:ln>
        </p:spPr>
      </p:sp>
      <p:sp>
        <p:nvSpPr>
          <p:cNvPr id="6" name="Text 4"/>
          <p:cNvSpPr txBox="1"/>
          <p:nvPr/>
        </p:nvSpPr>
        <p:spPr>
          <a:xfrm>
            <a:off x="1079999" y="1977863"/>
            <a:ext cx="5436507" cy="1420249"/>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Saber o que fazer não é o mesmo que fazê-lo. A escala não acontece porque sabes o que fazer; acontece porque fazes o que sabes, todos os dias. Nesta parte juntas as ferramentas do livro num plano de 90 dias, com poucas prioridades, donos claros e uma revisão todas as semanas.</a:t>
            </a:r>
            <a:endParaRPr lang="en-US" sz="1000" dirty="0"/>
          </a:p>
          <a:p>
            <a:pPr algn="l" indent="0" marL="0">
              <a:lnSpc>
                <a:spcPts val="1380"/>
              </a:lnSpc>
              <a:spcBef>
                <a:spcPts val="1700"/>
              </a:spcBef>
              <a:buNone/>
            </a:pPr>
            <a:r>
              <a:rPr lang="en-US" sz="890" dirty="0">
                <a:solidFill>
                  <a:srgbClr val="21703A"/>
                </a:solidFill>
                <a:latin typeface="Google Sans" pitchFamily="34" charset="0"/>
                <a:ea typeface="Google Sans" pitchFamily="34" charset="-122"/>
                <a:cs typeface="Google Sans" pitchFamily="34" charset="-120"/>
              </a:rPr>
              <a:t>O motor de todos os níveis · Peça 18 · Recebes: as 17 peças anteriores · Entregas: o plano de 90 dias e um novo ciclo, um nível acima.</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756000" y="792000"/>
            <a:ext cx="6084505" cy="1627483"/>
          </a:xfrm>
          <a:prstGeom prst="rect">
            <a:avLst/>
          </a:prstGeom>
          <a:noFill/>
          <a:ln/>
        </p:spPr>
        <p:txBody>
          <a:bodyPr wrap="square" lIns="0" tIns="0" rIns="0" bIns="0" rtlCol="0" anchor="t"/>
          <a:lstStyle/>
          <a:p>
            <a:pPr algn="l" indent="0" marL="0">
              <a:lnSpc>
                <a:spcPts val="1365"/>
              </a:lnSpc>
              <a:buNone/>
            </a:pPr>
            <a:r>
              <a:rPr lang="en-US" sz="1020" b="1" dirty="0">
                <a:solidFill>
                  <a:srgbClr val="2F8A3C"/>
                </a:solidFill>
                <a:latin typeface="Google Sans" pitchFamily="34" charset="0"/>
                <a:ea typeface="Google Sans" pitchFamily="34" charset="-122"/>
                <a:cs typeface="Google Sans" pitchFamily="34" charset="-120"/>
              </a:rPr>
              <a:t>Capítulo 18</a:t>
            </a:r>
            <a:endParaRPr lang="en-US" sz="1020" dirty="0"/>
          </a:p>
          <a:p>
            <a:pPr algn="l" indent="0" marL="0">
              <a:lnSpc>
                <a:spcPts val="2320"/>
              </a:lnSpc>
              <a:spcBef>
                <a:spcPts val="424"/>
              </a:spcBef>
              <a:buNone/>
            </a:pPr>
            <a:r>
              <a:rPr lang="en-US" sz="1940" dirty="0">
                <a:solidFill>
                  <a:srgbClr val="14181A"/>
                </a:solidFill>
                <a:latin typeface="Google Sans" pitchFamily="34" charset="0"/>
                <a:ea typeface="Google Sans" pitchFamily="34" charset="-122"/>
                <a:cs typeface="Google Sans" pitchFamily="34" charset="-120"/>
              </a:rPr>
              <a:t>Aplicar o Método PERA num plano de 90 dias</a:t>
            </a:r>
            <a:endParaRPr lang="en-US" sz="102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Quando o Green Mask esgotou, a operação que gerava cerca de 35.000 MT por dia simplesmente parou. Foi nesse desafio que nasceu a nossa primeira grande alavanca: </a:t>
            </a:r>
            <a:r>
              <a:rPr lang="en-US" sz="1000" b="1" dirty="0">
                <a:solidFill>
                  <a:srgbClr val="14181A"/>
                </a:solidFill>
                <a:latin typeface="Google Sans" pitchFamily="34" charset="0"/>
                <a:ea typeface="Google Sans" pitchFamily="34" charset="-122"/>
                <a:cs typeface="Google Sans" pitchFamily="34" charset="-120"/>
              </a:rPr>
              <a:t>a velocidade</a:t>
            </a:r>
            <a:r>
              <a:rPr lang="en-US" sz="1000" dirty="0">
                <a:solidFill>
                  <a:srgbClr val="2C332E"/>
                </a:solidFill>
                <a:latin typeface="Google Sans" pitchFamily="34" charset="0"/>
                <a:ea typeface="Google Sans" pitchFamily="34" charset="-122"/>
                <a:cs typeface="Google Sans" pitchFamily="34" charset="-120"/>
              </a:rPr>
              <a:t>. Velocidade é a capacidade de tomar decisões rápidas e eficazes para manter ou superar resultados. Para a aplicar de forma estruturada, desenvolvemos o </a:t>
            </a:r>
            <a:r>
              <a:rPr lang="en-US" sz="1000" b="1" dirty="0">
                <a:solidFill>
                  <a:srgbClr val="14181A"/>
                </a:solidFill>
                <a:latin typeface="Google Sans" pitchFamily="34" charset="0"/>
                <a:ea typeface="Google Sans" pitchFamily="34" charset="-122"/>
                <a:cs typeface="Google Sans" pitchFamily="34" charset="-120"/>
              </a:rPr>
              <a:t>Método PERA</a:t>
            </a:r>
            <a:r>
              <a:rPr lang="en-US" sz="1000" dirty="0">
                <a:solidFill>
                  <a:srgbClr val="2C332E"/>
                </a:solidFill>
                <a:latin typeface="Google Sans" pitchFamily="34" charset="0"/>
                <a:ea typeface="Google Sans" pitchFamily="34" charset="-122"/>
                <a:cs typeface="Google Sans" pitchFamily="34" charset="-120"/>
              </a:rPr>
              <a:t>:</a:t>
            </a:r>
            <a:endParaRPr lang="en-US" sz="1020" dirty="0"/>
          </a:p>
        </p:txBody>
      </p:sp>
      <p:pic>
        <p:nvPicPr>
          <p:cNvPr id="3" name="Image 0" descr="Velocidade: o ciclo PERA repete-se todas as semanas">    </p:cNvPr>
          <p:cNvPicPr>
            <a:picLocks noChangeAspect="1"/>
          </p:cNvPicPr>
          <p:nvPr/>
        </p:nvPicPr>
        <p:blipFill>
          <a:blip r:embed="rId1"/>
          <a:stretch>
            <a:fillRect/>
          </a:stretch>
        </p:blipFill>
        <p:spPr>
          <a:xfrm>
            <a:off x="1042792" y="2644017"/>
            <a:ext cx="5474345" cy="4031903"/>
          </a:xfrm>
          <a:prstGeom prst="rect">
            <a:avLst/>
          </a:prstGeom>
        </p:spPr>
      </p:pic>
      <p:sp>
        <p:nvSpPr>
          <p:cNvPr id="4" name="Shape 1"/>
          <p:cNvSpPr/>
          <p:nvPr/>
        </p:nvSpPr>
        <p:spPr>
          <a:xfrm>
            <a:off x="756000" y="6801829"/>
            <a:ext cx="6047929" cy="0"/>
          </a:xfrm>
          <a:prstGeom prst="line">
            <a:avLst/>
          </a:prstGeom>
          <a:noFill/>
          <a:ln w="9525">
            <a:solidFill>
              <a:srgbClr val="E2E8DF"/>
            </a:solidFill>
            <a:prstDash val="solid"/>
          </a:ln>
        </p:spPr>
      </p:sp>
      <p:sp>
        <p:nvSpPr>
          <p:cNvPr id="5" name="Text 2"/>
          <p:cNvSpPr txBox="1"/>
          <p:nvPr/>
        </p:nvSpPr>
        <p:spPr>
          <a:xfrm>
            <a:off x="756000" y="6919254"/>
            <a:ext cx="6047929" cy="392740"/>
          </a:xfrm>
          <a:prstGeom prst="rect">
            <a:avLst/>
          </a:prstGeom>
          <a:noFill/>
          <a:ln/>
        </p:spPr>
        <p:txBody>
          <a:bodyPr wrap="square" lIns="0" tIns="0" rIns="0" bIns="0" rtlCol="0" anchor="t"/>
          <a:lstStyle/>
          <a:p>
            <a:pPr algn="l" indent="0" marL="0">
              <a:lnSpc>
                <a:spcPts val="1365"/>
              </a:lnSpc>
              <a:buNone/>
            </a:pPr>
            <a:r>
              <a:rPr lang="en-US" sz="1020" dirty="0">
                <a:solidFill>
                  <a:srgbClr val="14181A"/>
                </a:solidFill>
                <a:latin typeface="Google Sans" pitchFamily="34" charset="0"/>
                <a:ea typeface="Google Sans" pitchFamily="34" charset="-122"/>
                <a:cs typeface="Google Sans" pitchFamily="34" charset="-120"/>
              </a:rPr>
              <a:t>Velocidade: o ciclo PERA repete-se todas as semanas</a:t>
            </a:r>
            <a:endParaRPr lang="en-US" sz="1020" dirty="0"/>
          </a:p>
          <a:p>
            <a:pPr algn="l" indent="0" marL="0">
              <a:lnSpc>
                <a:spcPts val="1359"/>
              </a:lnSpc>
              <a:spcBef>
                <a:spcPts val="226"/>
              </a:spcBef>
              <a:buNone/>
            </a:pPr>
            <a:r>
              <a:rPr lang="en-US" sz="830" b="1" dirty="0">
                <a:solidFill>
                  <a:srgbClr val="2F8A3C"/>
                </a:solidFill>
                <a:latin typeface="Google Sans" pitchFamily="34" charset="0"/>
                <a:ea typeface="Google Sans" pitchFamily="34" charset="-122"/>
                <a:cs typeface="Google Sans" pitchFamily="34" charset="-120"/>
              </a:rPr>
              <a:t>Figura 24</a:t>
            </a:r>
            <a:r>
              <a:rPr lang="en-US" sz="830" dirty="0">
                <a:solidFill>
                  <a:srgbClr val="7E8780"/>
                </a:solidFill>
                <a:latin typeface="Google Sans" pitchFamily="34" charset="0"/>
                <a:ea typeface="Google Sans" pitchFamily="34" charset="-122"/>
                <a:cs typeface="Google Sans" pitchFamily="34" charset="-120"/>
              </a:rPr>
              <a:t> · O Método PERA: Planejar, Executar, Revisar, Ajustar</a:t>
            </a:r>
            <a:endParaRPr lang="en-US" sz="1020" dirty="0"/>
          </a:p>
        </p:txBody>
      </p:sp>
      <p:sp>
        <p:nvSpPr>
          <p:cNvPr id="6" name="Text 3"/>
          <p:cNvSpPr txBox="1"/>
          <p:nvPr/>
        </p:nvSpPr>
        <p:spPr>
          <a:xfrm>
            <a:off x="756000" y="7545671"/>
            <a:ext cx="6084505" cy="1830931"/>
          </a:xfrm>
          <a:prstGeom prst="rect">
            <a:avLst/>
          </a:prstGeom>
          <a:noFill/>
          <a:ln/>
        </p:spPr>
        <p:txBody>
          <a:bodyPr wrap="square" lIns="0" tIns="0" rIns="0" bIns="0" rtlCol="0" anchor="t"/>
          <a:lstStyle/>
          <a:p>
            <a:pPr algn="l" marL="215900" indent="-215900">
              <a:lnSpc>
                <a:spcPts val="1627"/>
              </a:lnSpc>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Planejar:</a:t>
            </a:r>
            <a:r>
              <a:rPr lang="en-US" sz="1000" dirty="0">
                <a:solidFill>
                  <a:srgbClr val="2C332E"/>
                </a:solidFill>
                <a:latin typeface="Google Sans" pitchFamily="34" charset="0"/>
                <a:ea typeface="Google Sans" pitchFamily="34" charset="-122"/>
                <a:cs typeface="Google Sans" pitchFamily="34" charset="-120"/>
              </a:rPr>
              <a:t> definir rapidamente o próximo passo ou acção. Planeámos substituir o Green Mask por outro produto.</a:t>
            </a:r>
            <a:endParaRPr lang="en-US" sz="100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Executar:</a:t>
            </a:r>
            <a:r>
              <a:rPr lang="en-US" sz="1000" dirty="0">
                <a:solidFill>
                  <a:srgbClr val="2C332E"/>
                </a:solidFill>
                <a:latin typeface="Google Sans" pitchFamily="34" charset="0"/>
                <a:ea typeface="Google Sans" pitchFamily="34" charset="-122"/>
                <a:cs typeface="Google Sans" pitchFamily="34" charset="-120"/>
              </a:rPr>
              <a:t> colocar o plano em prática sem atrasos. Identificámos o Pretty e lançámos as campanhas em pouco tempo.</a:t>
            </a:r>
            <a:endParaRPr lang="en-US" sz="1000" dirty="0"/>
          </a:p>
          <a:p>
            <a:pPr algn="l" marL="215900" indent="-215900">
              <a:lnSpc>
                <a:spcPts val="1627"/>
              </a:lnSpc>
              <a:spcBef>
                <a:spcPts val="396"/>
              </a:spcBef>
              <a:buSzPct val="100000"/>
              <a:buFont typeface="+mj-lt"/>
              <a:buAutoNum type="arabicPeriod" startAt="3"/>
            </a:pPr>
            <a:r>
              <a:rPr lang="en-US" sz="1000" b="1" dirty="0">
                <a:solidFill>
                  <a:srgbClr val="14181A"/>
                </a:solidFill>
                <a:latin typeface="Google Sans" pitchFamily="34" charset="0"/>
                <a:ea typeface="Google Sans" pitchFamily="34" charset="-122"/>
                <a:cs typeface="Google Sans" pitchFamily="34" charset="-120"/>
              </a:rPr>
              <a:t>Revisar:</a:t>
            </a:r>
            <a:r>
              <a:rPr lang="en-US" sz="1000" dirty="0">
                <a:solidFill>
                  <a:srgbClr val="2C332E"/>
                </a:solidFill>
                <a:latin typeface="Google Sans" pitchFamily="34" charset="0"/>
                <a:ea typeface="Google Sans" pitchFamily="34" charset="-122"/>
                <a:cs typeface="Google Sans" pitchFamily="34" charset="-120"/>
              </a:rPr>
              <a:t> analisar os resultados de forma objectiva. O Pretty fazia 6.000 a 8.000 MT por dia, muito abaixo dos 30.000 MT a que estávamos habituados.</a:t>
            </a:r>
            <a:endParaRPr lang="en-US" sz="1000" dirty="0"/>
          </a:p>
          <a:p>
            <a:pPr algn="l" marL="215900" indent="-215900">
              <a:lnSpc>
                <a:spcPts val="1627"/>
              </a:lnSpc>
              <a:spcBef>
                <a:spcPts val="396"/>
              </a:spcBef>
              <a:buSzPct val="100000"/>
              <a:buFont typeface="+mj-lt"/>
              <a:buAutoNum type="arabicPeriod" startAt="4"/>
            </a:pPr>
            <a:r>
              <a:rPr lang="en-US" sz="1000" b="1" dirty="0">
                <a:solidFill>
                  <a:srgbClr val="14181A"/>
                </a:solidFill>
                <a:latin typeface="Google Sans" pitchFamily="34" charset="0"/>
                <a:ea typeface="Google Sans" pitchFamily="34" charset="-122"/>
                <a:cs typeface="Google Sans" pitchFamily="34" charset="-120"/>
              </a:rPr>
              <a:t>Ajustar:</a:t>
            </a:r>
            <a:r>
              <a:rPr lang="en-US" sz="1000" dirty="0">
                <a:solidFill>
                  <a:srgbClr val="2C332E"/>
                </a:solidFill>
                <a:latin typeface="Google Sans" pitchFamily="34" charset="0"/>
                <a:ea typeface="Google Sans" pitchFamily="34" charset="-122"/>
                <a:cs typeface="Google Sans" pitchFamily="34" charset="-120"/>
              </a:rPr>
              <a:t> corrigir ou optimizar a estratégia. O ajuste foi mental: em vez de procurar outro produto milagroso, multiplicámos produtos. Assim nasceu a Cauda Longa.</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756000" y="792000"/>
            <a:ext cx="6084505" cy="1910405"/>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Lembras-te do Capítulo 2? Foi este ciclo, ainda sem nome, que nos levou da crise do Green Mask à Cauda Longa. E é ele que, a partir de agora, faz girar todas as peças do teu Mapa de Escala: cada prioridade do plano de 90 dias é uma peça a construir ou a reforçar, num ciclo PERA por semana.</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 PERA tornou-se o ritmo da empresa. Num plano de 90 dias, repete o ciclo todas as semanas: noventa dias são tempo suficiente para ver resultados e curtos o bastante para manter a urgência.</a:t>
            </a:r>
            <a:endParaRPr lang="en-US" sz="100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Ferramenta — Plano de 90 dias.</a:t>
            </a:r>
            <a:r>
              <a:rPr lang="en-US" sz="1000" dirty="0">
                <a:solidFill>
                  <a:srgbClr val="2C332E"/>
                </a:solidFill>
                <a:latin typeface="Google Sans" pitchFamily="34" charset="0"/>
                <a:ea typeface="Google Sans" pitchFamily="34" charset="-122"/>
                <a:cs typeface="Google Sans" pitchFamily="34" charset="-120"/>
              </a:rPr>
              <a:t> Escolhe no máximo três prioridades, a partir do diagnóstico do Capítulo 1: o teu gargalo e as peças do Mapa de Escala que ainda estão fracas. Mais do que três significa nenhuma.</a:t>
            </a:r>
            <a:endParaRPr lang="en-US" sz="10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756000" y="2799691"/>
          <a:ext cx="6047929" cy="914400"/>
        </p:xfrm>
        <a:graphic>
          <a:graphicData uri="http://schemas.openxmlformats.org/drawingml/2006/table">
            <a:tbl>
              <a:tblPr/>
              <a:tblGrid>
                <a:gridCol w="838944"/>
                <a:gridCol w="1956346"/>
                <a:gridCol w="789533"/>
                <a:gridCol w="965895"/>
                <a:gridCol w="561082"/>
                <a:gridCol w="917079"/>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Prioridade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Resultado esperado no dia 90</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Indicador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Responsável</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Prazo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Estado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Não iniciado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Não iniciado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Não iniciado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4248533"/>
            <a:ext cx="6084505" cy="5526631"/>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Ferramenta — Revisão semanal PERA (30 a 60 minutos).</a:t>
            </a:r>
            <a:endParaRPr lang="en-US" sz="1000" dirty="0"/>
          </a:p>
          <a:p>
            <a:pPr algn="l" marL="215900" indent="-215900">
              <a:lnSpc>
                <a:spcPts val="1627"/>
              </a:lnSpc>
              <a:spcBef>
                <a:spcPts val="907"/>
              </a:spcBef>
              <a:buSzPct val="100000"/>
              <a:buFont typeface="+mj-lt"/>
              <a:buAutoNum type="arabicPeriod" startAt="1"/>
            </a:pPr>
            <a:r>
              <a:rPr lang="en-US" sz="1000" b="1" dirty="0">
                <a:solidFill>
                  <a:srgbClr val="14181A"/>
                </a:solidFill>
                <a:latin typeface="Google Sans" pitchFamily="34" charset="0"/>
                <a:ea typeface="Google Sans" pitchFamily="34" charset="-122"/>
                <a:cs typeface="Google Sans" pitchFamily="34" charset="-120"/>
              </a:rPr>
              <a:t>Revisar o painel:</a:t>
            </a:r>
            <a:r>
              <a:rPr lang="en-US" sz="1000" dirty="0">
                <a:solidFill>
                  <a:srgbClr val="2C332E"/>
                </a:solidFill>
                <a:latin typeface="Google Sans" pitchFamily="34" charset="0"/>
                <a:ea typeface="Google Sans" pitchFamily="34" charset="-122"/>
                <a:cs typeface="Google Sans" pitchFamily="34" charset="-120"/>
              </a:rPr>
              <a:t> o painel completo contra a meta.</a:t>
            </a:r>
            <a:endParaRPr lang="en-US" sz="1000" dirty="0"/>
          </a:p>
          <a:p>
            <a:pPr algn="l" marL="215900" indent="-215900">
              <a:lnSpc>
                <a:spcPts val="1627"/>
              </a:lnSpc>
              <a:spcBef>
                <a:spcPts val="396"/>
              </a:spcBef>
              <a:buSzPct val="100000"/>
              <a:buFont typeface="+mj-lt"/>
              <a:buAutoNum type="arabicPeriod" startAt="2"/>
            </a:pPr>
            <a:r>
              <a:rPr lang="en-US" sz="1000" b="1" dirty="0">
                <a:solidFill>
                  <a:srgbClr val="14181A"/>
                </a:solidFill>
                <a:latin typeface="Google Sans" pitchFamily="34" charset="0"/>
                <a:ea typeface="Google Sans" pitchFamily="34" charset="-122"/>
                <a:cs typeface="Google Sans" pitchFamily="34" charset="-120"/>
              </a:rPr>
              <a:t>Revisar cada prioridade:</a:t>
            </a:r>
            <a:r>
              <a:rPr lang="en-US" sz="1000" dirty="0">
                <a:solidFill>
                  <a:srgbClr val="2C332E"/>
                </a:solidFill>
                <a:latin typeface="Google Sans" pitchFamily="34" charset="0"/>
                <a:ea typeface="Google Sans" pitchFamily="34" charset="-122"/>
                <a:cs typeface="Google Sans" pitchFamily="34" charset="-120"/>
              </a:rPr>
              <a:t> o que foi feito, o que ficou por fazer e porquê.</a:t>
            </a:r>
            <a:endParaRPr lang="en-US" sz="1000" dirty="0"/>
          </a:p>
          <a:p>
            <a:pPr algn="l" marL="215900" indent="-215900">
              <a:lnSpc>
                <a:spcPts val="1627"/>
              </a:lnSpc>
              <a:spcBef>
                <a:spcPts val="396"/>
              </a:spcBef>
              <a:buSzPct val="100000"/>
              <a:buFont typeface="+mj-lt"/>
              <a:buAutoNum type="arabicPeriod" startAt="3"/>
            </a:pPr>
            <a:r>
              <a:rPr lang="en-US" sz="1000" b="1" dirty="0">
                <a:solidFill>
                  <a:srgbClr val="14181A"/>
                </a:solidFill>
                <a:latin typeface="Google Sans" pitchFamily="34" charset="0"/>
                <a:ea typeface="Google Sans" pitchFamily="34" charset="-122"/>
                <a:cs typeface="Google Sans" pitchFamily="34" charset="-120"/>
              </a:rPr>
              <a:t>Ajustar:</a:t>
            </a:r>
            <a:r>
              <a:rPr lang="en-US" sz="1000" dirty="0">
                <a:solidFill>
                  <a:srgbClr val="2C332E"/>
                </a:solidFill>
                <a:latin typeface="Google Sans" pitchFamily="34" charset="0"/>
                <a:ea typeface="Google Sans" pitchFamily="34" charset="-122"/>
                <a:cs typeface="Google Sans" pitchFamily="34" charset="-120"/>
              </a:rPr>
              <a:t> o que muda na próxima semana, e o que se pára.</a:t>
            </a:r>
            <a:endParaRPr lang="en-US" sz="1000" dirty="0"/>
          </a:p>
          <a:p>
            <a:pPr algn="l" marL="215900" indent="-215900">
              <a:lnSpc>
                <a:spcPts val="1627"/>
              </a:lnSpc>
              <a:spcBef>
                <a:spcPts val="396"/>
              </a:spcBef>
              <a:buSzPct val="100000"/>
              <a:buFont typeface="+mj-lt"/>
              <a:buAutoNum type="arabicPeriod" startAt="4"/>
            </a:pPr>
            <a:r>
              <a:rPr lang="en-US" sz="1000" b="1" dirty="0">
                <a:solidFill>
                  <a:srgbClr val="14181A"/>
                </a:solidFill>
                <a:latin typeface="Google Sans" pitchFamily="34" charset="0"/>
                <a:ea typeface="Google Sans" pitchFamily="34" charset="-122"/>
                <a:cs typeface="Google Sans" pitchFamily="34" charset="-120"/>
              </a:rPr>
              <a:t>Planejar:</a:t>
            </a:r>
            <a:r>
              <a:rPr lang="en-US" sz="1000" dirty="0">
                <a:solidFill>
                  <a:srgbClr val="2C332E"/>
                </a:solidFill>
                <a:latin typeface="Google Sans" pitchFamily="34" charset="0"/>
                <a:ea typeface="Google Sans" pitchFamily="34" charset="-122"/>
                <a:cs typeface="Google Sans" pitchFamily="34" charset="-120"/>
              </a:rPr>
              <a:t> as acções da semana, com responsável e prazo.</a:t>
            </a:r>
            <a:endParaRPr lang="en-US" sz="1000" dirty="0"/>
          </a:p>
          <a:p>
            <a:pPr algn="l" marL="215900" indent="-215900">
              <a:lnSpc>
                <a:spcPts val="1627"/>
              </a:lnSpc>
              <a:spcBef>
                <a:spcPts val="396"/>
              </a:spcBef>
              <a:buSzPct val="100000"/>
              <a:buFont typeface="+mj-lt"/>
              <a:buAutoNum type="arabicPeriod" startAt="5"/>
            </a:pPr>
            <a:r>
              <a:rPr lang="en-US" sz="1000" b="1" dirty="0">
                <a:solidFill>
                  <a:srgbClr val="14181A"/>
                </a:solidFill>
                <a:latin typeface="Google Sans" pitchFamily="34" charset="0"/>
                <a:ea typeface="Google Sans" pitchFamily="34" charset="-122"/>
                <a:cs typeface="Google Sans" pitchFamily="34" charset="-120"/>
              </a:rPr>
              <a:t>Executar:</a:t>
            </a:r>
            <a:r>
              <a:rPr lang="en-US" sz="1000" dirty="0">
                <a:solidFill>
                  <a:srgbClr val="2C332E"/>
                </a:solidFill>
                <a:latin typeface="Google Sans" pitchFamily="34" charset="0"/>
                <a:ea typeface="Google Sans" pitchFamily="34" charset="-122"/>
                <a:cs typeface="Google Sans" pitchFamily="34" charset="-120"/>
              </a:rPr>
              <a:t> cada pessoa sai com as suas tarefas. Na segunda seguinte, o ciclo recomeça.</a:t>
            </a:r>
            <a:endParaRPr lang="en-US" sz="1000" dirty="0"/>
          </a:p>
          <a:p>
            <a:pPr algn="l" indent="0" marL="0">
              <a:lnSpc>
                <a:spcPts val="1627"/>
              </a:lnSpc>
              <a:spcBef>
                <a:spcPts val="991"/>
              </a:spcBef>
              <a:buNone/>
            </a:pPr>
            <a:r>
              <a:rPr lang="en-US" sz="1000" b="1" dirty="0">
                <a:solidFill>
                  <a:srgbClr val="14181A"/>
                </a:solidFill>
                <a:latin typeface="Google Sans" pitchFamily="34" charset="0"/>
                <a:ea typeface="Google Sans" pitchFamily="34" charset="-122"/>
                <a:cs typeface="Google Sans" pitchFamily="34" charset="-120"/>
              </a:rPr>
              <a:t>O teu Mapa de Escala completo.</a:t>
            </a:r>
            <a:r>
              <a:rPr lang="en-US" sz="1000" dirty="0">
                <a:solidFill>
                  <a:srgbClr val="2C332E"/>
                </a:solidFill>
                <a:latin typeface="Google Sans" pitchFamily="34" charset="0"/>
                <a:ea typeface="Google Sans" pitchFamily="34" charset="-122"/>
                <a:cs typeface="Google Sans" pitchFamily="34" charset="-120"/>
              </a:rPr>
              <a:t> Antes do primeiro ciclo, confirma que tens as 18 peças. As que faltarem são candidatas às tuas três prioridades.</a:t>
            </a:r>
            <a:endParaRPr lang="en-US" sz="1000" dirty="0"/>
          </a:p>
          <a:p>
            <a:pPr algn="l" marL="190500" indent="-190500">
              <a:lnSpc>
                <a:spcPts val="1627"/>
              </a:lnSpc>
              <a:spcBef>
                <a:spcPts val="907"/>
              </a:spcBef>
              <a:buSzPct val="100000"/>
              <a:buChar char="□"/>
            </a:pPr>
            <a:r>
              <a:rPr lang="en-US" sz="1000" dirty="0">
                <a:solidFill>
                  <a:srgbClr val="2C332E"/>
                </a:solidFill>
                <a:latin typeface="Google Sans" pitchFamily="34" charset="0"/>
                <a:ea typeface="Google Sans" pitchFamily="34" charset="-122"/>
                <a:cs typeface="Google Sans" pitchFamily="34" charset="-120"/>
              </a:rPr>
              <a:t>1. Diagnóstico: nível e gargalo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2. Portfólio cabeça e cauda</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3. Oferta 10X e OUV</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4. Ficha de preço e CAC máximo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5. Painel semanal e previsão de caixa</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6. Funil do Processo de Vendas Directo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7. Guião comercial</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8. Estrutura de Cauda Longa e pós-venda</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9. Fluxo operacional e capacidade</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10. Processos de uma página</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11. Plano de delegação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12. Ficha de função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13. Avaliação Performance × Cultura</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756000" y="792000"/>
            <a:ext cx="6084505" cy="1800570"/>
          </a:xfrm>
          <a:prstGeom prst="rect">
            <a:avLst/>
          </a:prstGeom>
          <a:noFill/>
          <a:ln/>
        </p:spPr>
        <p:txBody>
          <a:bodyPr wrap="square" lIns="0" tIns="0" rIns="0" bIns="0" rtlCol="0" anchor="t"/>
          <a:lstStyle/>
          <a:p>
            <a:pPr algn="l" marL="190500" indent="-190500">
              <a:lnSpc>
                <a:spcPts val="1627"/>
              </a:lnSpc>
              <a:buSzPct val="100000"/>
              <a:buChar char="□"/>
            </a:pPr>
            <a:r>
              <a:rPr lang="en-US" sz="1000" dirty="0">
                <a:solidFill>
                  <a:srgbClr val="2C332E"/>
                </a:solidFill>
                <a:latin typeface="Google Sans" pitchFamily="34" charset="0"/>
                <a:ea typeface="Google Sans" pitchFamily="34" charset="-122"/>
                <a:cs typeface="Google Sans" pitchFamily="34" charset="-120"/>
              </a:rPr>
              <a:t>14. Agendas de reunião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15. Calendário comercial</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16. Quadro dos limites do negócio</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17. Plano de testes de anúncios</a:t>
            </a:r>
            <a:endParaRPr lang="en-US" sz="1000" dirty="0"/>
          </a:p>
          <a:p>
            <a:pPr algn="l" marL="190500" indent="-190500">
              <a:lnSpc>
                <a:spcPts val="1627"/>
              </a:lnSpc>
              <a:spcBef>
                <a:spcPts val="396"/>
              </a:spcBef>
              <a:buSzPct val="100000"/>
              <a:buChar char="□"/>
            </a:pPr>
            <a:r>
              <a:rPr lang="en-US" sz="1000" dirty="0">
                <a:solidFill>
                  <a:srgbClr val="2C332E"/>
                </a:solidFill>
                <a:latin typeface="Google Sans" pitchFamily="34" charset="0"/>
                <a:ea typeface="Google Sans" pitchFamily="34" charset="-122"/>
                <a:cs typeface="Google Sans" pitchFamily="34" charset="-120"/>
              </a:rPr>
              <a:t>18. Plano de 90 dias PERA</a:t>
            </a:r>
            <a:endParaRPr lang="en-US" sz="1000" dirty="0"/>
          </a:p>
          <a:p>
            <a:pPr algn="l" indent="0" marL="0">
              <a:lnSpc>
                <a:spcPts val="1627"/>
              </a:lnSpc>
              <a:spcBef>
                <a:spcPts val="991"/>
              </a:spcBef>
              <a:buNone/>
            </a:pPr>
            <a:r>
              <a:rPr lang="en-US" sz="1000" b="1" dirty="0">
                <a:solidFill>
                  <a:srgbClr val="14181A"/>
                </a:solidFill>
                <a:latin typeface="Google Sans" pitchFamily="34" charset="0"/>
                <a:ea typeface="Google Sans" pitchFamily="34" charset="-122"/>
                <a:cs typeface="Google Sans" pitchFamily="34" charset="-120"/>
              </a:rPr>
              <a:t>O painel completo.</a:t>
            </a:r>
            <a:r>
              <a:rPr lang="en-US" sz="1000" dirty="0">
                <a:solidFill>
                  <a:srgbClr val="2C332E"/>
                </a:solidFill>
                <a:latin typeface="Google Sans" pitchFamily="34" charset="0"/>
                <a:ea typeface="Google Sans" pitchFamily="34" charset="-122"/>
                <a:cs typeface="Google Sans" pitchFamily="34" charset="-120"/>
              </a:rPr>
              <a:t> É este o painel que revisas todas as segundas-feiras. Cada linha entrou num capítulo diferente:</a:t>
            </a:r>
            <a:endParaRPr lang="en-US" sz="10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756000" y="2689856"/>
          <a:ext cx="6047929" cy="914400"/>
        </p:xfrm>
        <a:graphic>
          <a:graphicData uri="http://schemas.openxmlformats.org/drawingml/2006/table">
            <a:tbl>
              <a:tblPr/>
              <a:tblGrid>
                <a:gridCol w="4634508"/>
                <a:gridCol w="1394371"/>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Métrica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Entrou no painel no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Faturação, n.º de vendas, ticket médio, lucro bruto, CAC e dinheiro disponível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5</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Conversas novas no WhatsApp e taxa de conversão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6</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Taxa de fecho por atendente</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Vendas complementares por dia e CAC real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Entregas por dia e entregas no prazo (%)</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9</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Tempo médio de resposta no WhatsApp</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10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Horas por semana do dono no operacional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11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Metas individuais cumpridas (%)</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13</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CAC do anúncio em % do CAC máximo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Capítulo 17</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4" name="Text 1"/>
          <p:cNvSpPr txBox="1"/>
          <p:nvPr/>
        </p:nvSpPr>
        <p:spPr>
          <a:xfrm>
            <a:off x="756000" y="6092216"/>
            <a:ext cx="6084505" cy="761006"/>
          </a:xfrm>
          <a:prstGeom prst="rect">
            <a:avLst/>
          </a:prstGeom>
          <a:noFill/>
          <a:ln/>
        </p:spPr>
        <p:txBody>
          <a:bodyPr wrap="square" lIns="0" tIns="0" rIns="0" bIns="0" rtlCol="0" anchor="t"/>
          <a:lstStyle/>
          <a:p>
            <a:pPr algn="l" indent="0" marL="0">
              <a:lnSpc>
                <a:spcPts val="1817"/>
              </a:lnSpc>
              <a:buNone/>
            </a:pPr>
            <a:r>
              <a:rPr lang="en-US" sz="1120" b="1" dirty="0">
                <a:solidFill>
                  <a:srgbClr val="21703A"/>
                </a:solidFill>
                <a:latin typeface="Google Sans" pitchFamily="34" charset="0"/>
                <a:ea typeface="Google Sans" pitchFamily="34" charset="-122"/>
                <a:cs typeface="Google Sans" pitchFamily="34" charset="-120"/>
              </a:rPr>
              <a:t>Na prática: os 90 dias da Yara</a:t>
            </a:r>
            <a:endParaRPr lang="en-US" sz="1120" dirty="0"/>
          </a:p>
          <a:p>
            <a:pPr algn="l" indent="0" marL="0">
              <a:lnSpc>
                <a:spcPts val="1627"/>
              </a:lnSpc>
              <a:spcBef>
                <a:spcPts val="708"/>
              </a:spcBef>
              <a:buNone/>
            </a:pPr>
            <a:r>
              <a:rPr lang="en-US" sz="1000" dirty="0">
                <a:solidFill>
                  <a:srgbClr val="2C332E"/>
                </a:solidFill>
                <a:latin typeface="Google Sans" pitchFamily="34" charset="0"/>
                <a:ea typeface="Google Sans" pitchFamily="34" charset="-122"/>
                <a:cs typeface="Google Sans" pitchFamily="34" charset="-120"/>
              </a:rPr>
              <a:t>O diagnóstico do Capítulo 1 deu à Yara um gargalo claro: dinheiro. O quadro dos limites mostrou um segundo problema: o tempo dela. Escolheu três prioridades:</a:t>
            </a:r>
            <a:endParaRPr lang="en-US" sz="1120" dirty="0"/>
          </a:p>
        </p:txBody>
      </p:sp>
      <p:graphicFrame>
        <p:nvGraphicFramePr>
          <p:cNvPr id="165" name="Table 1"/>
          <p:cNvGraphicFramePr>
            <a:graphicFrameLocks noGrp="1"/>
          </p:cNvGraphicFramePr>
          <p:nvPr>
            <p:extLst>
              <p:ext uri="{D42A27DB-BD31-4B8C-83A1-F6EECF244321}">
                <p14:modId xmlns:p14="http://schemas.microsoft.com/office/powerpoint/2010/main" val="1579011935"/>
              </p:ext>
            </p:extLst>
          </p:nvPr>
        </p:nvGraphicFramePr>
        <p:xfrm>
          <a:off x="756000" y="6950508"/>
          <a:ext cx="6047929" cy="914400"/>
        </p:xfrm>
        <a:graphic>
          <a:graphicData uri="http://schemas.openxmlformats.org/drawingml/2006/table">
            <a:tbl>
              <a:tblPr/>
              <a:tblGrid>
                <a:gridCol w="1535311"/>
                <a:gridCol w="491728"/>
                <a:gridCol w="2103834"/>
                <a:gridCol w="1231553"/>
                <a:gridCol w="666452"/>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Prioridade</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Peça</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Resultado no dia 90</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Indicador</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Prazo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 Novo preço em todos os bolos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Pelo menos 700 MT de lucro bruto por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Lucro por bolo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Semana 2</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473869">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2. Encomendas com sinal e antecedência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9 e 10</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Todas as encomendas com 50% de sinal e 3 dias de antecedência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 de encomendas com sinal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Semana 4</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464344">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3. Deixar de fazer entregas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11</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Entregas feitas por um motoqueiro pago por entrega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Horas da Yara por semana</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Semana 8</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756000" y="792000"/>
            <a:ext cx="6084505" cy="234005"/>
          </a:xfrm>
          <a:prstGeom prst="rect">
            <a:avLst/>
          </a:prstGeom>
          <a:noFill/>
          <a:ln/>
        </p:spPr>
        <p:txBody>
          <a:bodyPr wrap="square" lIns="0" tIns="0" rIns="0" bIns="0" rtlCol="0" anchor="t"/>
          <a:lstStyle/>
          <a:p>
            <a:pPr algn="l" indent="0" marL="0">
              <a:lnSpc>
                <a:spcPts val="1627"/>
              </a:lnSpc>
              <a:buNone/>
            </a:pPr>
            <a:r>
              <a:rPr lang="en-US" sz="1000" b="1" dirty="0">
                <a:solidFill>
                  <a:srgbClr val="14181A"/>
                </a:solidFill>
                <a:latin typeface="Google Sans" pitchFamily="34" charset="0"/>
                <a:ea typeface="Google Sans" pitchFamily="34" charset="-122"/>
                <a:cs typeface="Google Sans" pitchFamily="34" charset="-120"/>
              </a:rPr>
              <a:t>Um ciclo PERA, na semana 3:</a:t>
            </a:r>
            <a:endParaRPr lang="en-US" sz="10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756000" y="1123291"/>
          <a:ext cx="6047929" cy="914400"/>
        </p:xfrm>
        <a:graphic>
          <a:graphicData uri="http://schemas.openxmlformats.org/drawingml/2006/table">
            <a:tbl>
              <a:tblPr/>
              <a:tblGrid>
                <a:gridCol w="760512"/>
                <a:gridCol w="5268367"/>
              </a:tblGrid>
              <a:tr h="328166">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Passo</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c>
                  <a:txBody>
                    <a:bodyPr/>
                    <a:lstStyle/>
                    <a:p>
                      <a:pPr algn="l" indent="0" marL="0">
                        <a:lnSpc>
                          <a:spcPts val="1264"/>
                        </a:lnSpc>
                        <a:buNone/>
                      </a:pPr>
                      <a:r>
                        <a:rPr lang="en-US" sz="860" b="1" dirty="0">
                          <a:solidFill>
                            <a:srgbClr val="14181A"/>
                          </a:solidFill>
                          <a:latin typeface="Google Sans" pitchFamily="34" charset="0"/>
                          <a:ea typeface="Google Sans" pitchFamily="34" charset="-122"/>
                          <a:cs typeface="Google Sans" pitchFamily="34" charset="-120"/>
                        </a:rPr>
                        <a:t>O que a Yara fez</a:t>
                      </a:r>
                      <a:endParaRPr lang="en-US" sz="1200" dirty="0">
                        <a:latin typeface="Google Sans" charset="0"/>
                        <a:ea typeface="Google Sans" charset="0"/>
                        <a:cs typeface="Google Sans" charset="0"/>
                      </a:endParaRPr>
                    </a:p>
                  </a:txBody>
                  <a:tcPr marL="64800" marR="64800" marT="79200" marB="79200" anchor="t">
                    <a:lnL w="0" cap="flat" cmpd="sng" algn="ctr">
                      <a:noFill/>
                    </a:lnL>
                    <a:lnR w="0" cap="flat" cmpd="sng" algn="ctr">
                      <a:noFill/>
                    </a:lnR>
                    <a:lnT w="0" cap="flat" cmpd="sng" algn="ctr">
                      <a:noFill/>
                    </a:lnT>
                    <a:lnB w="9525" cap="flat" cmpd="sng" algn="ctr">
                      <a:solidFill>
                        <a:srgbClr val="D3E6C8"/>
                      </a:solidFill>
                      <a:prstDash val="solid"/>
                      <a:round/>
                      <a:headEnd type="none" w="med" len="med"/>
                      <a:tailEnd type="none" w="med" len="med"/>
                    </a:lnB>
                    <a:solidFill>
                      <a:srgbClr val="EEF5EA"/>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Planejar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Enviar o novo catálogo com preços às listas e pedir sinal em todas as encomendas</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Executar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Duas publicações, uma mensagem às listas e uma resposta rápida para explicar o sinal</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solidFill>
                      <a:srgbClr val="FAFCF9"/>
                    </a:solidFill>
                  </a:tcPr>
                </a:tc>
              </a:tr>
              <a:tr h="313581">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Revisar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4 encomendas, 3 com sinal; uma cliente achou o bolo caro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9525" cap="flat" cmpd="sng" algn="ctr">
                      <a:solidFill>
                        <a:srgbClr val="EEF1EC"/>
                      </a:solidFill>
                      <a:prstDash val="solid"/>
                      <a:round/>
                      <a:headEnd type="none" w="med" len="med"/>
                      <a:tailEnd type="none" w="med" len="med"/>
                    </a:lnB>
                  </a:tcPr>
                </a:tc>
              </a:tr>
              <a:tr h="304056">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Ajustar</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c>
                  <a:txBody>
                    <a:bodyPr/>
                    <a:lstStyle/>
                    <a:p>
                      <a:pPr algn="l" indent="0" marL="0">
                        <a:lnSpc>
                          <a:spcPts val="1264"/>
                        </a:lnSpc>
                        <a:buNone/>
                      </a:pPr>
                      <a:r>
                        <a:rPr lang="en-US" sz="860" dirty="0">
                          <a:solidFill>
                            <a:srgbClr val="2C332E"/>
                          </a:solidFill>
                          <a:latin typeface="Google Sans" pitchFamily="34" charset="0"/>
                          <a:ea typeface="Google Sans" pitchFamily="34" charset="-122"/>
                          <a:cs typeface="Google Sans" pitchFamily="34" charset="-120"/>
                        </a:rPr>
                        <a:t>Criou um bolo mais pequeno, a 1.400 MT, para quem acha o preço alto</a:t>
                      </a:r>
                      <a:endParaRPr lang="en-US" sz="1200" dirty="0">
                        <a:latin typeface="Google Sans" charset="0"/>
                        <a:ea typeface="Google Sans" charset="0"/>
                        <a:cs typeface="Google Sans" charset="0"/>
                      </a:endParaRPr>
                    </a:p>
                  </a:txBody>
                  <a:tcPr marL="64800" marR="64800" marT="72000" marB="72000" anchor="t">
                    <a:lnL w="0" cap="flat" cmpd="sng" algn="ctr">
                      <a:noFill/>
                    </a:lnL>
                    <a:lnR w="0" cap="flat" cmpd="sng" algn="ctr">
                      <a:noFill/>
                    </a:lnR>
                    <a:lnT w="0" cap="flat" cmpd="sng" algn="ctr">
                      <a:noFill/>
                    </a:lnT>
                    <a:lnB w="0" cap="flat" cmpd="sng" algn="ctr">
                      <a:noFill/>
                    </a:lnB>
                    <a:solidFill>
                      <a:srgbClr val="FAFCF9"/>
                    </a:solidFill>
                  </a:tcPr>
                </a:tc>
              </a:tr>
            </a:tbl>
          </a:graphicData>
        </a:graphic>
      </p:graphicFrame>
      <p:sp>
        <p:nvSpPr>
          <p:cNvPr id="4" name="Text 1"/>
          <p:cNvSpPr txBox="1"/>
          <p:nvPr/>
        </p:nvSpPr>
        <p:spPr>
          <a:xfrm>
            <a:off x="756000" y="2885714"/>
            <a:ext cx="6084505" cy="1175492"/>
          </a:xfrm>
          <a:prstGeom prst="rect">
            <a:avLst/>
          </a:prstGeom>
          <a:noFill/>
          <a:ln/>
        </p:spPr>
        <p:txBody>
          <a:bodyPr wrap="square" lIns="0" tIns="0" rIns="0" bIns="0" rtlCol="0" anchor="t"/>
          <a:lstStyle/>
          <a:p>
            <a:pPr algn="l" indent="0" marL="0">
              <a:lnSpc>
                <a:spcPts val="1627"/>
              </a:lnSpc>
              <a:buNone/>
            </a:pPr>
            <a:r>
              <a:rPr lang="en-US" sz="1000" dirty="0">
                <a:solidFill>
                  <a:srgbClr val="2C332E"/>
                </a:solidFill>
                <a:latin typeface="Google Sans" pitchFamily="34" charset="0"/>
                <a:ea typeface="Google Sans" pitchFamily="34" charset="-122"/>
                <a:cs typeface="Google Sans" pitchFamily="34" charset="-120"/>
              </a:rPr>
              <a:t>No dia 90, refez o diagnóstico: o dinheiro passou de 2 para 4 e o tempo dela deixou de ser o teto. O novo gargalo são as vendas — e a Yara volta ao Capítulo 6 para o próximo ciclo.</a:t>
            </a:r>
            <a:endParaRPr lang="en-US" sz="100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No dia 90, refaz o diagnóstico do Capítulo 1. O gargalo terá mudado de lugar — e isso é o sinal de que o negócio cresceu. Provavelmente, terás também subido um nível. Começa um novo ciclo: o teu Mapa de Escala nunca fica acabado — fica cada vez mais forte.</a:t>
            </a:r>
            <a:endParaRPr lang="en-US" sz="100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756000" y="792000"/>
            <a:ext cx="6084505" cy="7627936"/>
          </a:xfrm>
          <a:prstGeom prst="rect">
            <a:avLst/>
          </a:prstGeom>
          <a:noFill/>
          <a:ln/>
        </p:spPr>
        <p:txBody>
          <a:bodyPr wrap="square" lIns="0" tIns="0" rIns="0" bIns="0" rtlCol="0" anchor="t"/>
          <a:lstStyle/>
          <a:p>
            <a:pPr algn="l" indent="0" marL="0">
              <a:lnSpc>
                <a:spcPts val="2530"/>
              </a:lnSpc>
              <a:buNone/>
            </a:pPr>
            <a:r>
              <a:rPr lang="en-US" sz="2130" dirty="0">
                <a:solidFill>
                  <a:srgbClr val="14181A"/>
                </a:solidFill>
                <a:latin typeface="Google Sans" pitchFamily="34" charset="0"/>
                <a:ea typeface="Google Sans" pitchFamily="34" charset="-122"/>
                <a:cs typeface="Google Sans" pitchFamily="34" charset="-120"/>
              </a:rPr>
              <a:t>Epílogo</a:t>
            </a:r>
            <a:endParaRPr lang="en-US" sz="2130" dirty="0"/>
          </a:p>
          <a:p>
            <a:pPr algn="l" indent="0" marL="0">
              <a:lnSpc>
                <a:spcPts val="1627"/>
              </a:lnSpc>
              <a:spcBef>
                <a:spcPts val="1984"/>
              </a:spcBef>
              <a:buNone/>
            </a:pPr>
            <a:r>
              <a:rPr lang="en-US" sz="1000" dirty="0">
                <a:solidFill>
                  <a:srgbClr val="2C332E"/>
                </a:solidFill>
                <a:latin typeface="Google Sans" pitchFamily="34" charset="0"/>
                <a:ea typeface="Google Sans" pitchFamily="34" charset="-122"/>
                <a:cs typeface="Google Sans" pitchFamily="34" charset="-120"/>
              </a:rPr>
              <a:t>Quando comecei esta jornada, não imaginava que um dia iria escrever um livro sobre escala. Naquela altura, o meu foco era apenas sobreviver, aprender e criar alguma estabilidade no meio de tantas incertezas. Mas cada passo — desde o telemóvel emprestado até aos dias de faturamentos elevados — mostrou-me algo que hoje considero um dos maiores segredos do empreendedorismo: </a:t>
            </a:r>
            <a:r>
              <a:rPr lang="en-US" sz="1000" b="1" dirty="0">
                <a:solidFill>
                  <a:srgbClr val="14181A"/>
                </a:solidFill>
                <a:latin typeface="Google Sans" pitchFamily="34" charset="0"/>
                <a:ea typeface="Google Sans" pitchFamily="34" charset="-122"/>
                <a:cs typeface="Google Sans" pitchFamily="34" charset="-120"/>
              </a:rPr>
              <a:t>o processo é tão importante quanto o destino.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Ao longo deste livro, partilhei contigo os frameworks, as alavancas e os princípios que transformaram a nossa operação numa estrutura previsível e escalável. Mas mostrei também que não chegámos aqui por acaso. Houve risco, houve decisões difíceis, houve fé, houve disciplina e houve dias em que a única coisa que nos sustentou foi a certeza de que Deus não tinha terminado a obra.</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Se há algo que quero que leves contigo depois de fechares este livro, é isto: </a:t>
            </a:r>
            <a:r>
              <a:rPr lang="en-US" sz="1000" b="1" dirty="0">
                <a:solidFill>
                  <a:srgbClr val="14181A"/>
                </a:solidFill>
                <a:latin typeface="Google Sans" pitchFamily="34" charset="0"/>
                <a:ea typeface="Google Sans" pitchFamily="34" charset="-122"/>
                <a:cs typeface="Google Sans" pitchFamily="34" charset="-120"/>
              </a:rPr>
              <a:t>o teu crescimento não depende das circunstâncias. Depende da tua capacidade de aplicar método, ajustar rapidamente e permanecer fiel ao processo.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Vivemos num país onde muitos acreditam que grandes resultados são raros ou inacessíveis. A nossa experiência prova o contrário. A previsibilidade e a escala não são privilégio de mercados estrangeiros — são acessíveis a qualquer pessoa disposta a aprender, executar e melhorar continuamente.</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Cada capítulo deste livro foi escrito para te dar clareza, estrutura e direcção. Mas nenhuma estratégia vale mais do que a tua capacidade de agir. A escala não acontece porque sabes o que fazer. Acontece porque fazes o que sabes — todos os dias, mesmo nos dias difíceis.</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Quero que saibas que estás mais preparado do que imaginas. Tens agora ferramentas que demorei anos a desenvolver. Tens atalhos que eu não tive. Tens uma visão que muitos empreendedores nunca chegam a adquirir. A pergunta que fica é simples: </a:t>
            </a:r>
            <a:r>
              <a:rPr lang="en-US" sz="1000" b="1" dirty="0">
                <a:solidFill>
                  <a:srgbClr val="14181A"/>
                </a:solidFill>
                <a:latin typeface="Google Sans" pitchFamily="34" charset="0"/>
                <a:ea typeface="Google Sans" pitchFamily="34" charset="-122"/>
                <a:cs typeface="Google Sans" pitchFamily="34" charset="-120"/>
              </a:rPr>
              <a:t>o que vais fazer a seguir?</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Se aplicares estes princípios com consistência, cedo ou tarde vais colher resultados que hoje talvez nem consigas imaginar. E quando esse momento chegar, lembra-te: não foi sorte. Não foi acaso. Foi método. Foi disciplina. Foi fé. E foi a tua decisão de continuar quando outros teriam parado.</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A partir daqui, a tua história está nas tuas mãos. E, se me permites, acredito que estás apenas no início de algo muito maior do que pensas.</a:t>
            </a:r>
            <a:endParaRPr lang="en-US" sz="2130" dirty="0"/>
          </a:p>
          <a:p>
            <a:pPr algn="l" indent="0" marL="0">
              <a:lnSpc>
                <a:spcPts val="1627"/>
              </a:lnSpc>
              <a:spcBef>
                <a:spcPts val="907"/>
              </a:spcBef>
              <a:buNone/>
            </a:pPr>
            <a:r>
              <a:rPr lang="en-US" sz="1000" dirty="0">
                <a:solidFill>
                  <a:srgbClr val="2C332E"/>
                </a:solidFill>
                <a:latin typeface="Google Sans" pitchFamily="34" charset="0"/>
                <a:ea typeface="Google Sans" pitchFamily="34" charset="-122"/>
                <a:cs typeface="Google Sans" pitchFamily="34" charset="-120"/>
              </a:rPr>
              <a:t>Obrigado por caminhares comigo até aqui. Que Deus continue a orientar cada passo do teu processo — e que a tua jornada de escala seja tão previsível quanto a fidelidade d’Ele na tua vida.</a:t>
            </a:r>
            <a:endParaRPr lang="en-US" sz="2130" dirty="0"/>
          </a:p>
          <a:p>
            <a:pPr algn="l" indent="0" marL="0">
              <a:lnSpc>
                <a:spcPts val="1627"/>
              </a:lnSpc>
              <a:spcBef>
                <a:spcPts val="907"/>
              </a:spcBef>
              <a:buNone/>
            </a:pPr>
            <a:r>
              <a:rPr lang="en-US" sz="1000" b="1" dirty="0">
                <a:solidFill>
                  <a:srgbClr val="14181A"/>
                </a:solidFill>
                <a:latin typeface="Google Sans" pitchFamily="34" charset="0"/>
                <a:ea typeface="Google Sans" pitchFamily="34" charset="-122"/>
                <a:cs typeface="Google Sans" pitchFamily="34" charset="-120"/>
              </a:rPr>
              <a:t>Shelton Douglas</a:t>
            </a:r>
            <a:endParaRPr lang="en-US" sz="2130" dirty="0"/>
          </a:p>
        </p:txBody>
      </p:sp>
      <p:sp>
        <p:nvSpPr>
          <p:cNvPr id="25" name="Slide Number Placeholder 0"/>
          <p:cNvSpPr>
            <a:spLocks noGrp="1"/>
          </p:cNvSpPr>
          <p:nvPr>
            <p:ph type="sldNum" sz="quarter" idx="4294967295"/>
          </p:nvPr>
        </p:nvSpPr>
        <p:spPr>
          <a:xfrm>
            <a:off x="6257448" y="10149336"/>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F8A3C"/>
                </a:solidFill>
                <a:latin typeface="Google Sans"/>
                <a:ea typeface="Google Sans"/>
                <a:cs typeface="Google Sans"/>
              </a:defRPr>
            </a:lvl1pPr>
          </a:lstStyle>
          <a:p>
            <a:pPr algn="r"/>
            <a:fld id="{F7021451-1387-4CA6-816F-3879F97B5CBC}" type="slidenum">
              <a:rPr b="0" lang="en-US"/>
              <a:t>84</a:t>
            </a:fld>
            <a:endParaRPr lang="en-US"/>
          </a:p>
        </p:txBody>
      </p:sp>
    </p:spTree>
  </p:cSld>
  <p:clrMapOvr>
    <a:masterClrMapping/>
  </p:clrMapOvr>
</p:sld>
</file>

<file path=ppt/theme/theme1.xml><?xml version="1.0" encoding="utf-8"?>
<a:theme xmlns:a="http://schemas.openxmlformats.org/drawingml/2006/main" name="Escala Previsível">
  <a:themeElements>
    <a:clrScheme name="Escala Previsível">
      <a:dk1>
        <a:srgbClr val="14181A"/>
      </a:dk1>
      <a:lt1>
        <a:srgbClr val="FFFFFF"/>
      </a:lt1>
      <a:dk2>
        <a:srgbClr val="21703A"/>
      </a:dk2>
      <a:lt2>
        <a:srgbClr val="EEF6E9"/>
      </a:lt2>
      <a:accent1>
        <a:srgbClr val="3E9A45"/>
      </a:accent1>
      <a:accent2>
        <a:srgbClr val="21703A"/>
      </a:accent2>
      <a:accent3>
        <a:srgbClr val="8CCB5C"/>
      </a:accent3>
      <a:accent4>
        <a:srgbClr val="C8E46E"/>
      </a:accent4>
      <a:accent5>
        <a:srgbClr val="7E8780"/>
      </a:accent5>
      <a:accent6>
        <a:srgbClr val="D6DDD3"/>
      </a:accent6>
      <a:hlink>
        <a:srgbClr val="2F8A3C"/>
      </a:hlink>
      <a:folHlink>
        <a:srgbClr val="21703A"/>
      </a:folHlink>
    </a:clrScheme>
    <a:fontScheme name="Escala Previsível">
      <a:majorFont>
        <a:latin typeface="Google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oogle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Kingdom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Escala Previsível</dc:title>
  <dc:subject>Edição revista e ampliada</dc:subject>
  <dc:creator>Shelton Douglas</dc:creator>
  <cp:lastModifiedBy>Shelton Douglas</cp:lastModifiedBy>
  <cp:revision>1</cp:revision>
  <dcterms:created xsi:type="dcterms:W3CDTF">2026-10-11T13:20:53Z</dcterms:created>
  <dcterms:modified xsi:type="dcterms:W3CDTF">2026-10-11T13:20:53Z</dcterms:modified>
</cp:coreProperties>
</file>